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311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309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94660"/>
  </p:normalViewPr>
  <p:slideViewPr>
    <p:cSldViewPr>
      <p:cViewPr>
        <p:scale>
          <a:sx n="79" d="100"/>
          <a:sy n="79" d="100"/>
        </p:scale>
        <p:origin x="-1704" y="-2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495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Relationship Id="rId4" Type="http://schemas.openxmlformats.org/officeDocument/2006/relationships/image" Target="../media/image24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wmf"/><Relationship Id="rId1" Type="http://schemas.openxmlformats.org/officeDocument/2006/relationships/image" Target="../media/image25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image" Target="../media/image32.wmf"/><Relationship Id="rId1" Type="http://schemas.openxmlformats.org/officeDocument/2006/relationships/image" Target="../media/image31.wmf"/><Relationship Id="rId4" Type="http://schemas.openxmlformats.org/officeDocument/2006/relationships/image" Target="../media/image34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image" Target="../media/image36.wmf"/><Relationship Id="rId1" Type="http://schemas.openxmlformats.org/officeDocument/2006/relationships/image" Target="../media/image35.wmf"/><Relationship Id="rId6" Type="http://schemas.openxmlformats.org/officeDocument/2006/relationships/image" Target="../media/image40.wmf"/><Relationship Id="rId5" Type="http://schemas.openxmlformats.org/officeDocument/2006/relationships/image" Target="../media/image39.wmf"/><Relationship Id="rId4" Type="http://schemas.openxmlformats.org/officeDocument/2006/relationships/image" Target="../media/image38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49.wmf"/><Relationship Id="rId1" Type="http://schemas.openxmlformats.org/officeDocument/2006/relationships/image" Target="../media/image4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708AA9-37AA-4144-B6D2-F3E03FE2F73A}" type="datetimeFigureOut">
              <a:rPr lang="en-US" smtClean="0"/>
              <a:pPr/>
              <a:t>4/13/2015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68BA83-D077-4ADB-8574-C79772547C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836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MY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1273D3-0B52-400A-A251-C38E268EB588}" type="slidenum">
              <a:rPr lang="en-MY"/>
              <a:pPr>
                <a:defRPr/>
              </a:pPr>
              <a:t>‹#›</a:t>
            </a:fld>
            <a:endParaRPr lang="en-MY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3728" y="274638"/>
            <a:ext cx="6563072" cy="1143000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23728" y="1600200"/>
            <a:ext cx="6563072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MY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5C94F1-AAA0-4573-82E8-8F694A8789D0}" type="slidenum">
              <a:rPr lang="en-MY"/>
              <a:pPr>
                <a:defRPr/>
              </a:pPr>
              <a:t>‹#›</a:t>
            </a:fld>
            <a:endParaRPr lang="en-MY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4E6AD1-D073-4DD2-A3F7-797A26A7A6E3}" type="slidenum">
              <a:rPr lang="en-MY"/>
              <a:pPr>
                <a:defRPr/>
              </a:pPr>
              <a:t>‹#›</a:t>
            </a:fld>
            <a:endParaRPr lang="en-MY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7704" y="274638"/>
            <a:ext cx="6779096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D7594D-E125-441B-91F7-5048922C9B55}" type="slidenum">
              <a:rPr lang="en-MY"/>
              <a:pPr>
                <a:defRPr/>
              </a:pPr>
              <a:t>‹#›</a:t>
            </a:fld>
            <a:endParaRPr lang="en-MY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9712" y="274638"/>
            <a:ext cx="6707088" cy="1143000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MY" dirty="0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A4B546-D2AD-4BB3-B2CD-062ABA08A7DD}" type="slidenum">
              <a:rPr lang="en-MY"/>
              <a:pPr>
                <a:defRPr/>
              </a:pPr>
              <a:t>‹#›</a:t>
            </a:fld>
            <a:endParaRPr lang="en-MY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E8E84F-B373-40B7-88D5-2643023D1FCC}" type="slidenum">
              <a:rPr lang="en-MY"/>
              <a:pPr>
                <a:defRPr/>
              </a:pPr>
              <a:t>‹#›</a:t>
            </a:fld>
            <a:endParaRPr lang="en-MY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5DFFF3-F96E-4744-8996-C68542A83A9E}" type="slidenum">
              <a:rPr lang="en-MY"/>
              <a:pPr>
                <a:defRPr/>
              </a:pPr>
              <a:t>‹#›</a:t>
            </a:fld>
            <a:endParaRPr lang="en-MY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MY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65C052-182D-4E82-A294-615D674957A5}" type="slidenum">
              <a:rPr lang="en-MY"/>
              <a:pPr>
                <a:defRPr/>
              </a:pPr>
              <a:t>‹#›</a:t>
            </a:fld>
            <a:endParaRPr lang="en-MY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1720" y="274638"/>
            <a:ext cx="663508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AFF70C-81EE-4859-B773-AC269E47D9A7}" type="slidenum">
              <a:rPr lang="en-MY"/>
              <a:pPr>
                <a:defRPr/>
              </a:pPr>
              <a:t>‹#›</a:t>
            </a:fld>
            <a:endParaRPr lang="en-MY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6842F9-6489-48BA-ABC8-484FC784E3D2}" type="slidenum">
              <a:rPr lang="en-MY"/>
              <a:pPr>
                <a:defRPr/>
              </a:pPr>
              <a:t>‹#›</a:t>
            </a:fld>
            <a:endParaRPr lang="en-MY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08813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BBD28DC-33AA-46CC-89B4-9C19CB8FC249}" type="slidenum">
              <a:rPr lang="en-MY"/>
              <a:pPr>
                <a:defRPr/>
              </a:pPr>
              <a:t>‹#›</a:t>
            </a:fld>
            <a:endParaRPr lang="en-MY" dirty="0"/>
          </a:p>
        </p:txBody>
      </p:sp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1908175" y="476250"/>
            <a:ext cx="6629400" cy="649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MY" smtClean="0"/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908175" y="1600200"/>
            <a:ext cx="6778625" cy="444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 smtClean="0"/>
          </a:p>
        </p:txBody>
      </p:sp>
      <p:pic>
        <p:nvPicPr>
          <p:cNvPr id="1029" name="Picture 1"/>
          <p:cNvPicPr>
            <a:picLocks noChangeAspect="1"/>
          </p:cNvPicPr>
          <p:nvPr userDrawn="1"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-36513" y="-22225"/>
            <a:ext cx="9217026" cy="6907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5.w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14.wmf"/><Relationship Id="rId4" Type="http://schemas.openxmlformats.org/officeDocument/2006/relationships/oleObject" Target="../embeddings/oleObject2.bin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2.wmf"/><Relationship Id="rId5" Type="http://schemas.openxmlformats.org/officeDocument/2006/relationships/oleObject" Target="../embeddings/oleObject5.bin"/><Relationship Id="rId10" Type="http://schemas.openxmlformats.org/officeDocument/2006/relationships/image" Target="../media/image24.wmf"/><Relationship Id="rId4" Type="http://schemas.openxmlformats.org/officeDocument/2006/relationships/image" Target="../media/image21.wmf"/><Relationship Id="rId9" Type="http://schemas.openxmlformats.org/officeDocument/2006/relationships/oleObject" Target="../embeddings/oleObject7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6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25.wmf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9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28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30.wmf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2.wmf"/><Relationship Id="rId5" Type="http://schemas.openxmlformats.org/officeDocument/2006/relationships/oleObject" Target="../embeddings/oleObject14.bin"/><Relationship Id="rId10" Type="http://schemas.openxmlformats.org/officeDocument/2006/relationships/image" Target="../media/image34.wmf"/><Relationship Id="rId4" Type="http://schemas.openxmlformats.org/officeDocument/2006/relationships/image" Target="../media/image31.wmf"/><Relationship Id="rId9" Type="http://schemas.openxmlformats.org/officeDocument/2006/relationships/oleObject" Target="../embeddings/oleObject16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13" Type="http://schemas.openxmlformats.org/officeDocument/2006/relationships/oleObject" Target="../embeddings/oleObject22.bin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12" Type="http://schemas.openxmlformats.org/officeDocument/2006/relationships/image" Target="../media/image39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6.wmf"/><Relationship Id="rId11" Type="http://schemas.openxmlformats.org/officeDocument/2006/relationships/oleObject" Target="../embeddings/oleObject21.bin"/><Relationship Id="rId5" Type="http://schemas.openxmlformats.org/officeDocument/2006/relationships/oleObject" Target="../embeddings/oleObject18.bin"/><Relationship Id="rId10" Type="http://schemas.openxmlformats.org/officeDocument/2006/relationships/image" Target="../media/image38.wmf"/><Relationship Id="rId4" Type="http://schemas.openxmlformats.org/officeDocument/2006/relationships/image" Target="../media/image35.wmf"/><Relationship Id="rId9" Type="http://schemas.openxmlformats.org/officeDocument/2006/relationships/oleObject" Target="../embeddings/oleObject20.bin"/><Relationship Id="rId14" Type="http://schemas.openxmlformats.org/officeDocument/2006/relationships/image" Target="../media/image40.wmf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49.w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48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Content Placeholder 5" descr="Postcard+UTM+1.jpg"/>
          <p:cNvPicPr>
            <a:picLocks noChangeAspect="1"/>
          </p:cNvPicPr>
          <p:nvPr/>
        </p:nvPicPr>
        <p:blipFill>
          <a:blip r:embed="rId2" cstate="print"/>
          <a:srcRect l="21915" t="2170" r="18353" b="67972"/>
          <a:stretch>
            <a:fillRect/>
          </a:stretch>
        </p:blipFill>
        <p:spPr bwMode="auto">
          <a:xfrm>
            <a:off x="7740352" y="5445224"/>
            <a:ext cx="1042797" cy="844129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467544" y="2636912"/>
            <a:ext cx="8382000" cy="132343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algn="l">
              <a:defRPr sz="24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algn="l">
              <a:defRPr sz="24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algn="l">
              <a:defRPr sz="24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algn="l">
              <a:defRPr sz="24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algn="l">
              <a:defRPr sz="24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>
              <a:defRPr/>
            </a:pPr>
            <a:r>
              <a:rPr lang="en-GB" sz="4000" dirty="0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CHAPTER 04 </a:t>
            </a:r>
          </a:p>
          <a:p>
            <a:pPr algn="ctr">
              <a:defRPr/>
            </a:pPr>
            <a:r>
              <a:rPr lang="en-GB" sz="4000" dirty="0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Linear Transformation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1979712" y="260648"/>
            <a:ext cx="6408713" cy="864096"/>
          </a:xfr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eaLnBrk="1" hangingPunct="1"/>
            <a:r>
              <a:rPr lang="en-US" dirty="0" smtClean="0"/>
              <a:t>MAPPING</a:t>
            </a:r>
            <a:endParaRPr lang="en-MY" dirty="0" smtClean="0"/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>
          <a:xfrm>
            <a:off x="395536" y="1340768"/>
            <a:ext cx="8229600" cy="4525963"/>
          </a:xfrm>
        </p:spPr>
        <p:txBody>
          <a:bodyPr/>
          <a:lstStyle/>
          <a:p>
            <a:pPr>
              <a:buFont typeface="Arial" charset="0"/>
              <a:buNone/>
            </a:pPr>
            <a:r>
              <a:rPr lang="en-US" sz="2400" dirty="0" smtClean="0"/>
              <a:t>Define that mapping of </a:t>
            </a:r>
            <a:r>
              <a:rPr lang="en-US" sz="2400" b="1" dirty="0" smtClean="0"/>
              <a:t>T</a:t>
            </a:r>
            <a:r>
              <a:rPr lang="en-US" sz="2400" dirty="0" smtClean="0"/>
              <a:t> from  </a:t>
            </a:r>
            <a:r>
              <a:rPr lang="en-US" sz="2400" b="1" dirty="0" smtClean="0"/>
              <a:t>V (</a:t>
            </a:r>
            <a:r>
              <a:rPr lang="en-US" sz="2400" dirty="0" smtClean="0"/>
              <a:t>vector space) to </a:t>
            </a:r>
            <a:r>
              <a:rPr lang="en-US" sz="2400" b="1" dirty="0" smtClean="0"/>
              <a:t>W</a:t>
            </a:r>
            <a:r>
              <a:rPr lang="en-US" sz="2400" dirty="0" smtClean="0"/>
              <a:t>  (vector space) as;</a:t>
            </a:r>
          </a:p>
          <a:p>
            <a:pPr>
              <a:buFont typeface="Arial" charset="0"/>
              <a:buNone/>
            </a:pPr>
            <a:r>
              <a:rPr lang="en-US" sz="2400" dirty="0" smtClean="0"/>
              <a:t>		</a:t>
            </a:r>
            <a:r>
              <a:rPr lang="en-US" sz="2400" b="1" dirty="0" smtClean="0"/>
              <a:t>T : V </a:t>
            </a:r>
            <a:r>
              <a:rPr lang="en-US" sz="2400" dirty="0" smtClean="0"/>
              <a:t>→</a:t>
            </a:r>
            <a:r>
              <a:rPr lang="en-US" sz="2400" b="1" dirty="0" smtClean="0"/>
              <a:t>W</a:t>
            </a:r>
          </a:p>
          <a:p>
            <a:pPr>
              <a:buFont typeface="Arial" charset="0"/>
              <a:buNone/>
            </a:pPr>
            <a:r>
              <a:rPr lang="en-US" sz="2400" dirty="0" smtClean="0"/>
              <a:t>This is a standard terminology, for such function; </a:t>
            </a:r>
          </a:p>
          <a:p>
            <a:pPr>
              <a:buFont typeface="Arial" charset="0"/>
              <a:buNone/>
            </a:pPr>
            <a:r>
              <a:rPr lang="en-US" sz="2400" b="1" dirty="0" smtClean="0"/>
              <a:t>		V</a:t>
            </a:r>
            <a:r>
              <a:rPr lang="en-US" sz="2400" dirty="0" smtClean="0"/>
              <a:t> is called </a:t>
            </a:r>
            <a:r>
              <a:rPr lang="en-US" sz="2400" b="1" dirty="0" smtClean="0"/>
              <a:t>domain</a:t>
            </a:r>
            <a:r>
              <a:rPr lang="en-US" sz="2400" dirty="0" smtClean="0"/>
              <a:t> of T,  and </a:t>
            </a:r>
          </a:p>
          <a:p>
            <a:pPr>
              <a:buFont typeface="Arial" charset="0"/>
              <a:buNone/>
            </a:pPr>
            <a:r>
              <a:rPr lang="en-US" sz="2400" dirty="0" smtClean="0"/>
              <a:t>		</a:t>
            </a:r>
            <a:r>
              <a:rPr lang="en-US" sz="2400" b="1" dirty="0" smtClean="0"/>
              <a:t>W</a:t>
            </a:r>
            <a:r>
              <a:rPr lang="en-US" sz="2400" dirty="0" smtClean="0"/>
              <a:t> is called </a:t>
            </a:r>
            <a:r>
              <a:rPr lang="en-US" sz="2400" b="1" dirty="0" err="1" smtClean="0"/>
              <a:t>codomain</a:t>
            </a:r>
            <a:r>
              <a:rPr lang="en-US" sz="2400" dirty="0" smtClean="0"/>
              <a:t> of T. </a:t>
            </a:r>
          </a:p>
          <a:p>
            <a:pPr>
              <a:buFont typeface="Arial" charset="0"/>
              <a:buNone/>
            </a:pPr>
            <a:r>
              <a:rPr lang="en-US" sz="2400" dirty="0" smtClean="0"/>
              <a:t>if </a:t>
            </a:r>
            <a:r>
              <a:rPr lang="en-US" sz="2400" b="1" dirty="0" smtClean="0"/>
              <a:t>v </a:t>
            </a:r>
            <a:r>
              <a:rPr lang="en-US" sz="2400" dirty="0" smtClean="0"/>
              <a:t>is in</a:t>
            </a:r>
            <a:r>
              <a:rPr lang="en-US" sz="2400" b="1" dirty="0" smtClean="0"/>
              <a:t> V</a:t>
            </a:r>
            <a:r>
              <a:rPr lang="en-US" sz="2400" dirty="0" smtClean="0"/>
              <a:t> and </a:t>
            </a:r>
            <a:r>
              <a:rPr lang="en-US" sz="2400" b="1" dirty="0" smtClean="0"/>
              <a:t>w </a:t>
            </a:r>
            <a:r>
              <a:rPr lang="en-US" sz="2400" dirty="0" smtClean="0"/>
              <a:t>is in</a:t>
            </a:r>
            <a:r>
              <a:rPr lang="en-US" sz="2400" b="1" dirty="0" smtClean="0"/>
              <a:t> W</a:t>
            </a:r>
            <a:r>
              <a:rPr lang="en-US" sz="2400" dirty="0" smtClean="0"/>
              <a:t> such that;</a:t>
            </a:r>
          </a:p>
          <a:p>
            <a:pPr>
              <a:buFont typeface="Arial" charset="0"/>
              <a:buNone/>
            </a:pPr>
            <a:r>
              <a:rPr lang="en-US" sz="2400" dirty="0" smtClean="0"/>
              <a:t>		</a:t>
            </a:r>
            <a:r>
              <a:rPr lang="en-US" sz="2400" b="1" dirty="0" smtClean="0"/>
              <a:t>T(v) = w</a:t>
            </a:r>
          </a:p>
          <a:p>
            <a:pPr>
              <a:buFont typeface="Arial" charset="0"/>
              <a:buNone/>
            </a:pPr>
            <a:r>
              <a:rPr lang="en-US" sz="2400" dirty="0" smtClean="0"/>
              <a:t>Then </a:t>
            </a:r>
            <a:r>
              <a:rPr lang="en-US" sz="2400" b="1" dirty="0" smtClean="0"/>
              <a:t>w</a:t>
            </a:r>
            <a:r>
              <a:rPr lang="en-US" sz="2400" dirty="0" smtClean="0"/>
              <a:t> in called the </a:t>
            </a:r>
            <a:r>
              <a:rPr lang="en-US" sz="2400" b="1" dirty="0" smtClean="0"/>
              <a:t>image </a:t>
            </a:r>
            <a:r>
              <a:rPr lang="en-US" sz="2400" dirty="0" smtClean="0"/>
              <a:t>of </a:t>
            </a:r>
            <a:r>
              <a:rPr lang="en-US" sz="2400" b="1" dirty="0" smtClean="0"/>
              <a:t>v </a:t>
            </a:r>
            <a:r>
              <a:rPr lang="en-US" sz="2400" dirty="0" smtClean="0"/>
              <a:t>under</a:t>
            </a:r>
            <a:r>
              <a:rPr lang="en-US" sz="2400" b="1" dirty="0" smtClean="0"/>
              <a:t> T.</a:t>
            </a:r>
            <a:r>
              <a:rPr lang="en-US" sz="2400" dirty="0" smtClean="0"/>
              <a:t>  The set of all images of</a:t>
            </a:r>
          </a:p>
          <a:p>
            <a:pPr>
              <a:buFont typeface="Arial" charset="0"/>
              <a:buNone/>
            </a:pPr>
            <a:r>
              <a:rPr lang="en-US" sz="2400" dirty="0" smtClean="0"/>
              <a:t>vectors in V is called the </a:t>
            </a:r>
            <a:r>
              <a:rPr lang="en-US" sz="2400" b="1" dirty="0" smtClean="0"/>
              <a:t>range </a:t>
            </a:r>
            <a:r>
              <a:rPr lang="en-US" sz="2400" dirty="0" smtClean="0"/>
              <a:t>of </a:t>
            </a:r>
            <a:r>
              <a:rPr lang="en-US" sz="2400" b="1" dirty="0" smtClean="0"/>
              <a:t>T</a:t>
            </a:r>
            <a:r>
              <a:rPr lang="en-US" sz="2400" dirty="0" smtClean="0"/>
              <a:t>, and the set of all </a:t>
            </a:r>
            <a:r>
              <a:rPr lang="en-US" sz="2400" b="1" dirty="0" smtClean="0"/>
              <a:t>v</a:t>
            </a:r>
            <a:r>
              <a:rPr lang="en-US" sz="2400" dirty="0" smtClean="0"/>
              <a:t> in V such </a:t>
            </a:r>
          </a:p>
          <a:p>
            <a:pPr>
              <a:buFont typeface="Arial" charset="0"/>
              <a:buNone/>
            </a:pPr>
            <a:r>
              <a:rPr lang="en-US" sz="2400" dirty="0" smtClean="0"/>
              <a:t>that </a:t>
            </a:r>
            <a:r>
              <a:rPr lang="en-US" sz="2400" b="1" dirty="0" smtClean="0"/>
              <a:t>T(v) = w</a:t>
            </a:r>
            <a:r>
              <a:rPr lang="en-US" sz="2400" dirty="0" smtClean="0"/>
              <a:t> is called the </a:t>
            </a:r>
            <a:r>
              <a:rPr lang="en-US" sz="2400" b="1" dirty="0" err="1" smtClean="0"/>
              <a:t>preimage</a:t>
            </a:r>
            <a:r>
              <a:rPr lang="en-US" sz="2400" b="1" dirty="0" smtClean="0"/>
              <a:t> </a:t>
            </a:r>
            <a:r>
              <a:rPr lang="en-US" sz="2400" dirty="0" smtClean="0"/>
              <a:t>of w.</a:t>
            </a:r>
          </a:p>
          <a:p>
            <a:pPr>
              <a:buFont typeface="Arial" charset="0"/>
              <a:buNone/>
            </a:pPr>
            <a:endParaRPr lang="en-US" sz="2400" dirty="0" smtClean="0"/>
          </a:p>
          <a:p>
            <a:pPr eaLnBrk="1" hangingPunct="1"/>
            <a:endParaRPr lang="en-MY" sz="24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7F157AD2-C699-44FB-8C3A-C3AD18679FE9}" type="slidenum">
              <a:rPr lang="en-MY" smtClean="0"/>
              <a:pPr>
                <a:defRPr/>
              </a:pPr>
              <a:t>2</a:t>
            </a:fld>
            <a:endParaRPr lang="en-MY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1907704" y="274638"/>
            <a:ext cx="6408712" cy="850106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n-US" sz="3200" b="1" dirty="0" smtClean="0"/>
              <a:t>Example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C958AD16-B9EB-4578-9245-91841EBECC73}" type="slidenum">
              <a:rPr lang="en-MY" smtClean="0"/>
              <a:pPr>
                <a:defRPr/>
              </a:pPr>
              <a:t>3</a:t>
            </a:fld>
            <a:endParaRPr lang="en-MY"/>
          </a:p>
        </p:txBody>
      </p:sp>
      <p:pic>
        <p:nvPicPr>
          <p:cNvPr id="819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683568" y="1484784"/>
            <a:ext cx="7537241" cy="1728192"/>
          </a:xfrm>
          <a:noFill/>
        </p:spPr>
      </p:pic>
      <p:pic>
        <p:nvPicPr>
          <p:cNvPr id="819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1560" y="3861048"/>
            <a:ext cx="7776864" cy="2087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1907704" y="332656"/>
            <a:ext cx="6768752" cy="792088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n-US" sz="3600" b="1" dirty="0" smtClean="0"/>
              <a:t>Example 2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395536" y="1628800"/>
            <a:ext cx="8568952" cy="3960440"/>
          </a:xfrm>
        </p:spPr>
        <p:txBody>
          <a:bodyPr/>
          <a:lstStyle/>
          <a:p>
            <a:pPr>
              <a:buFont typeface="Arial" charset="0"/>
              <a:buNone/>
            </a:pPr>
            <a:r>
              <a:rPr lang="en-US" dirty="0" smtClean="0"/>
              <a:t>For any vector </a:t>
            </a:r>
            <a:r>
              <a:rPr lang="en-US" b="1" dirty="0" smtClean="0"/>
              <a:t>v</a:t>
            </a:r>
            <a:r>
              <a:rPr lang="en-US" dirty="0" smtClean="0"/>
              <a:t> = (v</a:t>
            </a:r>
            <a:r>
              <a:rPr lang="en-US" baseline="-25000" dirty="0" smtClean="0"/>
              <a:t>1</a:t>
            </a:r>
            <a:r>
              <a:rPr lang="en-US" dirty="0" smtClean="0"/>
              <a:t>, v</a:t>
            </a:r>
            <a:r>
              <a:rPr lang="en-US" baseline="-25000" dirty="0" smtClean="0"/>
              <a:t>2</a:t>
            </a:r>
            <a:r>
              <a:rPr lang="en-US" dirty="0" smtClean="0"/>
              <a:t>) in R</a:t>
            </a:r>
            <a:r>
              <a:rPr lang="en-US" baseline="30000" dirty="0" smtClean="0"/>
              <a:t>2</a:t>
            </a:r>
            <a:r>
              <a:rPr lang="en-US" dirty="0" smtClean="0"/>
              <a:t>, let T:R</a:t>
            </a:r>
            <a:r>
              <a:rPr lang="en-US" baseline="30000" dirty="0" smtClean="0"/>
              <a:t>2  </a:t>
            </a:r>
            <a:r>
              <a:rPr lang="en-US" dirty="0" smtClean="0"/>
              <a:t>→ R</a:t>
            </a:r>
            <a:r>
              <a:rPr lang="en-US" baseline="30000" dirty="0" smtClean="0"/>
              <a:t>2</a:t>
            </a:r>
          </a:p>
          <a:p>
            <a:pPr>
              <a:buFont typeface="Arial" charset="0"/>
              <a:buNone/>
            </a:pPr>
            <a:r>
              <a:rPr lang="en-US" dirty="0" smtClean="0"/>
              <a:t>defined by      </a:t>
            </a:r>
          </a:p>
          <a:p>
            <a:pPr>
              <a:buFont typeface="Arial" charset="0"/>
              <a:buNone/>
            </a:pPr>
            <a:r>
              <a:rPr lang="en-US" dirty="0" smtClean="0"/>
              <a:t>            	T(v</a:t>
            </a:r>
            <a:r>
              <a:rPr lang="en-US" baseline="-25000" dirty="0" smtClean="0"/>
              <a:t>1</a:t>
            </a:r>
            <a:r>
              <a:rPr lang="en-US" dirty="0" smtClean="0"/>
              <a:t>, v</a:t>
            </a:r>
            <a:r>
              <a:rPr lang="en-US" baseline="-25000" dirty="0" smtClean="0"/>
              <a:t>2</a:t>
            </a:r>
            <a:r>
              <a:rPr lang="en-US" dirty="0" smtClean="0"/>
              <a:t>)= (v</a:t>
            </a:r>
            <a:r>
              <a:rPr lang="en-US" baseline="-25000" dirty="0" smtClean="0"/>
              <a:t>1 </a:t>
            </a:r>
            <a:r>
              <a:rPr lang="en-US" dirty="0" smtClean="0"/>
              <a:t>- v</a:t>
            </a:r>
            <a:r>
              <a:rPr lang="en-US" baseline="-25000" dirty="0" smtClean="0"/>
              <a:t>2</a:t>
            </a:r>
            <a:r>
              <a:rPr lang="en-US" dirty="0" smtClean="0"/>
              <a:t> , v</a:t>
            </a:r>
            <a:r>
              <a:rPr lang="en-US" baseline="-25000" dirty="0" smtClean="0"/>
              <a:t>1</a:t>
            </a:r>
            <a:r>
              <a:rPr lang="en-US" dirty="0" smtClean="0"/>
              <a:t> + 2v</a:t>
            </a:r>
            <a:r>
              <a:rPr lang="en-US" baseline="-25000" dirty="0" smtClean="0"/>
              <a:t>2</a:t>
            </a:r>
            <a:r>
              <a:rPr lang="en-US" dirty="0" smtClean="0"/>
              <a:t>).</a:t>
            </a:r>
          </a:p>
          <a:p>
            <a:pPr>
              <a:buFont typeface="Arial" charset="0"/>
              <a:buNone/>
            </a:pPr>
            <a:endParaRPr lang="en-US" dirty="0" smtClean="0"/>
          </a:p>
          <a:p>
            <a:pPr>
              <a:buFont typeface="Arial" charset="0"/>
              <a:buNone/>
            </a:pPr>
            <a:r>
              <a:rPr lang="en-US" dirty="0" smtClean="0"/>
              <a:t>a).	Find the image of </a:t>
            </a:r>
            <a:r>
              <a:rPr lang="en-US" b="1" dirty="0" smtClean="0"/>
              <a:t>v</a:t>
            </a:r>
            <a:r>
              <a:rPr lang="en-US" dirty="0" smtClean="0"/>
              <a:t> = (-1,2).</a:t>
            </a:r>
          </a:p>
          <a:p>
            <a:pPr>
              <a:buFont typeface="Arial" charset="0"/>
              <a:buNone/>
            </a:pPr>
            <a:r>
              <a:rPr lang="en-US" dirty="0" smtClean="0"/>
              <a:t>b).	Find the </a:t>
            </a:r>
            <a:r>
              <a:rPr lang="en-US" dirty="0" err="1" smtClean="0"/>
              <a:t>preimage</a:t>
            </a:r>
            <a:r>
              <a:rPr lang="en-US" dirty="0" smtClean="0"/>
              <a:t> of </a:t>
            </a:r>
            <a:r>
              <a:rPr lang="en-US" b="1" dirty="0" smtClean="0"/>
              <a:t>w</a:t>
            </a:r>
            <a:r>
              <a:rPr lang="en-US" dirty="0" smtClean="0"/>
              <a:t> =(-1,11).</a:t>
            </a:r>
          </a:p>
          <a:p>
            <a:pPr>
              <a:buFont typeface="Arial" charset="0"/>
              <a:buNone/>
            </a:pPr>
            <a:endParaRPr lang="en-US" dirty="0" smtClean="0"/>
          </a:p>
          <a:p>
            <a:pPr>
              <a:buFont typeface="Arial" charset="0"/>
              <a:buNone/>
            </a:pPr>
            <a:endParaRPr lang="en-US" dirty="0" smtClean="0"/>
          </a:p>
          <a:p>
            <a:pPr>
              <a:buFont typeface="Arial" charset="0"/>
              <a:buNone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8FB6657A-251A-4C2C-8479-D8C11BC65F86}" type="slidenum">
              <a:rPr lang="en-MY" smtClean="0"/>
              <a:pPr>
                <a:defRPr/>
              </a:pPr>
              <a:t>4</a:t>
            </a:fld>
            <a:endParaRPr lang="en-MY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360A883A-396F-4995-B9EA-4BC32BF3B9AE}" type="slidenum">
              <a:rPr lang="en-MY" smtClean="0"/>
              <a:pPr>
                <a:defRPr/>
              </a:pPr>
              <a:t>5</a:t>
            </a:fld>
            <a:endParaRPr lang="en-MY"/>
          </a:p>
        </p:txBody>
      </p:sp>
      <p:sp>
        <p:nvSpPr>
          <p:cNvPr id="3" name="Rectangle 2"/>
          <p:cNvSpPr/>
          <p:nvPr/>
        </p:nvSpPr>
        <p:spPr>
          <a:xfrm>
            <a:off x="395536" y="1443841"/>
            <a:ext cx="8352928" cy="4955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charset="0"/>
              <a:buNone/>
            </a:pPr>
            <a:r>
              <a:rPr lang="en-US" sz="2400" dirty="0" smtClean="0"/>
              <a:t>a). For </a:t>
            </a:r>
            <a:r>
              <a:rPr lang="en-US" sz="2400" b="1" dirty="0" smtClean="0"/>
              <a:t>v</a:t>
            </a:r>
            <a:r>
              <a:rPr lang="en-US" sz="2400" dirty="0" smtClean="0"/>
              <a:t> = (-1,2) we have	</a:t>
            </a:r>
          </a:p>
          <a:p>
            <a:pPr>
              <a:buFont typeface="Arial" charset="0"/>
              <a:buNone/>
            </a:pPr>
            <a:endParaRPr lang="en-US" sz="2400" dirty="0" smtClean="0"/>
          </a:p>
          <a:p>
            <a:pPr>
              <a:buFont typeface="Arial" charset="0"/>
              <a:buNone/>
            </a:pPr>
            <a:r>
              <a:rPr lang="en-US" sz="2400" dirty="0" smtClean="0"/>
              <a:t>          </a:t>
            </a:r>
            <a:r>
              <a:rPr lang="en-US" sz="2800" dirty="0" smtClean="0"/>
              <a:t>T(-1,2) =(v</a:t>
            </a:r>
            <a:r>
              <a:rPr lang="en-US" sz="2800" baseline="-25000" dirty="0" smtClean="0"/>
              <a:t>1 </a:t>
            </a:r>
            <a:r>
              <a:rPr lang="en-US" sz="2800" dirty="0" smtClean="0"/>
              <a:t>- v</a:t>
            </a:r>
            <a:r>
              <a:rPr lang="en-US" sz="2800" baseline="-25000" dirty="0" smtClean="0"/>
              <a:t>2</a:t>
            </a:r>
            <a:r>
              <a:rPr lang="en-US" sz="2800" dirty="0" smtClean="0"/>
              <a:t> , v</a:t>
            </a:r>
            <a:r>
              <a:rPr lang="en-US" sz="2800" baseline="-25000" dirty="0" smtClean="0"/>
              <a:t>1</a:t>
            </a:r>
            <a:r>
              <a:rPr lang="en-US" sz="2800" dirty="0" smtClean="0"/>
              <a:t> + 2v</a:t>
            </a:r>
            <a:r>
              <a:rPr lang="en-US" sz="2800" baseline="-25000" dirty="0" smtClean="0"/>
              <a:t>2</a:t>
            </a:r>
            <a:r>
              <a:rPr lang="en-US" sz="2800" dirty="0" smtClean="0"/>
              <a:t>) = (-3,3). </a:t>
            </a:r>
            <a:endParaRPr lang="en-US" sz="2400" dirty="0" smtClean="0"/>
          </a:p>
          <a:p>
            <a:pPr>
              <a:buFont typeface="Arial" charset="0"/>
              <a:buNone/>
            </a:pPr>
            <a:endParaRPr lang="en-US" sz="2400" dirty="0" smtClean="0"/>
          </a:p>
          <a:p>
            <a:pPr>
              <a:buFont typeface="Arial" charset="0"/>
              <a:buNone/>
            </a:pPr>
            <a:r>
              <a:rPr lang="en-US" sz="2400" dirty="0" smtClean="0"/>
              <a:t>b). If T(</a:t>
            </a:r>
            <a:r>
              <a:rPr lang="en-US" sz="2400" b="1" dirty="0" smtClean="0"/>
              <a:t>v</a:t>
            </a:r>
            <a:r>
              <a:rPr lang="en-US" sz="2400" dirty="0" smtClean="0"/>
              <a:t>) = (v</a:t>
            </a:r>
            <a:r>
              <a:rPr lang="en-US" sz="2400" baseline="-25000" dirty="0" smtClean="0"/>
              <a:t>1 </a:t>
            </a:r>
            <a:r>
              <a:rPr lang="en-US" sz="2400" dirty="0" smtClean="0"/>
              <a:t>- v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 , v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 + 2v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) = (-1,11)</a:t>
            </a:r>
          </a:p>
          <a:p>
            <a:pPr>
              <a:buFont typeface="Arial" charset="0"/>
              <a:buNone/>
            </a:pPr>
            <a:r>
              <a:rPr lang="en-US" sz="2400" dirty="0" smtClean="0"/>
              <a:t>			v</a:t>
            </a:r>
            <a:r>
              <a:rPr lang="en-US" sz="2400" baseline="-25000" dirty="0" smtClean="0"/>
              <a:t>1 </a:t>
            </a:r>
            <a:r>
              <a:rPr lang="en-US" sz="2400" dirty="0" smtClean="0"/>
              <a:t>- v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  = -1</a:t>
            </a:r>
          </a:p>
          <a:p>
            <a:pPr>
              <a:buFont typeface="Arial" charset="0"/>
              <a:buNone/>
            </a:pPr>
            <a:r>
              <a:rPr lang="en-US" sz="2400" dirty="0" smtClean="0"/>
              <a:t> 			v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 + 2v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 = 11</a:t>
            </a:r>
          </a:p>
          <a:p>
            <a:pPr>
              <a:buFont typeface="Arial" charset="0"/>
              <a:buNone/>
            </a:pP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this system of equation has a unique solution : </a:t>
            </a:r>
          </a:p>
          <a:p>
            <a:pPr>
              <a:buNone/>
            </a:pPr>
            <a:r>
              <a:rPr lang="en-US" sz="2400" dirty="0" smtClean="0"/>
              <a:t>			v</a:t>
            </a:r>
            <a:r>
              <a:rPr lang="en-US" sz="2400" baseline="-25000" dirty="0" smtClean="0"/>
              <a:t>1 </a:t>
            </a:r>
            <a:r>
              <a:rPr lang="en-US" sz="2400" dirty="0" smtClean="0"/>
              <a:t> = 3 and  v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 = 4 .  </a:t>
            </a:r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So the </a:t>
            </a:r>
            <a:r>
              <a:rPr lang="en-US" sz="2400" dirty="0" err="1" smtClean="0"/>
              <a:t>preimage</a:t>
            </a:r>
            <a:r>
              <a:rPr lang="en-US" sz="2400" dirty="0" smtClean="0"/>
              <a:t> of (-1,11) is set in R</a:t>
            </a:r>
            <a:r>
              <a:rPr lang="en-US" sz="2400" baseline="30000" dirty="0" smtClean="0"/>
              <a:t>2</a:t>
            </a:r>
            <a:r>
              <a:rPr lang="en-US" sz="2400" dirty="0" smtClean="0"/>
              <a:t> consisting of the single vector (3,4).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907704" y="332656"/>
            <a:ext cx="6768752" cy="79208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 smtClean="0"/>
              <a:t>S</a:t>
            </a:r>
            <a:r>
              <a:rPr kumimoji="0" 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OLUTION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>
          <a:xfrm>
            <a:off x="2051720" y="274638"/>
            <a:ext cx="6635080" cy="778098"/>
          </a:xfr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Definition</a:t>
            </a:r>
            <a:endParaRPr lang="en-US" dirty="0" smtClean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196752"/>
            <a:ext cx="8229600" cy="5184576"/>
          </a:xfrm>
        </p:spPr>
        <p:txBody>
          <a:bodyPr/>
          <a:lstStyle/>
          <a:p>
            <a:pPr>
              <a:defRPr/>
            </a:pPr>
            <a:r>
              <a:rPr lang="en-US" sz="2400" dirty="0" smtClean="0"/>
              <a:t>Let </a:t>
            </a:r>
            <a:r>
              <a:rPr lang="en-US" sz="2400" b="1" dirty="0" smtClean="0"/>
              <a:t>V</a:t>
            </a:r>
            <a:r>
              <a:rPr lang="en-US" sz="2400" dirty="0" smtClean="0"/>
              <a:t> and </a:t>
            </a:r>
            <a:r>
              <a:rPr lang="en-US" sz="2400" b="1" dirty="0" smtClean="0"/>
              <a:t>W </a:t>
            </a:r>
            <a:r>
              <a:rPr lang="en-US" sz="2400" dirty="0" smtClean="0"/>
              <a:t>be vector spaces.  </a:t>
            </a:r>
          </a:p>
          <a:p>
            <a:pPr>
              <a:defRPr/>
            </a:pPr>
            <a:r>
              <a:rPr lang="en-US" sz="2400" dirty="0" smtClean="0"/>
              <a:t>The function of  </a:t>
            </a:r>
            <a:r>
              <a:rPr lang="en-US" sz="2400" b="1" dirty="0" smtClean="0"/>
              <a:t>T:</a:t>
            </a:r>
            <a:r>
              <a:rPr lang="en-US" sz="2400" i="1" dirty="0" smtClean="0"/>
              <a:t>V</a:t>
            </a:r>
            <a:r>
              <a:rPr lang="en-US" sz="2400" b="1" dirty="0" smtClean="0"/>
              <a:t> →</a:t>
            </a:r>
            <a:r>
              <a:rPr lang="en-US" sz="2400" i="1" dirty="0" smtClean="0"/>
              <a:t>W</a:t>
            </a:r>
            <a:r>
              <a:rPr lang="en-US" sz="2400" b="1" dirty="0" smtClean="0"/>
              <a:t> </a:t>
            </a:r>
            <a:r>
              <a:rPr lang="en-US" sz="2400" dirty="0" smtClean="0"/>
              <a:t>is called a </a:t>
            </a:r>
            <a:r>
              <a:rPr lang="en-US" sz="2400" b="1" dirty="0" smtClean="0"/>
              <a:t>Linear Transformation</a:t>
            </a:r>
            <a:r>
              <a:rPr lang="en-US" sz="2400" dirty="0" smtClean="0"/>
              <a:t> of </a:t>
            </a:r>
            <a:r>
              <a:rPr lang="en-US" sz="2400" i="1" dirty="0" smtClean="0"/>
              <a:t>V</a:t>
            </a:r>
            <a:r>
              <a:rPr lang="en-US" sz="2400" dirty="0" smtClean="0"/>
              <a:t> into </a:t>
            </a:r>
            <a:r>
              <a:rPr lang="en-US" sz="2400" i="1" dirty="0" smtClean="0"/>
              <a:t>W</a:t>
            </a:r>
            <a:r>
              <a:rPr lang="en-US" sz="2400" dirty="0" smtClean="0"/>
              <a:t> if the following two properties are true for all </a:t>
            </a:r>
          </a:p>
          <a:p>
            <a:pPr>
              <a:buNone/>
              <a:defRPr/>
            </a:pPr>
            <a:r>
              <a:rPr lang="en-US" sz="2400" dirty="0" smtClean="0"/>
              <a:t>    and for any scalar </a:t>
            </a:r>
            <a:r>
              <a:rPr lang="en-US" sz="2400" b="1" i="1" dirty="0" smtClean="0"/>
              <a:t>c</a:t>
            </a:r>
            <a:r>
              <a:rPr lang="en-US" sz="2400" dirty="0" smtClean="0"/>
              <a:t>.</a:t>
            </a:r>
          </a:p>
          <a:p>
            <a:pPr marL="514350" indent="-514350">
              <a:buFont typeface="Arial" charset="0"/>
              <a:buNone/>
              <a:defRPr/>
            </a:pPr>
            <a:r>
              <a:rPr lang="en-US" sz="2400" dirty="0" smtClean="0"/>
              <a:t>	(</a:t>
            </a:r>
            <a:r>
              <a:rPr lang="en-US" sz="2400" dirty="0" err="1" smtClean="0"/>
              <a:t>i</a:t>
            </a:r>
            <a:r>
              <a:rPr lang="en-US" sz="2400" dirty="0" smtClean="0"/>
              <a:t>) T(</a:t>
            </a:r>
            <a:r>
              <a:rPr lang="en-US" sz="2400" b="1" dirty="0" smtClean="0"/>
              <a:t>u + v</a:t>
            </a:r>
            <a:r>
              <a:rPr lang="en-US" sz="2400" dirty="0" smtClean="0"/>
              <a:t>) = T(</a:t>
            </a:r>
            <a:r>
              <a:rPr lang="en-US" sz="2400" b="1" dirty="0" smtClean="0"/>
              <a:t>u</a:t>
            </a:r>
            <a:r>
              <a:rPr lang="en-US" sz="2400" dirty="0" smtClean="0"/>
              <a:t>) + T(</a:t>
            </a:r>
            <a:r>
              <a:rPr lang="en-US" sz="2400" b="1" dirty="0" smtClean="0"/>
              <a:t>v</a:t>
            </a:r>
            <a:r>
              <a:rPr lang="en-US" sz="2400" dirty="0" smtClean="0"/>
              <a:t>)</a:t>
            </a:r>
          </a:p>
          <a:p>
            <a:pPr marL="514350" indent="-514350">
              <a:buFont typeface="Arial" charset="0"/>
              <a:buNone/>
              <a:defRPr/>
            </a:pPr>
            <a:r>
              <a:rPr lang="en-US" sz="2400" dirty="0" smtClean="0"/>
              <a:t>			[T(</a:t>
            </a:r>
            <a:r>
              <a:rPr lang="en-US" sz="2400" b="1" dirty="0" smtClean="0"/>
              <a:t>u + v</a:t>
            </a:r>
            <a:r>
              <a:rPr lang="en-US" sz="2400" dirty="0" smtClean="0"/>
              <a:t>): addition in </a:t>
            </a:r>
            <a:r>
              <a:rPr lang="en-US" sz="2400" i="1" dirty="0" smtClean="0"/>
              <a:t>V</a:t>
            </a:r>
            <a:r>
              <a:rPr lang="en-US" sz="2400" dirty="0" smtClean="0"/>
              <a:t>]</a:t>
            </a:r>
          </a:p>
          <a:p>
            <a:pPr marL="514350" indent="-514350">
              <a:buFont typeface="Arial" charset="0"/>
              <a:buNone/>
              <a:defRPr/>
            </a:pPr>
            <a:r>
              <a:rPr lang="en-US" sz="2400" dirty="0" smtClean="0"/>
              <a:t>       			 [T(</a:t>
            </a:r>
            <a:r>
              <a:rPr lang="en-US" sz="2400" b="1" dirty="0" smtClean="0"/>
              <a:t>u</a:t>
            </a:r>
            <a:r>
              <a:rPr lang="en-US" sz="2400" dirty="0" smtClean="0"/>
              <a:t>) + T(</a:t>
            </a:r>
            <a:r>
              <a:rPr lang="en-US" sz="2400" b="1" dirty="0" smtClean="0"/>
              <a:t>v</a:t>
            </a:r>
            <a:r>
              <a:rPr lang="en-US" sz="2400" dirty="0" smtClean="0"/>
              <a:t>) :addition in </a:t>
            </a:r>
            <a:r>
              <a:rPr lang="en-US" sz="2400" i="1" dirty="0" smtClean="0"/>
              <a:t>W</a:t>
            </a:r>
            <a:r>
              <a:rPr lang="en-US" sz="2400" dirty="0" smtClean="0"/>
              <a:t>]</a:t>
            </a:r>
          </a:p>
          <a:p>
            <a:pPr marL="514350" indent="-514350">
              <a:buFont typeface="Arial" charset="0"/>
              <a:buNone/>
              <a:defRPr/>
            </a:pPr>
            <a:r>
              <a:rPr lang="en-US" sz="2400" dirty="0" smtClean="0"/>
              <a:t>	(ii) T(c</a:t>
            </a:r>
            <a:r>
              <a:rPr lang="en-US" sz="2400" b="1" dirty="0" smtClean="0"/>
              <a:t>u</a:t>
            </a:r>
            <a:r>
              <a:rPr lang="en-US" sz="2400" dirty="0" smtClean="0"/>
              <a:t>) = </a:t>
            </a:r>
            <a:r>
              <a:rPr lang="en-US" sz="2400" dirty="0" err="1" smtClean="0"/>
              <a:t>cT</a:t>
            </a:r>
            <a:r>
              <a:rPr lang="en-US" sz="2400" dirty="0" smtClean="0"/>
              <a:t>(</a:t>
            </a:r>
            <a:r>
              <a:rPr lang="en-US" sz="2400" b="1" dirty="0" smtClean="0"/>
              <a:t>u</a:t>
            </a:r>
            <a:r>
              <a:rPr lang="en-US" sz="2400" dirty="0" smtClean="0"/>
              <a:t>) </a:t>
            </a:r>
          </a:p>
          <a:p>
            <a:pPr marL="514350" indent="-514350">
              <a:buFont typeface="Arial" charset="0"/>
              <a:buNone/>
              <a:defRPr/>
            </a:pPr>
            <a:r>
              <a:rPr lang="en-US" sz="2400" dirty="0" smtClean="0"/>
              <a:t>			[T(c</a:t>
            </a:r>
            <a:r>
              <a:rPr lang="en-US" sz="2400" b="1" dirty="0" smtClean="0"/>
              <a:t>u</a:t>
            </a:r>
            <a:r>
              <a:rPr lang="en-US" sz="2400" dirty="0" smtClean="0"/>
              <a:t>): scalar multiplication in V]</a:t>
            </a:r>
          </a:p>
          <a:p>
            <a:pPr marL="514350" indent="-514350">
              <a:buFont typeface="Arial" charset="0"/>
              <a:buNone/>
              <a:defRPr/>
            </a:pPr>
            <a:r>
              <a:rPr lang="en-US" sz="2400" dirty="0" smtClean="0"/>
              <a:t>       			 [</a:t>
            </a:r>
            <a:r>
              <a:rPr lang="en-US" sz="2400" dirty="0" err="1" smtClean="0"/>
              <a:t>cT</a:t>
            </a:r>
            <a:r>
              <a:rPr lang="en-US" sz="2400" dirty="0" smtClean="0"/>
              <a:t>(</a:t>
            </a:r>
            <a:r>
              <a:rPr lang="en-US" sz="2400" b="1" dirty="0" smtClean="0"/>
              <a:t>u</a:t>
            </a:r>
            <a:r>
              <a:rPr lang="en-US" sz="2400" dirty="0" smtClean="0"/>
              <a:t>) : scalar multiplication in W]</a:t>
            </a:r>
          </a:p>
          <a:p>
            <a:pPr marL="514350" indent="-514350">
              <a:buNone/>
              <a:defRPr/>
            </a:pPr>
            <a:r>
              <a:rPr lang="en-US" sz="2400" dirty="0" smtClean="0"/>
              <a:t>        (iii) T(c</a:t>
            </a:r>
            <a:r>
              <a:rPr lang="en-US" sz="2400" b="1" dirty="0" smtClean="0"/>
              <a:t>u </a:t>
            </a:r>
            <a:r>
              <a:rPr lang="en-US" sz="2400" dirty="0" smtClean="0"/>
              <a:t> + </a:t>
            </a:r>
            <a:r>
              <a:rPr lang="en-US" sz="2400" b="1" dirty="0" smtClean="0"/>
              <a:t>v</a:t>
            </a:r>
            <a:r>
              <a:rPr lang="en-US" sz="2400" dirty="0" smtClean="0"/>
              <a:t>) = </a:t>
            </a:r>
            <a:r>
              <a:rPr lang="en-US" sz="2400" dirty="0" err="1" smtClean="0"/>
              <a:t>cT</a:t>
            </a:r>
            <a:r>
              <a:rPr lang="en-US" sz="2400" dirty="0" smtClean="0"/>
              <a:t>(</a:t>
            </a:r>
            <a:r>
              <a:rPr lang="en-US" sz="2400" b="1" dirty="0" smtClean="0"/>
              <a:t>u</a:t>
            </a:r>
            <a:r>
              <a:rPr lang="en-US" sz="2400" dirty="0" smtClean="0"/>
              <a:t>) +T(</a:t>
            </a:r>
            <a:r>
              <a:rPr lang="en-US" sz="2400" b="1" dirty="0" smtClean="0"/>
              <a:t>v</a:t>
            </a:r>
            <a:r>
              <a:rPr lang="en-US" sz="2400" dirty="0" smtClean="0"/>
              <a:t>)</a:t>
            </a:r>
          </a:p>
          <a:p>
            <a:pPr marL="514350" indent="-514350">
              <a:buFont typeface="Arial" charset="0"/>
              <a:buNone/>
              <a:defRPr/>
            </a:pPr>
            <a:r>
              <a:rPr lang="en-US" sz="2400" dirty="0" smtClean="0"/>
              <a:t>In the case which </a:t>
            </a:r>
            <a:r>
              <a:rPr lang="en-US" sz="2400" i="1" dirty="0" smtClean="0"/>
              <a:t>V</a:t>
            </a:r>
            <a:r>
              <a:rPr lang="en-US" sz="2400" dirty="0" smtClean="0"/>
              <a:t> = </a:t>
            </a:r>
            <a:r>
              <a:rPr lang="en-US" sz="2400" i="1" dirty="0" smtClean="0"/>
              <a:t>W</a:t>
            </a:r>
            <a:r>
              <a:rPr lang="en-US" sz="2400" dirty="0" smtClean="0"/>
              <a:t>, then T is also called a </a:t>
            </a:r>
            <a:r>
              <a:rPr lang="en-US" sz="2400" b="1" dirty="0" smtClean="0"/>
              <a:t>Linear Operator.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23E2D594-E737-4D9F-BDBE-F9FD0142C0F9}" type="slidenum">
              <a:rPr lang="en-MY" smtClean="0"/>
              <a:pPr>
                <a:defRPr/>
              </a:pPr>
              <a:t>6</a:t>
            </a:fld>
            <a:endParaRPr lang="en-MY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7678267" y="2060848"/>
          <a:ext cx="1214213" cy="3896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Equation" r:id="rId3" imgW="520474" imgH="203112" progId="Equation.3">
                  <p:embed/>
                </p:oleObj>
              </mc:Choice>
              <mc:Fallback>
                <p:oleObj name="Equation" r:id="rId3" imgW="520474" imgH="203112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8267" y="2060848"/>
                        <a:ext cx="1214213" cy="38963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1907704" y="404664"/>
            <a:ext cx="6779096" cy="720080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t"/>
          <a:lstStyle/>
          <a:p>
            <a:pPr>
              <a:lnSpc>
                <a:spcPct val="150000"/>
              </a:lnSpc>
            </a:pPr>
            <a:r>
              <a:rPr lang="en-US" sz="3200" b="1" dirty="0" smtClean="0"/>
              <a:t>Example 3</a:t>
            </a:r>
            <a:r>
              <a:rPr lang="en-US" sz="3200" dirty="0" smtClean="0"/>
              <a:t/>
            </a:r>
            <a:br>
              <a:rPr lang="en-US" sz="3200" dirty="0" smtClean="0"/>
            </a:br>
            <a:endParaRPr lang="en-US" sz="3200" dirty="0" smtClean="0"/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>
          <a:xfrm>
            <a:off x="467544" y="1988840"/>
            <a:ext cx="8085584" cy="2088232"/>
          </a:xfrm>
        </p:spPr>
        <p:txBody>
          <a:bodyPr/>
          <a:lstStyle/>
          <a:p>
            <a:pPr>
              <a:buFont typeface="Arial" charset="0"/>
              <a:buNone/>
            </a:pPr>
            <a:r>
              <a:rPr lang="en-US" sz="2800" dirty="0" smtClean="0"/>
              <a:t>Show that  </a:t>
            </a:r>
          </a:p>
          <a:p>
            <a:pPr>
              <a:buFont typeface="Arial" charset="0"/>
              <a:buNone/>
            </a:pPr>
            <a:r>
              <a:rPr lang="en-US" sz="2800" dirty="0" smtClean="0"/>
              <a:t>                   T(v</a:t>
            </a:r>
            <a:r>
              <a:rPr lang="en-US" sz="2800" baseline="-25000" dirty="0" smtClean="0"/>
              <a:t>1</a:t>
            </a:r>
            <a:r>
              <a:rPr lang="en-US" sz="2800" dirty="0" smtClean="0"/>
              <a:t>, v</a:t>
            </a:r>
            <a:r>
              <a:rPr lang="en-US" sz="2800" baseline="-25000" dirty="0" smtClean="0"/>
              <a:t>2</a:t>
            </a:r>
            <a:r>
              <a:rPr lang="en-US" sz="2800" dirty="0" smtClean="0"/>
              <a:t>)= (v</a:t>
            </a:r>
            <a:r>
              <a:rPr lang="en-US" sz="2800" baseline="-25000" dirty="0" smtClean="0"/>
              <a:t>1 </a:t>
            </a:r>
            <a:r>
              <a:rPr lang="en-US" sz="2800" dirty="0" smtClean="0"/>
              <a:t>- v</a:t>
            </a:r>
            <a:r>
              <a:rPr lang="en-US" sz="2800" baseline="-25000" dirty="0" smtClean="0"/>
              <a:t>2</a:t>
            </a:r>
            <a:r>
              <a:rPr lang="en-US" sz="2800" dirty="0" smtClean="0"/>
              <a:t> , v</a:t>
            </a:r>
            <a:r>
              <a:rPr lang="en-US" sz="2800" baseline="-25000" dirty="0" smtClean="0"/>
              <a:t>1</a:t>
            </a:r>
            <a:r>
              <a:rPr lang="en-US" sz="2800" dirty="0" smtClean="0"/>
              <a:t> + 2v</a:t>
            </a:r>
            <a:r>
              <a:rPr lang="en-US" sz="2800" baseline="-25000" dirty="0" smtClean="0"/>
              <a:t>2</a:t>
            </a:r>
            <a:r>
              <a:rPr lang="en-US" sz="2800" dirty="0" smtClean="0"/>
              <a:t>), </a:t>
            </a:r>
          </a:p>
          <a:p>
            <a:pPr>
              <a:buFont typeface="Arial" charset="0"/>
              <a:buNone/>
            </a:pPr>
            <a:endParaRPr lang="en-US" sz="2800" dirty="0" smtClean="0"/>
          </a:p>
          <a:p>
            <a:pPr>
              <a:buFont typeface="Arial" charset="0"/>
              <a:buNone/>
            </a:pPr>
            <a:r>
              <a:rPr lang="en-US" sz="2800" dirty="0" smtClean="0"/>
              <a:t>is a Linear Transformation from R</a:t>
            </a:r>
            <a:r>
              <a:rPr lang="en-US" sz="2800" baseline="30000" dirty="0" smtClean="0"/>
              <a:t>2</a:t>
            </a:r>
            <a:r>
              <a:rPr lang="en-US" sz="2800" dirty="0" smtClean="0"/>
              <a:t> into R</a:t>
            </a:r>
            <a:r>
              <a:rPr lang="en-US" sz="2800" baseline="30000" dirty="0" smtClean="0"/>
              <a:t>2</a:t>
            </a:r>
          </a:p>
          <a:p>
            <a:pPr>
              <a:buFont typeface="Arial" charset="0"/>
              <a:buNone/>
            </a:pPr>
            <a:endParaRPr lang="en-US" sz="2800" b="1" dirty="0" smtClean="0"/>
          </a:p>
          <a:p>
            <a:pPr>
              <a:buFont typeface="Arial" charset="0"/>
              <a:buNone/>
            </a:pPr>
            <a:endParaRPr lang="en-US" sz="28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8F9BAF6D-E1D5-4E02-BBBC-3DB19E16E1DF}" type="slidenum">
              <a:rPr lang="en-MY" smtClean="0"/>
              <a:pPr>
                <a:defRPr/>
              </a:pPr>
              <a:t>7</a:t>
            </a:fld>
            <a:endParaRPr lang="en-MY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1979712" y="260648"/>
            <a:ext cx="6707088" cy="792088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t"/>
          <a:lstStyle/>
          <a:p>
            <a:pPr>
              <a:lnSpc>
                <a:spcPct val="150000"/>
              </a:lnSpc>
            </a:pPr>
            <a:r>
              <a:rPr lang="en-US" sz="3200" b="1" dirty="0" smtClean="0"/>
              <a:t>Solution</a:t>
            </a:r>
            <a:endParaRPr lang="en-US" sz="3200" dirty="0" smtClean="0"/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>
          <a:xfrm>
            <a:off x="467544" y="1052736"/>
            <a:ext cx="8229600" cy="5184576"/>
          </a:xfrm>
        </p:spPr>
        <p:txBody>
          <a:bodyPr/>
          <a:lstStyle/>
          <a:p>
            <a:pPr>
              <a:buFont typeface="Arial" charset="0"/>
              <a:buNone/>
            </a:pPr>
            <a:r>
              <a:rPr lang="en-US" dirty="0" smtClean="0"/>
              <a:t>Let </a:t>
            </a:r>
            <a:r>
              <a:rPr lang="en-US" b="1" dirty="0" smtClean="0"/>
              <a:t>v </a:t>
            </a:r>
            <a:r>
              <a:rPr lang="en-US" dirty="0" smtClean="0"/>
              <a:t>= (v</a:t>
            </a:r>
            <a:r>
              <a:rPr lang="en-US" baseline="-25000" dirty="0" smtClean="0"/>
              <a:t>1</a:t>
            </a:r>
            <a:r>
              <a:rPr lang="en-US" dirty="0" smtClean="0"/>
              <a:t>,v</a:t>
            </a:r>
            <a:r>
              <a:rPr lang="en-US" baseline="-25000" dirty="0" smtClean="0"/>
              <a:t>2</a:t>
            </a:r>
            <a:r>
              <a:rPr lang="en-US" dirty="0" smtClean="0"/>
              <a:t>) and </a:t>
            </a:r>
            <a:r>
              <a:rPr lang="en-US" b="1" dirty="0" smtClean="0"/>
              <a:t>u</a:t>
            </a:r>
            <a:r>
              <a:rPr lang="en-US" dirty="0" smtClean="0"/>
              <a:t> = (u</a:t>
            </a:r>
            <a:r>
              <a:rPr lang="en-US" baseline="-25000" dirty="0" smtClean="0"/>
              <a:t>1</a:t>
            </a:r>
            <a:r>
              <a:rPr lang="en-US" dirty="0" smtClean="0"/>
              <a:t>,u</a:t>
            </a:r>
            <a:r>
              <a:rPr lang="en-US" baseline="-25000" dirty="0" smtClean="0"/>
              <a:t>2</a:t>
            </a:r>
            <a:r>
              <a:rPr lang="en-US" dirty="0" smtClean="0"/>
              <a:t>) be vectors in R</a:t>
            </a:r>
            <a:r>
              <a:rPr lang="en-US" baseline="30000" dirty="0" smtClean="0"/>
              <a:t>2</a:t>
            </a:r>
            <a:r>
              <a:rPr lang="en-US" dirty="0" smtClean="0"/>
              <a:t> and</a:t>
            </a:r>
          </a:p>
          <a:p>
            <a:pPr>
              <a:buFont typeface="Arial" charset="0"/>
              <a:buNone/>
            </a:pPr>
            <a:r>
              <a:rPr lang="en-US" dirty="0" smtClean="0"/>
              <a:t>let </a:t>
            </a:r>
            <a:r>
              <a:rPr lang="en-US" b="1" i="1" dirty="0" smtClean="0"/>
              <a:t>c</a:t>
            </a:r>
            <a:r>
              <a:rPr lang="en-US" dirty="0" smtClean="0"/>
              <a:t> be any real number. Then construct the</a:t>
            </a:r>
          </a:p>
          <a:p>
            <a:pPr>
              <a:buFont typeface="Arial" charset="0"/>
              <a:buNone/>
            </a:pPr>
            <a:r>
              <a:rPr lang="en-US" dirty="0" smtClean="0"/>
              <a:t>following;</a:t>
            </a:r>
          </a:p>
          <a:p>
            <a:pPr marL="514350" indent="-514350">
              <a:buFont typeface="Arial" charset="0"/>
              <a:buAutoNum type="arabicPeriod"/>
            </a:pPr>
            <a:r>
              <a:rPr lang="en-US" dirty="0" smtClean="0"/>
              <a:t>Because </a:t>
            </a:r>
            <a:r>
              <a:rPr lang="en-US" b="1" dirty="0" smtClean="0"/>
              <a:t>u + v </a:t>
            </a:r>
            <a:r>
              <a:rPr lang="en-US" dirty="0" smtClean="0"/>
              <a:t>= (u</a:t>
            </a:r>
            <a:r>
              <a:rPr lang="en-US" baseline="-25000" dirty="0" smtClean="0"/>
              <a:t>1</a:t>
            </a:r>
            <a:r>
              <a:rPr lang="en-US" dirty="0" smtClean="0"/>
              <a:t>,u</a:t>
            </a:r>
            <a:r>
              <a:rPr lang="en-US" baseline="-25000" dirty="0" smtClean="0"/>
              <a:t>2</a:t>
            </a:r>
            <a:r>
              <a:rPr lang="en-US" dirty="0" smtClean="0"/>
              <a:t>) + (v</a:t>
            </a:r>
            <a:r>
              <a:rPr lang="en-US" baseline="-25000" dirty="0" smtClean="0"/>
              <a:t>1</a:t>
            </a:r>
            <a:r>
              <a:rPr lang="en-US" dirty="0" smtClean="0"/>
              <a:t>,v</a:t>
            </a:r>
            <a:r>
              <a:rPr lang="en-US" baseline="-25000" dirty="0" smtClean="0"/>
              <a:t>2</a:t>
            </a:r>
            <a:r>
              <a:rPr lang="en-US" dirty="0" smtClean="0"/>
              <a:t>) </a:t>
            </a:r>
          </a:p>
          <a:p>
            <a:pPr marL="514350" indent="-514350">
              <a:buNone/>
            </a:pPr>
            <a:r>
              <a:rPr lang="en-US" dirty="0" smtClean="0"/>
              <a:t>                               = (u</a:t>
            </a:r>
            <a:r>
              <a:rPr lang="en-US" baseline="-25000" dirty="0" smtClean="0"/>
              <a:t>1</a:t>
            </a:r>
            <a:r>
              <a:rPr lang="en-US" dirty="0" smtClean="0"/>
              <a:t>+ v</a:t>
            </a:r>
            <a:r>
              <a:rPr lang="en-US" baseline="-25000" dirty="0" smtClean="0"/>
              <a:t>1</a:t>
            </a:r>
            <a:r>
              <a:rPr lang="en-US" dirty="0" smtClean="0"/>
              <a:t> , u</a:t>
            </a:r>
            <a:r>
              <a:rPr lang="en-US" baseline="-25000" dirty="0" smtClean="0"/>
              <a:t>2 </a:t>
            </a:r>
            <a:r>
              <a:rPr lang="en-US" dirty="0" smtClean="0"/>
              <a:t>+  v</a:t>
            </a:r>
            <a:r>
              <a:rPr lang="en-US" baseline="-25000" dirty="0" smtClean="0"/>
              <a:t>2</a:t>
            </a:r>
            <a:r>
              <a:rPr lang="en-US" dirty="0" smtClean="0"/>
              <a:t>), we have</a:t>
            </a:r>
          </a:p>
          <a:p>
            <a:pPr>
              <a:buFont typeface="Arial" charset="0"/>
              <a:buNone/>
            </a:pPr>
            <a:r>
              <a:rPr lang="en-US" sz="2800" dirty="0" smtClean="0"/>
              <a:t>	T(</a:t>
            </a:r>
            <a:r>
              <a:rPr lang="en-US" sz="2800" b="1" dirty="0" err="1" smtClean="0"/>
              <a:t>u</a:t>
            </a:r>
            <a:r>
              <a:rPr lang="en-US" sz="2800" dirty="0" err="1" smtClean="0"/>
              <a:t>+</a:t>
            </a:r>
            <a:r>
              <a:rPr lang="en-US" sz="2800" b="1" dirty="0" err="1" smtClean="0"/>
              <a:t>v</a:t>
            </a:r>
            <a:r>
              <a:rPr lang="en-US" sz="2800" dirty="0" smtClean="0"/>
              <a:t>) 	= T(u</a:t>
            </a:r>
            <a:r>
              <a:rPr lang="en-US" sz="2800" baseline="-25000" dirty="0" smtClean="0"/>
              <a:t>1</a:t>
            </a:r>
            <a:r>
              <a:rPr lang="en-US" sz="2800" dirty="0" smtClean="0"/>
              <a:t>+ v</a:t>
            </a:r>
            <a:r>
              <a:rPr lang="en-US" sz="2800" baseline="-25000" dirty="0" smtClean="0"/>
              <a:t>1</a:t>
            </a:r>
            <a:r>
              <a:rPr lang="en-US" sz="2800" dirty="0" smtClean="0"/>
              <a:t> , u</a:t>
            </a:r>
            <a:r>
              <a:rPr lang="en-US" sz="2800" baseline="-25000" dirty="0" smtClean="0"/>
              <a:t>2</a:t>
            </a:r>
            <a:r>
              <a:rPr lang="en-US" sz="2800" dirty="0" smtClean="0"/>
              <a:t> + v</a:t>
            </a:r>
            <a:r>
              <a:rPr lang="en-US" sz="2800" baseline="-25000" dirty="0" smtClean="0"/>
              <a:t>2</a:t>
            </a:r>
            <a:r>
              <a:rPr lang="en-US" sz="2800" dirty="0" smtClean="0"/>
              <a:t>)</a:t>
            </a:r>
          </a:p>
          <a:p>
            <a:pPr>
              <a:buFont typeface="Arial" charset="0"/>
              <a:buNone/>
            </a:pPr>
            <a:r>
              <a:rPr lang="en-US" sz="2800" dirty="0" smtClean="0"/>
              <a:t>			= ((u</a:t>
            </a:r>
            <a:r>
              <a:rPr lang="en-US" sz="2800" baseline="-25000" dirty="0" smtClean="0"/>
              <a:t>1</a:t>
            </a:r>
            <a:r>
              <a:rPr lang="en-US" sz="2800" dirty="0" smtClean="0"/>
              <a:t>+ v</a:t>
            </a:r>
            <a:r>
              <a:rPr lang="en-US" sz="2800" baseline="-25000" dirty="0" smtClean="0"/>
              <a:t>1</a:t>
            </a:r>
            <a:r>
              <a:rPr lang="en-US" sz="2800" dirty="0" smtClean="0"/>
              <a:t>)- (u</a:t>
            </a:r>
            <a:r>
              <a:rPr lang="en-US" sz="2800" baseline="-25000" dirty="0" smtClean="0"/>
              <a:t>2 </a:t>
            </a:r>
            <a:r>
              <a:rPr lang="en-US" sz="2800" dirty="0" smtClean="0"/>
              <a:t>+ v</a:t>
            </a:r>
            <a:r>
              <a:rPr lang="en-US" sz="2800" baseline="-25000" dirty="0" smtClean="0"/>
              <a:t>2</a:t>
            </a:r>
            <a:r>
              <a:rPr lang="en-US" sz="2800" dirty="0" smtClean="0"/>
              <a:t>), (u</a:t>
            </a:r>
            <a:r>
              <a:rPr lang="en-US" sz="2800" baseline="-25000" dirty="0" smtClean="0"/>
              <a:t>1</a:t>
            </a:r>
            <a:r>
              <a:rPr lang="en-US" sz="2800" dirty="0" smtClean="0"/>
              <a:t>+ v</a:t>
            </a:r>
            <a:r>
              <a:rPr lang="en-US" sz="2800" baseline="-25000" dirty="0" smtClean="0"/>
              <a:t>1</a:t>
            </a:r>
            <a:r>
              <a:rPr lang="en-US" sz="2800" dirty="0" smtClean="0"/>
              <a:t>) + 2(u</a:t>
            </a:r>
            <a:r>
              <a:rPr lang="en-US" sz="2800" baseline="-25000" dirty="0" smtClean="0"/>
              <a:t>2</a:t>
            </a:r>
            <a:r>
              <a:rPr lang="en-US" sz="2800" dirty="0" smtClean="0"/>
              <a:t>+ v</a:t>
            </a:r>
            <a:r>
              <a:rPr lang="en-US" sz="2800" baseline="-25000" dirty="0" smtClean="0"/>
              <a:t>2</a:t>
            </a:r>
            <a:r>
              <a:rPr lang="en-US" sz="2800" dirty="0" smtClean="0"/>
              <a:t>))</a:t>
            </a:r>
          </a:p>
          <a:p>
            <a:pPr>
              <a:buFont typeface="Arial" charset="0"/>
              <a:buNone/>
            </a:pPr>
            <a:r>
              <a:rPr lang="en-US" sz="2800" dirty="0" smtClean="0"/>
              <a:t>			=((u</a:t>
            </a:r>
            <a:r>
              <a:rPr lang="en-US" sz="2800" baseline="-25000" dirty="0" smtClean="0"/>
              <a:t>1</a:t>
            </a:r>
            <a:r>
              <a:rPr lang="en-US" sz="2800" dirty="0" smtClean="0"/>
              <a:t>- u</a:t>
            </a:r>
            <a:r>
              <a:rPr lang="en-US" sz="2800" baseline="-25000" dirty="0" smtClean="0"/>
              <a:t>2 </a:t>
            </a:r>
            <a:r>
              <a:rPr lang="en-US" sz="2800" dirty="0" smtClean="0"/>
              <a:t>)+ (v</a:t>
            </a:r>
            <a:r>
              <a:rPr lang="en-US" sz="2800" baseline="-25000" dirty="0" smtClean="0"/>
              <a:t>1</a:t>
            </a:r>
            <a:r>
              <a:rPr lang="en-US" sz="2800" dirty="0" smtClean="0"/>
              <a:t> - v</a:t>
            </a:r>
            <a:r>
              <a:rPr lang="en-US" sz="2800" baseline="-25000" dirty="0" smtClean="0"/>
              <a:t>2 </a:t>
            </a:r>
            <a:r>
              <a:rPr lang="en-US" sz="2800" dirty="0" smtClean="0"/>
              <a:t>), (u</a:t>
            </a:r>
            <a:r>
              <a:rPr lang="en-US" sz="2800" baseline="-25000" dirty="0" smtClean="0"/>
              <a:t>1</a:t>
            </a:r>
            <a:r>
              <a:rPr lang="en-US" sz="2800" dirty="0" smtClean="0"/>
              <a:t>+ 2u</a:t>
            </a:r>
            <a:r>
              <a:rPr lang="en-US" sz="2800" baseline="-25000" dirty="0" smtClean="0"/>
              <a:t>2 </a:t>
            </a:r>
            <a:r>
              <a:rPr lang="en-US" sz="2800" dirty="0" smtClean="0"/>
              <a:t>)+ (v</a:t>
            </a:r>
            <a:r>
              <a:rPr lang="en-US" sz="2800" baseline="-25000" dirty="0" smtClean="0"/>
              <a:t>1</a:t>
            </a:r>
            <a:r>
              <a:rPr lang="en-US" sz="2800" dirty="0" smtClean="0"/>
              <a:t>+2v</a:t>
            </a:r>
            <a:r>
              <a:rPr lang="en-US" sz="2800" baseline="-25000" dirty="0" smtClean="0"/>
              <a:t>2</a:t>
            </a:r>
            <a:r>
              <a:rPr lang="en-US" sz="2800" dirty="0" smtClean="0"/>
              <a:t>))</a:t>
            </a:r>
          </a:p>
          <a:p>
            <a:pPr>
              <a:buFont typeface="Arial" charset="0"/>
              <a:buNone/>
            </a:pPr>
            <a:r>
              <a:rPr lang="en-US" sz="2800" dirty="0" smtClean="0"/>
              <a:t>			=(u</a:t>
            </a:r>
            <a:r>
              <a:rPr lang="en-US" sz="2800" baseline="-25000" dirty="0" smtClean="0"/>
              <a:t>1</a:t>
            </a:r>
            <a:r>
              <a:rPr lang="en-US" sz="2800" dirty="0" smtClean="0"/>
              <a:t> – u</a:t>
            </a:r>
            <a:r>
              <a:rPr lang="en-US" sz="2800" baseline="-25000" dirty="0" smtClean="0"/>
              <a:t>2</a:t>
            </a:r>
            <a:r>
              <a:rPr lang="en-US" sz="2800" dirty="0" smtClean="0"/>
              <a:t> , u</a:t>
            </a:r>
            <a:r>
              <a:rPr lang="en-US" sz="2800" baseline="-25000" dirty="0" smtClean="0"/>
              <a:t>1</a:t>
            </a:r>
            <a:r>
              <a:rPr lang="en-US" sz="2800" dirty="0" smtClean="0"/>
              <a:t> + 2u</a:t>
            </a:r>
            <a:r>
              <a:rPr lang="en-US" sz="2800" baseline="-25000" dirty="0" smtClean="0"/>
              <a:t>2</a:t>
            </a:r>
            <a:r>
              <a:rPr lang="en-US" sz="2800" dirty="0" smtClean="0"/>
              <a:t>)+(v</a:t>
            </a:r>
            <a:r>
              <a:rPr lang="en-US" sz="2800" baseline="-25000" dirty="0" smtClean="0"/>
              <a:t>1</a:t>
            </a:r>
            <a:r>
              <a:rPr lang="en-US" sz="2800" dirty="0" smtClean="0"/>
              <a:t>- v</a:t>
            </a:r>
            <a:r>
              <a:rPr lang="en-US" sz="2800" baseline="-25000" dirty="0" smtClean="0"/>
              <a:t>2</a:t>
            </a:r>
            <a:r>
              <a:rPr lang="en-US" sz="2800" dirty="0" smtClean="0"/>
              <a:t>, v</a:t>
            </a:r>
            <a:r>
              <a:rPr lang="en-US" sz="2800" baseline="-25000" dirty="0" smtClean="0"/>
              <a:t>1</a:t>
            </a:r>
            <a:r>
              <a:rPr lang="en-US" sz="2800" dirty="0" smtClean="0"/>
              <a:t> + 2v</a:t>
            </a:r>
            <a:r>
              <a:rPr lang="en-US" sz="2800" baseline="-25000" dirty="0" smtClean="0"/>
              <a:t>2</a:t>
            </a:r>
            <a:r>
              <a:rPr lang="en-US" sz="2800" dirty="0" smtClean="0"/>
              <a:t>)</a:t>
            </a:r>
          </a:p>
          <a:p>
            <a:pPr>
              <a:buFont typeface="Arial" charset="0"/>
              <a:buNone/>
            </a:pPr>
            <a:r>
              <a:rPr lang="en-US" sz="2800" dirty="0" smtClean="0"/>
              <a:t>			=T(</a:t>
            </a:r>
            <a:r>
              <a:rPr lang="en-US" sz="2800" b="1" dirty="0" smtClean="0"/>
              <a:t>u</a:t>
            </a:r>
            <a:r>
              <a:rPr lang="en-US" sz="2800" dirty="0" smtClean="0"/>
              <a:t>) + T(</a:t>
            </a:r>
            <a:r>
              <a:rPr lang="en-US" sz="2800" b="1" dirty="0" smtClean="0"/>
              <a:t>v</a:t>
            </a:r>
            <a:r>
              <a:rPr lang="en-US" sz="2800" dirty="0" smtClean="0"/>
              <a:t>)</a:t>
            </a:r>
          </a:p>
          <a:p>
            <a:pPr>
              <a:buFont typeface="Arial" charset="0"/>
              <a:buNone/>
            </a:pPr>
            <a:endParaRPr lang="en-US" dirty="0" smtClean="0"/>
          </a:p>
          <a:p>
            <a:pPr>
              <a:buFont typeface="Arial" charset="0"/>
              <a:buNone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8F9BAF6D-E1D5-4E02-BBBC-3DB19E16E1DF}" type="slidenum">
              <a:rPr lang="en-MY" smtClean="0"/>
              <a:pPr>
                <a:defRPr/>
              </a:pPr>
              <a:t>8</a:t>
            </a:fld>
            <a:endParaRPr lang="en-MY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251520" y="1268760"/>
            <a:ext cx="8229600" cy="4525963"/>
          </a:xfrm>
        </p:spPr>
        <p:txBody>
          <a:bodyPr/>
          <a:lstStyle/>
          <a:p>
            <a:pPr>
              <a:buFont typeface="Arial" charset="0"/>
              <a:buNone/>
            </a:pPr>
            <a:r>
              <a:rPr lang="en-US" dirty="0" smtClean="0"/>
              <a:t>2.  Because c</a:t>
            </a:r>
            <a:r>
              <a:rPr lang="en-US" b="1" dirty="0" smtClean="0"/>
              <a:t>u</a:t>
            </a:r>
            <a:r>
              <a:rPr lang="en-US" dirty="0" smtClean="0"/>
              <a:t> = c(u</a:t>
            </a:r>
            <a:r>
              <a:rPr lang="en-US" baseline="-25000" dirty="0" smtClean="0"/>
              <a:t>1</a:t>
            </a:r>
            <a:r>
              <a:rPr lang="en-US" dirty="0" smtClean="0"/>
              <a:t>,u</a:t>
            </a:r>
            <a:r>
              <a:rPr lang="en-US" baseline="-25000" dirty="0" smtClean="0"/>
              <a:t>2</a:t>
            </a:r>
            <a:r>
              <a:rPr lang="en-US" dirty="0" smtClean="0"/>
              <a:t>) = (cu</a:t>
            </a:r>
            <a:r>
              <a:rPr lang="en-US" baseline="-25000" dirty="0" smtClean="0"/>
              <a:t>1</a:t>
            </a:r>
            <a:r>
              <a:rPr lang="en-US" dirty="0" smtClean="0"/>
              <a:t>,cu</a:t>
            </a:r>
            <a:r>
              <a:rPr lang="en-US" baseline="-25000" dirty="0" smtClean="0"/>
              <a:t>2</a:t>
            </a:r>
            <a:r>
              <a:rPr lang="en-US" dirty="0" smtClean="0"/>
              <a:t>) , we have </a:t>
            </a:r>
          </a:p>
          <a:p>
            <a:pPr>
              <a:buFont typeface="Arial" charset="0"/>
              <a:buNone/>
            </a:pPr>
            <a:r>
              <a:rPr lang="en-US" dirty="0" smtClean="0"/>
              <a:t>		T(c</a:t>
            </a:r>
            <a:r>
              <a:rPr lang="en-US" b="1" dirty="0" smtClean="0"/>
              <a:t>u</a:t>
            </a:r>
            <a:r>
              <a:rPr lang="en-US" dirty="0" smtClean="0"/>
              <a:t>)	 = T(cu</a:t>
            </a:r>
            <a:r>
              <a:rPr lang="en-US" baseline="-25000" dirty="0" smtClean="0"/>
              <a:t>1  </a:t>
            </a:r>
            <a:r>
              <a:rPr lang="en-US" dirty="0" smtClean="0"/>
              <a:t>, cu</a:t>
            </a:r>
            <a:r>
              <a:rPr lang="en-US" baseline="-25000" dirty="0" smtClean="0"/>
              <a:t>2</a:t>
            </a:r>
            <a:r>
              <a:rPr lang="en-US" dirty="0" smtClean="0"/>
              <a:t>)</a:t>
            </a:r>
          </a:p>
          <a:p>
            <a:pPr>
              <a:buFont typeface="Arial" charset="0"/>
              <a:buNone/>
            </a:pPr>
            <a:r>
              <a:rPr lang="en-US" dirty="0" smtClean="0"/>
              <a:t>			= (cu</a:t>
            </a:r>
            <a:r>
              <a:rPr lang="en-US" baseline="-25000" dirty="0" smtClean="0"/>
              <a:t>1</a:t>
            </a:r>
            <a:r>
              <a:rPr lang="en-US" dirty="0" smtClean="0"/>
              <a:t> - cu</a:t>
            </a:r>
            <a:r>
              <a:rPr lang="en-US" baseline="-25000" dirty="0" smtClean="0"/>
              <a:t>2  </a:t>
            </a:r>
            <a:r>
              <a:rPr lang="en-US" dirty="0" smtClean="0"/>
              <a:t>, cu</a:t>
            </a:r>
            <a:r>
              <a:rPr lang="en-US" baseline="-25000" dirty="0" smtClean="0"/>
              <a:t>1</a:t>
            </a:r>
            <a:r>
              <a:rPr lang="en-US" dirty="0" smtClean="0"/>
              <a:t>+ 2cu</a:t>
            </a:r>
            <a:r>
              <a:rPr lang="en-US" baseline="-25000" dirty="0" smtClean="0"/>
              <a:t>2</a:t>
            </a:r>
            <a:r>
              <a:rPr lang="en-US" dirty="0" smtClean="0"/>
              <a:t>)</a:t>
            </a:r>
          </a:p>
          <a:p>
            <a:pPr>
              <a:buFont typeface="Arial" charset="0"/>
              <a:buNone/>
            </a:pPr>
            <a:r>
              <a:rPr lang="en-US" dirty="0" smtClean="0"/>
              <a:t>			= c(u</a:t>
            </a:r>
            <a:r>
              <a:rPr lang="en-US" baseline="-25000" dirty="0" smtClean="0"/>
              <a:t>1</a:t>
            </a:r>
            <a:r>
              <a:rPr lang="en-US" dirty="0" smtClean="0"/>
              <a:t> - u</a:t>
            </a:r>
            <a:r>
              <a:rPr lang="en-US" baseline="-25000" dirty="0" smtClean="0"/>
              <a:t>2  </a:t>
            </a:r>
            <a:r>
              <a:rPr lang="en-US" dirty="0" smtClean="0"/>
              <a:t>,  u</a:t>
            </a:r>
            <a:r>
              <a:rPr lang="en-US" baseline="-25000" dirty="0" smtClean="0"/>
              <a:t>1</a:t>
            </a:r>
            <a:r>
              <a:rPr lang="en-US" dirty="0" smtClean="0"/>
              <a:t>+ 2u</a:t>
            </a:r>
            <a:r>
              <a:rPr lang="en-US" baseline="-25000" dirty="0" smtClean="0"/>
              <a:t>2</a:t>
            </a:r>
            <a:r>
              <a:rPr lang="en-US" dirty="0" smtClean="0"/>
              <a:t>)</a:t>
            </a:r>
          </a:p>
          <a:p>
            <a:pPr>
              <a:buFont typeface="Arial" charset="0"/>
              <a:buNone/>
            </a:pPr>
            <a:r>
              <a:rPr lang="en-US" dirty="0" smtClean="0"/>
              <a:t>			= </a:t>
            </a:r>
            <a:r>
              <a:rPr lang="en-US" dirty="0" err="1" smtClean="0"/>
              <a:t>cT</a:t>
            </a:r>
            <a:r>
              <a:rPr lang="en-US" dirty="0" smtClean="0"/>
              <a:t>(</a:t>
            </a:r>
            <a:r>
              <a:rPr lang="en-US" b="1" dirty="0" smtClean="0"/>
              <a:t>u</a:t>
            </a:r>
            <a:r>
              <a:rPr lang="en-US" dirty="0" smtClean="0"/>
              <a:t>).</a:t>
            </a:r>
          </a:p>
          <a:p>
            <a:pPr>
              <a:buFont typeface="Arial" charset="0"/>
              <a:buNone/>
            </a:pPr>
            <a:r>
              <a:rPr lang="en-US" dirty="0" smtClean="0"/>
              <a:t> So, T is a linear transformation.</a:t>
            </a:r>
          </a:p>
          <a:p>
            <a:pPr>
              <a:buFont typeface="Arial" charset="0"/>
              <a:buNone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B48FD310-76F0-4D37-A46A-D0777498047F}" type="slidenum">
              <a:rPr lang="en-MY" smtClean="0"/>
              <a:pPr>
                <a:defRPr/>
              </a:pPr>
              <a:t>9</a:t>
            </a:fld>
            <a:endParaRPr lang="en-MY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051720" y="332656"/>
            <a:ext cx="6552728" cy="720080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t"/>
          <a:lstStyle/>
          <a:p>
            <a:r>
              <a:rPr lang="en-US" sz="3200" b="1" dirty="0" smtClean="0"/>
              <a:t>Solution (cont..)</a:t>
            </a:r>
            <a:r>
              <a:rPr lang="en-US" sz="3200" dirty="0" smtClean="0"/>
              <a:t/>
            </a:r>
            <a:br>
              <a:rPr lang="en-US" sz="3200" dirty="0" smtClean="0"/>
            </a:br>
            <a:endParaRPr lang="en-US" sz="3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1979712" y="274638"/>
            <a:ext cx="6707088" cy="850106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n-US" sz="3200" b="1" dirty="0" smtClean="0"/>
              <a:t>Example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801BD603-B581-40B4-A726-5CAF29D9E9D4}" type="slidenum">
              <a:rPr lang="en-MY" smtClean="0"/>
              <a:pPr>
                <a:defRPr/>
              </a:pPr>
              <a:t>10</a:t>
            </a:fld>
            <a:endParaRPr lang="en-MY"/>
          </a:p>
        </p:txBody>
      </p:sp>
      <p:pic>
        <p:nvPicPr>
          <p:cNvPr id="1434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611560" y="1556792"/>
            <a:ext cx="7848872" cy="4456897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>
          <a:xfrm>
            <a:off x="1907704" y="274638"/>
            <a:ext cx="6779096" cy="706090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US" sz="3200" b="1" dirty="0" smtClean="0"/>
              <a:t>Solution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9BC525A8-E8F9-4068-90C7-37B2AE4402AB}" type="slidenum">
              <a:rPr lang="en-MY" smtClean="0"/>
              <a:pPr>
                <a:defRPr/>
              </a:pPr>
              <a:t>11</a:t>
            </a:fld>
            <a:endParaRPr lang="en-MY"/>
          </a:p>
        </p:txBody>
      </p:sp>
      <p:pic>
        <p:nvPicPr>
          <p:cNvPr id="15364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043608" y="1196752"/>
            <a:ext cx="7560840" cy="2962615"/>
          </a:xfrm>
          <a:noFill/>
        </p:spPr>
      </p:pic>
      <p:pic>
        <p:nvPicPr>
          <p:cNvPr id="15365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608" y="4149080"/>
            <a:ext cx="7632848" cy="1872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>
          <a:xfrm>
            <a:off x="1907704" y="274638"/>
            <a:ext cx="6779096" cy="778098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n-US" sz="3200" b="1" dirty="0" smtClean="0"/>
              <a:t>Example 5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>
          <a:xfrm>
            <a:off x="323528" y="1268760"/>
            <a:ext cx="8496944" cy="5112568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/>
          <a:lstStyle/>
          <a:p>
            <a:pPr>
              <a:buFont typeface="Arial" charset="0"/>
              <a:buNone/>
            </a:pPr>
            <a:r>
              <a:rPr lang="en-US" sz="2400" dirty="0" smtClean="0">
                <a:solidFill>
                  <a:srgbClr val="FF0000"/>
                </a:solidFill>
              </a:rPr>
              <a:t> </a:t>
            </a:r>
            <a:r>
              <a:rPr lang="en-US" sz="2400" b="1" dirty="0" smtClean="0">
                <a:solidFill>
                  <a:srgbClr val="00B050"/>
                </a:solidFill>
              </a:rPr>
              <a:t>Most of the common functions studied in calculus are </a:t>
            </a:r>
            <a:r>
              <a:rPr lang="en-US" sz="2400" b="1" dirty="0" smtClean="0">
                <a:solidFill>
                  <a:schemeClr val="tx1"/>
                </a:solidFill>
              </a:rPr>
              <a:t>not linear</a:t>
            </a:r>
          </a:p>
          <a:p>
            <a:pPr>
              <a:buFont typeface="Arial" charset="0"/>
              <a:buNone/>
            </a:pPr>
            <a:r>
              <a:rPr lang="en-US" sz="2400" b="1" dirty="0" smtClean="0">
                <a:solidFill>
                  <a:schemeClr val="tx1"/>
                </a:solidFill>
              </a:rPr>
              <a:t>transformation.</a:t>
            </a:r>
          </a:p>
          <a:p>
            <a:pPr>
              <a:buFont typeface="Arial" charset="0"/>
              <a:buNone/>
            </a:pPr>
            <a:r>
              <a:rPr lang="en-US" sz="2400" dirty="0" smtClean="0"/>
              <a:t>a).	f(x) = sin x is not a linear transformation from R into R because in general : 		sin(x</a:t>
            </a:r>
            <a:r>
              <a:rPr lang="en-US" sz="2400" baseline="-25000" dirty="0" smtClean="0"/>
              <a:t>1 </a:t>
            </a:r>
            <a:r>
              <a:rPr lang="en-US" sz="2400" dirty="0" smtClean="0"/>
              <a:t>+ x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) ≠ sin(x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) + sin(x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)</a:t>
            </a:r>
          </a:p>
          <a:p>
            <a:pPr>
              <a:buFont typeface="Arial" charset="0"/>
              <a:buNone/>
            </a:pPr>
            <a:endParaRPr lang="en-US" sz="2400" dirty="0" smtClean="0"/>
          </a:p>
          <a:p>
            <a:pPr>
              <a:buFont typeface="Arial" charset="0"/>
              <a:buNone/>
            </a:pPr>
            <a:r>
              <a:rPr lang="en-US" sz="2400" dirty="0" smtClean="0"/>
              <a:t>b).	f(x) = x</a:t>
            </a:r>
            <a:r>
              <a:rPr lang="en-US" sz="2400" baseline="30000" dirty="0" smtClean="0"/>
              <a:t>2</a:t>
            </a:r>
            <a:r>
              <a:rPr lang="en-US" sz="2400" dirty="0" smtClean="0"/>
              <a:t> not a linear transformation from R into R because in general:		 (x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 + x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)</a:t>
            </a:r>
            <a:r>
              <a:rPr lang="en-US" sz="2400" baseline="30000" dirty="0" smtClean="0"/>
              <a:t>2</a:t>
            </a:r>
            <a:r>
              <a:rPr lang="en-US" sz="2400" dirty="0" smtClean="0"/>
              <a:t> ≠  (x</a:t>
            </a:r>
            <a:r>
              <a:rPr lang="en-US" sz="2400" baseline="-25000" dirty="0" smtClean="0"/>
              <a:t>1</a:t>
            </a:r>
            <a:r>
              <a:rPr lang="en-US" sz="2400" baseline="30000" dirty="0" smtClean="0"/>
              <a:t>2</a:t>
            </a:r>
            <a:r>
              <a:rPr lang="en-US" sz="2400" dirty="0" smtClean="0"/>
              <a:t>+ x</a:t>
            </a:r>
            <a:r>
              <a:rPr lang="en-US" sz="2400" baseline="-25000" dirty="0" smtClean="0"/>
              <a:t>2</a:t>
            </a:r>
            <a:r>
              <a:rPr lang="en-US" sz="2400" baseline="30000" dirty="0" smtClean="0"/>
              <a:t>2</a:t>
            </a:r>
            <a:r>
              <a:rPr lang="en-US" sz="2400" dirty="0" smtClean="0"/>
              <a:t>) </a:t>
            </a:r>
          </a:p>
          <a:p>
            <a:pPr>
              <a:buFont typeface="Arial" charset="0"/>
              <a:buNone/>
            </a:pPr>
            <a:endParaRPr lang="en-US" sz="2400" baseline="30000" dirty="0" smtClean="0"/>
          </a:p>
          <a:p>
            <a:pPr>
              <a:buFont typeface="Arial" charset="0"/>
              <a:buNone/>
            </a:pPr>
            <a:r>
              <a:rPr lang="en-US" sz="2400" dirty="0" smtClean="0"/>
              <a:t>c).	f(x) = x + 1 is not linear transformation from R into R because </a:t>
            </a:r>
          </a:p>
          <a:p>
            <a:pPr>
              <a:buFont typeface="Arial" charset="0"/>
              <a:buNone/>
            </a:pPr>
            <a:r>
              <a:rPr lang="en-US" sz="2400" dirty="0" smtClean="0"/>
              <a:t>	f(x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 + x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) =  x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 + x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 + 1 </a:t>
            </a:r>
          </a:p>
          <a:p>
            <a:pPr>
              <a:buFont typeface="Arial" charset="0"/>
              <a:buNone/>
            </a:pPr>
            <a:r>
              <a:rPr lang="en-US" sz="2400" dirty="0" smtClean="0"/>
              <a:t>     whereas  f(x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) + f(x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) = x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+x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+2, </a:t>
            </a:r>
          </a:p>
          <a:p>
            <a:pPr>
              <a:buFont typeface="Arial" charset="0"/>
              <a:buNone/>
            </a:pPr>
            <a:r>
              <a:rPr lang="en-US" sz="2400" dirty="0" smtClean="0"/>
              <a:t>      which is  f(x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 + x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) ≠  f(x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) + f(x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0AE7405A-D4AF-4AC8-AFB5-FC87CF5596B4}" type="slidenum">
              <a:rPr lang="en-MY" smtClean="0"/>
              <a:pPr>
                <a:defRPr/>
              </a:pPr>
              <a:t>12</a:t>
            </a:fld>
            <a:endParaRPr lang="en-MY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>
          <a:xfrm>
            <a:off x="1979712" y="274638"/>
            <a:ext cx="6624736" cy="850106"/>
          </a:xfr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smtClean="0"/>
              <a:t>Remarks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412776"/>
            <a:ext cx="8229600" cy="4896544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>
              <a:buFont typeface="Arial" charset="0"/>
              <a:buNone/>
              <a:defRPr/>
            </a:pPr>
            <a:r>
              <a:rPr lang="en-US" sz="2400" dirty="0" smtClean="0"/>
              <a:t>Two simple linear transformations are </a:t>
            </a:r>
            <a:r>
              <a:rPr lang="en-US" sz="2400" b="1" dirty="0" smtClean="0"/>
              <a:t>the zero transformations</a:t>
            </a:r>
          </a:p>
          <a:p>
            <a:pPr>
              <a:buFont typeface="Arial" charset="0"/>
              <a:buNone/>
              <a:defRPr/>
            </a:pPr>
            <a:r>
              <a:rPr lang="en-US" sz="2400" dirty="0" smtClean="0"/>
              <a:t>and </a:t>
            </a:r>
            <a:r>
              <a:rPr lang="en-US" sz="2400" b="1" dirty="0" smtClean="0"/>
              <a:t>the</a:t>
            </a:r>
            <a:r>
              <a:rPr lang="en-US" sz="2400" dirty="0" smtClean="0"/>
              <a:t> </a:t>
            </a:r>
            <a:r>
              <a:rPr lang="en-US" sz="2400" b="1" dirty="0" smtClean="0"/>
              <a:t>identity transformation</a:t>
            </a:r>
            <a:r>
              <a:rPr lang="en-US" sz="2400" dirty="0" smtClean="0"/>
              <a:t>, which are defined as follows:</a:t>
            </a:r>
          </a:p>
          <a:p>
            <a:pPr>
              <a:buFont typeface="Arial" charset="0"/>
              <a:buNone/>
              <a:defRPr/>
            </a:pPr>
            <a:endParaRPr lang="en-US" sz="2400" dirty="0" smtClean="0"/>
          </a:p>
          <a:p>
            <a:pPr marL="457200" indent="-457200">
              <a:buFont typeface="+mj-lt"/>
              <a:buAutoNum type="arabicPeriod"/>
              <a:defRPr/>
            </a:pPr>
            <a:r>
              <a:rPr lang="en-US" sz="2400" dirty="0" smtClean="0"/>
              <a:t>T(</a:t>
            </a:r>
            <a:r>
              <a:rPr lang="en-US" sz="2400" b="1" dirty="0" smtClean="0"/>
              <a:t>v</a:t>
            </a:r>
            <a:r>
              <a:rPr lang="en-US" sz="2400" dirty="0" smtClean="0"/>
              <a:t>) = </a:t>
            </a:r>
            <a:r>
              <a:rPr lang="en-US" sz="2400" b="1" dirty="0" smtClean="0"/>
              <a:t>0</a:t>
            </a:r>
            <a:r>
              <a:rPr lang="en-US" sz="2400" dirty="0" smtClean="0"/>
              <a:t>  for all </a:t>
            </a:r>
            <a:r>
              <a:rPr lang="en-US" sz="2400" b="1" dirty="0" smtClean="0"/>
              <a:t>v</a:t>
            </a:r>
            <a:r>
              <a:rPr lang="en-US" sz="2400" dirty="0" smtClean="0"/>
              <a:t>  (Zero transformation (T : V → W))</a:t>
            </a:r>
          </a:p>
          <a:p>
            <a:pPr marL="457200" indent="-457200">
              <a:buFont typeface="Arial" charset="0"/>
              <a:buNone/>
              <a:defRPr/>
            </a:pPr>
            <a:r>
              <a:rPr lang="en-US" sz="2400" dirty="0" smtClean="0"/>
              <a:t>      (In general, zero transformation is the transformation T: </a:t>
            </a:r>
            <a:r>
              <a:rPr lang="en-US" sz="2400" dirty="0" err="1" smtClean="0"/>
              <a:t>R</a:t>
            </a:r>
            <a:r>
              <a:rPr lang="en-US" sz="2400" baseline="30000" dirty="0" err="1" smtClean="0"/>
              <a:t>n</a:t>
            </a:r>
            <a:r>
              <a:rPr lang="en-US" sz="2400" dirty="0" smtClean="0"/>
              <a:t> →  </a:t>
            </a:r>
            <a:r>
              <a:rPr lang="en-US" sz="2400" dirty="0" err="1" smtClean="0"/>
              <a:t>R</a:t>
            </a:r>
            <a:r>
              <a:rPr lang="en-US" sz="2400" baseline="30000" dirty="0" err="1" smtClean="0"/>
              <a:t>m</a:t>
            </a:r>
            <a:r>
              <a:rPr lang="en-US" sz="2400" dirty="0" smtClean="0"/>
              <a:t> that maps every vector </a:t>
            </a:r>
            <a:r>
              <a:rPr lang="en-US" sz="2400" b="1" dirty="0" smtClean="0"/>
              <a:t>v</a:t>
            </a:r>
            <a:r>
              <a:rPr lang="en-US" sz="2400" dirty="0" smtClean="0"/>
              <a:t> in </a:t>
            </a:r>
            <a:r>
              <a:rPr lang="en-US" sz="2400" dirty="0" err="1" smtClean="0"/>
              <a:t>R</a:t>
            </a:r>
            <a:r>
              <a:rPr lang="en-US" sz="2400" baseline="30000" dirty="0" err="1" smtClean="0"/>
              <a:t>n</a:t>
            </a:r>
            <a:r>
              <a:rPr lang="en-US" sz="2400" dirty="0" smtClean="0"/>
              <a:t> to zero vector in </a:t>
            </a:r>
            <a:r>
              <a:rPr lang="en-US" sz="2400" dirty="0" err="1" smtClean="0"/>
              <a:t>R</a:t>
            </a:r>
            <a:r>
              <a:rPr lang="en-US" sz="2400" baseline="30000" dirty="0" err="1" smtClean="0"/>
              <a:t>m</a:t>
            </a:r>
            <a:r>
              <a:rPr lang="en-US" sz="2400" dirty="0" smtClean="0"/>
              <a:t>)</a:t>
            </a:r>
          </a:p>
          <a:p>
            <a:pPr marL="457200" indent="-457200">
              <a:buFont typeface="Arial" charset="0"/>
              <a:buNone/>
              <a:defRPr/>
            </a:pPr>
            <a:endParaRPr lang="en-US" sz="2400" dirty="0" smtClean="0"/>
          </a:p>
          <a:p>
            <a:pPr marL="457200" indent="-457200">
              <a:buFont typeface="Arial" charset="0"/>
              <a:buAutoNum type="arabicPeriod" startAt="2"/>
              <a:defRPr/>
            </a:pPr>
            <a:r>
              <a:rPr lang="en-US" sz="2400" dirty="0" smtClean="0"/>
              <a:t>T(</a:t>
            </a:r>
            <a:r>
              <a:rPr lang="en-US" sz="2400" b="1" dirty="0" smtClean="0"/>
              <a:t>v</a:t>
            </a:r>
            <a:r>
              <a:rPr lang="en-US" sz="2400" dirty="0" smtClean="0"/>
              <a:t>) = </a:t>
            </a:r>
            <a:r>
              <a:rPr lang="en-US" sz="2400" b="1" dirty="0" smtClean="0"/>
              <a:t>v</a:t>
            </a:r>
            <a:r>
              <a:rPr lang="en-US" sz="2400" dirty="0" smtClean="0"/>
              <a:t> for all v (Identity transformation (T : V → V))</a:t>
            </a:r>
          </a:p>
          <a:p>
            <a:pPr marL="457200" indent="-457200">
              <a:buFont typeface="Arial" charset="0"/>
              <a:buNone/>
              <a:defRPr/>
            </a:pPr>
            <a:r>
              <a:rPr lang="en-US" sz="2400" dirty="0" smtClean="0"/>
              <a:t>       (In general, identity transformation is the transformation T: </a:t>
            </a:r>
            <a:r>
              <a:rPr lang="en-US" sz="2400" dirty="0" err="1" smtClean="0"/>
              <a:t>R</a:t>
            </a:r>
            <a:r>
              <a:rPr lang="en-US" sz="2400" baseline="30000" dirty="0" err="1" smtClean="0"/>
              <a:t>n</a:t>
            </a:r>
            <a:r>
              <a:rPr lang="en-US" sz="2400" dirty="0" smtClean="0"/>
              <a:t> →  </a:t>
            </a:r>
            <a:r>
              <a:rPr lang="en-US" sz="2400" dirty="0" err="1" smtClean="0"/>
              <a:t>R</a:t>
            </a:r>
            <a:r>
              <a:rPr lang="en-US" sz="2400" baseline="30000" dirty="0" err="1" smtClean="0"/>
              <a:t>n</a:t>
            </a:r>
            <a:r>
              <a:rPr lang="en-US" sz="2400" dirty="0" smtClean="0"/>
              <a:t> that maps every vector </a:t>
            </a:r>
            <a:r>
              <a:rPr lang="en-US" sz="2400" b="1" dirty="0" smtClean="0"/>
              <a:t>v</a:t>
            </a:r>
            <a:r>
              <a:rPr lang="en-US" sz="2400" dirty="0" smtClean="0"/>
              <a:t> into itself)</a:t>
            </a:r>
          </a:p>
          <a:p>
            <a:pPr marL="457200" indent="-457200">
              <a:buFont typeface="Arial" charset="0"/>
              <a:buAutoNum type="arabicPeriod" startAt="2"/>
              <a:defRPr/>
            </a:pP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0E68AFA7-574E-440E-A6E2-BBA6FAEC8D6D}" type="slidenum">
              <a:rPr lang="en-MY" smtClean="0"/>
              <a:pPr>
                <a:defRPr/>
              </a:pPr>
              <a:t>13</a:t>
            </a:fld>
            <a:endParaRPr lang="en-MY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1979712" y="274638"/>
            <a:ext cx="6840760" cy="850106"/>
          </a:xfr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sz="3200" dirty="0" smtClean="0">
                <a:solidFill>
                  <a:schemeClr val="bg1"/>
                </a:solidFill>
              </a:rPr>
              <a:t>Properties of Linear Transformations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7BEA048F-BDBF-4B17-9D9F-32AC17DFEF4A}" type="slidenum">
              <a:rPr lang="en-MY" smtClean="0"/>
              <a:pPr>
                <a:defRPr/>
              </a:pPr>
              <a:t>14</a:t>
            </a:fld>
            <a:endParaRPr lang="en-MY"/>
          </a:p>
        </p:txBody>
      </p:sp>
      <p:sp>
        <p:nvSpPr>
          <p:cNvPr id="5" name="Rectangle 4"/>
          <p:cNvSpPr/>
          <p:nvPr/>
        </p:nvSpPr>
        <p:spPr>
          <a:xfrm>
            <a:off x="323528" y="1556792"/>
            <a:ext cx="8424936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en-US" sz="2400" dirty="0" smtClean="0"/>
              <a:t>Let T be a linear transformation from </a:t>
            </a:r>
            <a:r>
              <a:rPr lang="en-US" sz="2400" i="1" dirty="0" smtClean="0"/>
              <a:t>V</a:t>
            </a:r>
            <a:r>
              <a:rPr lang="en-US" sz="2400" dirty="0" smtClean="0"/>
              <a:t> into </a:t>
            </a:r>
            <a:r>
              <a:rPr lang="en-US" sz="2400" i="1" dirty="0" smtClean="0"/>
              <a:t>W</a:t>
            </a:r>
            <a:r>
              <a:rPr lang="en-US" sz="2400" dirty="0" smtClean="0"/>
              <a:t>, where </a:t>
            </a:r>
            <a:r>
              <a:rPr lang="en-US" sz="2400" b="1" dirty="0" smtClean="0"/>
              <a:t>u</a:t>
            </a:r>
            <a:r>
              <a:rPr lang="en-US" sz="2400" dirty="0" smtClean="0"/>
              <a:t> and </a:t>
            </a:r>
            <a:r>
              <a:rPr lang="en-US" sz="2400" b="1" dirty="0" smtClean="0"/>
              <a:t>v </a:t>
            </a:r>
            <a:r>
              <a:rPr lang="en-US" sz="2400" dirty="0" smtClean="0"/>
              <a:t>are in </a:t>
            </a:r>
            <a:r>
              <a:rPr lang="en-US" sz="2400" i="1" dirty="0" smtClean="0"/>
              <a:t>V</a:t>
            </a:r>
            <a:r>
              <a:rPr lang="en-US" sz="2400" b="1" dirty="0" smtClean="0"/>
              <a:t>.</a:t>
            </a:r>
            <a:r>
              <a:rPr lang="en-US" sz="2400" dirty="0" smtClean="0"/>
              <a:t>  Then the following properties are true:</a:t>
            </a:r>
          </a:p>
          <a:p>
            <a:pPr>
              <a:buFont typeface="Arial" charset="0"/>
              <a:buNone/>
              <a:defRPr/>
            </a:pPr>
            <a:endParaRPr lang="en-US" sz="2400" dirty="0" smtClean="0"/>
          </a:p>
          <a:p>
            <a:pPr marL="514350" indent="-514350">
              <a:buFont typeface="+mj-lt"/>
              <a:buAutoNum type="arabicPeriod"/>
              <a:defRPr/>
            </a:pPr>
            <a:r>
              <a:rPr lang="en-US" sz="2400" dirty="0" smtClean="0"/>
              <a:t>T(</a:t>
            </a:r>
            <a:r>
              <a:rPr lang="en-US" sz="2400" b="1" dirty="0" smtClean="0"/>
              <a:t>0</a:t>
            </a:r>
            <a:r>
              <a:rPr lang="en-US" sz="2400" dirty="0" smtClean="0"/>
              <a:t>) = </a:t>
            </a:r>
            <a:r>
              <a:rPr lang="en-US" sz="2400" b="1" dirty="0" smtClean="0"/>
              <a:t>0</a:t>
            </a:r>
          </a:p>
          <a:p>
            <a:pPr marL="514350" indent="-514350">
              <a:buFont typeface="+mj-lt"/>
              <a:buAutoNum type="arabicPeriod"/>
              <a:defRPr/>
            </a:pPr>
            <a:endParaRPr lang="en-US" sz="2400" b="1" dirty="0" smtClean="0"/>
          </a:p>
          <a:p>
            <a:pPr marL="514350" indent="-514350">
              <a:buFont typeface="+mj-lt"/>
              <a:buAutoNum type="arabicPeriod"/>
              <a:defRPr/>
            </a:pPr>
            <a:r>
              <a:rPr lang="en-US" sz="2400" dirty="0" smtClean="0"/>
              <a:t>T(-</a:t>
            </a:r>
            <a:r>
              <a:rPr lang="en-US" sz="2400" b="1" dirty="0" smtClean="0"/>
              <a:t>v</a:t>
            </a:r>
            <a:r>
              <a:rPr lang="en-US" sz="2400" dirty="0" smtClean="0"/>
              <a:t>) = -T(</a:t>
            </a:r>
            <a:r>
              <a:rPr lang="en-US" sz="2400" b="1" dirty="0" smtClean="0"/>
              <a:t>v</a:t>
            </a:r>
            <a:r>
              <a:rPr lang="en-US" sz="2400" dirty="0" smtClean="0"/>
              <a:t>)</a:t>
            </a:r>
          </a:p>
          <a:p>
            <a:pPr marL="514350" indent="-514350">
              <a:buFont typeface="+mj-lt"/>
              <a:buAutoNum type="arabicPeriod"/>
              <a:defRPr/>
            </a:pPr>
            <a:endParaRPr lang="en-US" sz="2400" dirty="0" smtClean="0"/>
          </a:p>
          <a:p>
            <a:pPr marL="514350" indent="-514350">
              <a:buFont typeface="+mj-lt"/>
              <a:buAutoNum type="arabicPeriod"/>
              <a:defRPr/>
            </a:pPr>
            <a:r>
              <a:rPr lang="en-US" sz="2400" dirty="0" smtClean="0"/>
              <a:t>T(</a:t>
            </a:r>
            <a:r>
              <a:rPr lang="en-US" sz="2400" b="1" dirty="0" smtClean="0"/>
              <a:t>u - v</a:t>
            </a:r>
            <a:r>
              <a:rPr lang="en-US" sz="2400" dirty="0" smtClean="0"/>
              <a:t>) = T(</a:t>
            </a:r>
            <a:r>
              <a:rPr lang="en-US" sz="2400" b="1" dirty="0" smtClean="0"/>
              <a:t>u</a:t>
            </a:r>
            <a:r>
              <a:rPr lang="en-US" sz="2400" dirty="0" smtClean="0"/>
              <a:t>) – T(</a:t>
            </a:r>
            <a:r>
              <a:rPr lang="en-US" sz="2400" b="1" dirty="0" smtClean="0"/>
              <a:t>v</a:t>
            </a:r>
            <a:r>
              <a:rPr lang="en-US" sz="2400" dirty="0" smtClean="0"/>
              <a:t>)</a:t>
            </a:r>
          </a:p>
          <a:p>
            <a:pPr marL="514350" indent="-514350">
              <a:buFont typeface="+mj-lt"/>
              <a:buAutoNum type="arabicPeriod"/>
              <a:defRPr/>
            </a:pPr>
            <a:endParaRPr lang="en-US" sz="2400" dirty="0" smtClean="0"/>
          </a:p>
          <a:p>
            <a:pPr marL="514350" indent="-514350">
              <a:buFont typeface="+mj-lt"/>
              <a:buAutoNum type="arabicPeriod"/>
              <a:defRPr/>
            </a:pPr>
            <a:r>
              <a:rPr lang="en-US" sz="2400" dirty="0" smtClean="0"/>
              <a:t>If </a:t>
            </a:r>
            <a:r>
              <a:rPr lang="en-US" sz="2400" b="1" dirty="0" smtClean="0"/>
              <a:t>v</a:t>
            </a:r>
            <a:r>
              <a:rPr lang="en-US" sz="2400" dirty="0" smtClean="0"/>
              <a:t> = c</a:t>
            </a:r>
            <a:r>
              <a:rPr lang="en-US" sz="2400" baseline="-25000" dirty="0" smtClean="0"/>
              <a:t>1</a:t>
            </a:r>
            <a:r>
              <a:rPr lang="en-US" sz="2400" b="1" dirty="0" smtClean="0"/>
              <a:t>v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 + c</a:t>
            </a:r>
            <a:r>
              <a:rPr lang="en-US" sz="2400" baseline="-25000" dirty="0" smtClean="0"/>
              <a:t>2</a:t>
            </a:r>
            <a:r>
              <a:rPr lang="en-US" sz="2400" b="1" dirty="0" smtClean="0"/>
              <a:t>v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 + . . . +</a:t>
            </a:r>
            <a:r>
              <a:rPr lang="en-US" sz="2400" dirty="0" err="1" smtClean="0"/>
              <a:t>c</a:t>
            </a:r>
            <a:r>
              <a:rPr lang="en-US" sz="2400" baseline="-25000" dirty="0" err="1" smtClean="0"/>
              <a:t>n</a:t>
            </a:r>
            <a:r>
              <a:rPr lang="en-US" sz="2400" b="1" dirty="0" err="1" smtClean="0"/>
              <a:t>v</a:t>
            </a:r>
            <a:r>
              <a:rPr lang="en-US" sz="2400" baseline="-25000" dirty="0" err="1" smtClean="0"/>
              <a:t>n</a:t>
            </a:r>
            <a:r>
              <a:rPr lang="en-US" sz="2400" dirty="0" smtClean="0"/>
              <a:t>,</a:t>
            </a:r>
          </a:p>
          <a:p>
            <a:pPr marL="971550" lvl="1" indent="-514350">
              <a:defRPr/>
            </a:pPr>
            <a:r>
              <a:rPr lang="en-US" sz="2400" dirty="0" smtClean="0"/>
              <a:t> then  T(v) = T(c</a:t>
            </a:r>
            <a:r>
              <a:rPr lang="en-US" sz="2400" baseline="-25000" dirty="0" smtClean="0"/>
              <a:t>1</a:t>
            </a:r>
            <a:r>
              <a:rPr lang="en-US" sz="2400" b="1" dirty="0" smtClean="0"/>
              <a:t>v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 + c</a:t>
            </a:r>
            <a:r>
              <a:rPr lang="en-US" sz="2400" baseline="-25000" dirty="0" smtClean="0"/>
              <a:t>2</a:t>
            </a:r>
            <a:r>
              <a:rPr lang="en-US" sz="2400" b="1" dirty="0" smtClean="0"/>
              <a:t>v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 + . . . +</a:t>
            </a:r>
            <a:r>
              <a:rPr lang="en-US" sz="2400" dirty="0" err="1" smtClean="0"/>
              <a:t>c</a:t>
            </a:r>
            <a:r>
              <a:rPr lang="en-US" sz="2400" baseline="-25000" dirty="0" err="1" smtClean="0"/>
              <a:t>n</a:t>
            </a:r>
            <a:r>
              <a:rPr lang="en-US" sz="2400" b="1" dirty="0" err="1" smtClean="0"/>
              <a:t>v</a:t>
            </a:r>
            <a:r>
              <a:rPr lang="en-US" sz="2400" baseline="-25000" dirty="0" err="1" smtClean="0"/>
              <a:t>n</a:t>
            </a:r>
            <a:r>
              <a:rPr lang="en-US" sz="2400" dirty="0" smtClean="0"/>
              <a:t>)</a:t>
            </a:r>
          </a:p>
          <a:p>
            <a:pPr marL="971550" lvl="1" indent="-514350">
              <a:buFont typeface="Arial" charset="0"/>
              <a:buNone/>
              <a:defRPr/>
            </a:pPr>
            <a:r>
              <a:rPr lang="en-US" sz="2400" dirty="0" smtClean="0"/>
              <a:t>        	 =  c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T(</a:t>
            </a:r>
            <a:r>
              <a:rPr lang="en-US" sz="2400" b="1" dirty="0" smtClean="0"/>
              <a:t>v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) + c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T(</a:t>
            </a:r>
            <a:r>
              <a:rPr lang="en-US" sz="2400" b="1" dirty="0" smtClean="0"/>
              <a:t>v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) + . . . . + </a:t>
            </a:r>
            <a:r>
              <a:rPr lang="en-US" sz="2400" dirty="0" err="1" smtClean="0"/>
              <a:t>c</a:t>
            </a:r>
            <a:r>
              <a:rPr lang="en-US" sz="2400" baseline="-25000" dirty="0" err="1" smtClean="0"/>
              <a:t>n</a:t>
            </a:r>
            <a:r>
              <a:rPr lang="en-US" sz="2400" dirty="0" err="1" smtClean="0"/>
              <a:t>T</a:t>
            </a:r>
            <a:r>
              <a:rPr lang="en-US" sz="2400" dirty="0" smtClean="0"/>
              <a:t>(</a:t>
            </a:r>
            <a:r>
              <a:rPr lang="en-US" sz="2400" b="1" dirty="0" err="1" smtClean="0"/>
              <a:t>v</a:t>
            </a:r>
            <a:r>
              <a:rPr lang="en-US" sz="2400" baseline="-25000" dirty="0" err="1" smtClean="0"/>
              <a:t>n</a:t>
            </a:r>
            <a:r>
              <a:rPr lang="en-US" sz="2400" dirty="0" smtClean="0"/>
              <a:t>).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>
          <a:xfrm>
            <a:off x="1907704" y="274638"/>
            <a:ext cx="6779096" cy="778098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n-US" sz="3200" b="1" dirty="0" smtClean="0"/>
              <a:t>Example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3F9202CE-47F5-4D77-AC00-45DE8C1327C0}" type="slidenum">
              <a:rPr lang="en-MY" smtClean="0"/>
              <a:pPr>
                <a:defRPr/>
              </a:pPr>
              <a:t>15</a:t>
            </a:fld>
            <a:endParaRPr lang="en-MY"/>
          </a:p>
        </p:txBody>
      </p:sp>
      <p:pic>
        <p:nvPicPr>
          <p:cNvPr id="1946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571500" y="1285874"/>
            <a:ext cx="8032948" cy="1967625"/>
          </a:xfrm>
          <a:noFill/>
        </p:spPr>
      </p:pic>
      <p:pic>
        <p:nvPicPr>
          <p:cNvPr id="1946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9552" y="3573016"/>
            <a:ext cx="8067675" cy="2160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>
          <a:xfrm>
            <a:off x="2051720" y="274638"/>
            <a:ext cx="6635080" cy="778098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n-US" sz="3200" b="1" dirty="0" smtClean="0"/>
              <a:t>Example 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7B548CF0-3C64-4B26-A17A-30D9BE37137E}" type="slidenum">
              <a:rPr lang="en-MY" smtClean="0"/>
              <a:pPr>
                <a:defRPr/>
              </a:pPr>
              <a:t>16</a:t>
            </a:fld>
            <a:endParaRPr lang="en-MY"/>
          </a:p>
        </p:txBody>
      </p:sp>
      <p:pic>
        <p:nvPicPr>
          <p:cNvPr id="2048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571499" y="1357312"/>
            <a:ext cx="7916537" cy="1567631"/>
          </a:xfrm>
          <a:noFill/>
        </p:spPr>
      </p:pic>
      <p:pic>
        <p:nvPicPr>
          <p:cNvPr id="20485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1560" y="3933056"/>
            <a:ext cx="8037723" cy="2088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611560" y="3140968"/>
            <a:ext cx="30243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 smtClean="0"/>
              <a:t>Solution:</a:t>
            </a:r>
            <a:endParaRPr lang="en-US" sz="2800" b="1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>
          <a:xfrm>
            <a:off x="1907704" y="332656"/>
            <a:ext cx="6624737" cy="766986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n-US" sz="3200" b="1" dirty="0" smtClean="0"/>
              <a:t>Example 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3D4AC757-A13A-4169-B18A-B1129238031A}" type="slidenum">
              <a:rPr lang="en-MY" smtClean="0"/>
              <a:pPr>
                <a:defRPr/>
              </a:pPr>
              <a:t>17</a:t>
            </a:fld>
            <a:endParaRPr lang="en-MY"/>
          </a:p>
        </p:txBody>
      </p:sp>
      <p:pic>
        <p:nvPicPr>
          <p:cNvPr id="2150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539552" y="1556792"/>
            <a:ext cx="8136904" cy="3744416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>
          <a:xfrm>
            <a:off x="428625" y="285750"/>
            <a:ext cx="8229600" cy="1143000"/>
          </a:xfrm>
        </p:spPr>
        <p:txBody>
          <a:bodyPr/>
          <a:lstStyle/>
          <a:p>
            <a:r>
              <a:rPr lang="en-US" sz="3200" smtClean="0"/>
              <a:t>Example 8(Sol.)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7AF4C291-74AA-43C5-99EC-014C6E3C4A10}" type="slidenum">
              <a:rPr lang="en-MY" smtClean="0"/>
              <a:pPr>
                <a:defRPr/>
              </a:pPr>
              <a:t>18</a:t>
            </a:fld>
            <a:endParaRPr lang="en-MY"/>
          </a:p>
        </p:txBody>
      </p:sp>
      <p:pic>
        <p:nvPicPr>
          <p:cNvPr id="19460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875" y="4076700"/>
            <a:ext cx="7219950" cy="207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1" name="Content Placeholder 1"/>
          <p:cNvSpPr>
            <a:spLocks noGrp="1"/>
          </p:cNvSpPr>
          <p:nvPr>
            <p:ph idx="1"/>
          </p:nvPr>
        </p:nvSpPr>
        <p:spPr>
          <a:xfrm>
            <a:off x="539750" y="1052513"/>
            <a:ext cx="8229600" cy="4525962"/>
          </a:xfrm>
        </p:spPr>
        <p:txBody>
          <a:bodyPr/>
          <a:lstStyle/>
          <a:p>
            <a:r>
              <a:rPr lang="en-US" sz="2400" smtClean="0"/>
              <a:t>To find the image of vector v, we need to write the vector as a linear combination of the basis vector. </a:t>
            </a:r>
          </a:p>
          <a:p>
            <a:endParaRPr lang="en-US" sz="2400" smtClean="0"/>
          </a:p>
          <a:p>
            <a:pPr lvl="1"/>
            <a:endParaRPr lang="en-US" sz="2000" smtClean="0"/>
          </a:p>
          <a:p>
            <a:pPr lvl="1"/>
            <a:endParaRPr lang="en-US" sz="2000" smtClean="0"/>
          </a:p>
          <a:p>
            <a:pPr lvl="1"/>
            <a:endParaRPr lang="en-US" sz="2000" smtClean="0"/>
          </a:p>
          <a:p>
            <a:pPr lvl="1"/>
            <a:r>
              <a:rPr lang="en-US" sz="2000" smtClean="0"/>
              <a:t>Thus c</a:t>
            </a:r>
            <a:r>
              <a:rPr lang="en-US" sz="2000" baseline="-25000" smtClean="0"/>
              <a:t>1</a:t>
            </a:r>
            <a:r>
              <a:rPr lang="en-US" sz="2000" smtClean="0"/>
              <a:t>= 1, c</a:t>
            </a:r>
            <a:r>
              <a:rPr lang="en-US" sz="2000" baseline="-25000" smtClean="0"/>
              <a:t>2</a:t>
            </a:r>
            <a:r>
              <a:rPr lang="en-US" sz="2000" smtClean="0"/>
              <a:t>= 3,c</a:t>
            </a:r>
            <a:r>
              <a:rPr lang="en-US" sz="2000" baseline="-25000" smtClean="0"/>
              <a:t>3</a:t>
            </a:r>
            <a:r>
              <a:rPr lang="en-US" sz="2000" smtClean="0"/>
              <a:t>= 2</a:t>
            </a:r>
            <a:endParaRPr lang="en-MY" sz="2000" smtClean="0"/>
          </a:p>
        </p:txBody>
      </p:sp>
      <p:graphicFrame>
        <p:nvGraphicFramePr>
          <p:cNvPr id="19462" name="Object 2"/>
          <p:cNvGraphicFramePr>
            <a:graphicFrameLocks noChangeAspect="1"/>
          </p:cNvGraphicFramePr>
          <p:nvPr/>
        </p:nvGraphicFramePr>
        <p:xfrm>
          <a:off x="3203575" y="1844675"/>
          <a:ext cx="230505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4" name="Equation" r:id="rId4" imgW="1218960" imgH="228600" progId="Equation.3">
                  <p:embed/>
                </p:oleObj>
              </mc:Choice>
              <mc:Fallback>
                <p:oleObj name="Equation" r:id="rId4" imgW="1218960" imgH="2286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575" y="1844675"/>
                        <a:ext cx="230505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3" name="Object 4"/>
          <p:cNvGraphicFramePr>
            <a:graphicFrameLocks noChangeAspect="1"/>
          </p:cNvGraphicFramePr>
          <p:nvPr/>
        </p:nvGraphicFramePr>
        <p:xfrm>
          <a:off x="2771775" y="2205038"/>
          <a:ext cx="3241675" cy="1343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5" name="Equation" r:id="rId6" imgW="1714320" imgH="711000" progId="Equation.3">
                  <p:embed/>
                </p:oleObj>
              </mc:Choice>
              <mc:Fallback>
                <p:oleObj name="Equation" r:id="rId6" imgW="1714320" imgH="7110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2205038"/>
                        <a:ext cx="3241675" cy="1343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le 1"/>
          <p:cNvSpPr txBox="1">
            <a:spLocks/>
          </p:cNvSpPr>
          <p:nvPr/>
        </p:nvSpPr>
        <p:spPr bwMode="auto">
          <a:xfrm>
            <a:off x="1979712" y="188640"/>
            <a:ext cx="6552729" cy="864096"/>
          </a:xfrm>
          <a:prstGeom prst="rect">
            <a:avLst/>
          </a:prstGeom>
          <a:ln w="9525" cap="flat" cmpd="sng" algn="ctr">
            <a:solidFill>
              <a:schemeClr val="accent1">
                <a:shade val="95000"/>
                <a:satMod val="105000"/>
              </a:schemeClr>
            </a:solidFill>
            <a:prstDash val="solid"/>
            <a:miter lim="800000"/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smtClean="0"/>
              <a:t>Solution</a:t>
            </a:r>
            <a:endParaRPr lang="en-US" sz="3200" b="1" dirty="0" smtClean="0"/>
          </a:p>
        </p:txBody>
      </p:sp>
    </p:spTree>
    <p:extLst>
      <p:ext uri="{BB962C8B-B14F-4D97-AF65-F5344CB8AC3E}">
        <p14:creationId xmlns:p14="http://schemas.microsoft.com/office/powerpoint/2010/main" val="1954356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>
          <a:xfrm>
            <a:off x="1979712" y="274638"/>
            <a:ext cx="6707088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r>
              <a:rPr lang="en-US" b="1" dirty="0" smtClean="0"/>
              <a:t>Exercises</a:t>
            </a:r>
          </a:p>
        </p:txBody>
      </p:sp>
      <p:sp>
        <p:nvSpPr>
          <p:cNvPr id="22531" name="Content Placeholder 2"/>
          <p:cNvSpPr>
            <a:spLocks noGrp="1"/>
          </p:cNvSpPr>
          <p:nvPr>
            <p:ph idx="1"/>
          </p:nvPr>
        </p:nvSpPr>
        <p:spPr>
          <a:xfrm>
            <a:off x="467544" y="1340768"/>
            <a:ext cx="8229600" cy="4525963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>
              <a:buFont typeface="Arial" charset="0"/>
              <a:buNone/>
            </a:pPr>
            <a:r>
              <a:rPr lang="en-US" sz="2800" dirty="0" smtClean="0"/>
              <a:t> Find (a) image of </a:t>
            </a:r>
            <a:r>
              <a:rPr lang="en-US" sz="2800" b="1" dirty="0" smtClean="0"/>
              <a:t>v</a:t>
            </a:r>
            <a:r>
              <a:rPr lang="en-US" sz="2800" dirty="0" smtClean="0"/>
              <a:t>, and (b) </a:t>
            </a:r>
            <a:r>
              <a:rPr lang="en-US" sz="2800" dirty="0" err="1" smtClean="0"/>
              <a:t>preimage</a:t>
            </a:r>
            <a:r>
              <a:rPr lang="en-US" sz="2800" dirty="0" smtClean="0"/>
              <a:t> of </a:t>
            </a:r>
            <a:r>
              <a:rPr lang="en-US" sz="2800" b="1" dirty="0" smtClean="0"/>
              <a:t>w</a:t>
            </a:r>
            <a:r>
              <a:rPr lang="en-US" sz="2800" dirty="0" smtClean="0"/>
              <a:t> for the following;</a:t>
            </a:r>
          </a:p>
          <a:p>
            <a:pPr>
              <a:buFont typeface="Arial" charset="0"/>
              <a:buNone/>
            </a:pPr>
            <a:endParaRPr lang="en-US" sz="2800" dirty="0" smtClean="0"/>
          </a:p>
          <a:p>
            <a:pPr>
              <a:buFont typeface="Arial" charset="0"/>
              <a:buNone/>
            </a:pPr>
            <a:r>
              <a:rPr lang="en-US" sz="2800" dirty="0" smtClean="0"/>
              <a:t>1). T (v</a:t>
            </a:r>
            <a:r>
              <a:rPr lang="en-US" sz="2800" baseline="-25000" dirty="0" smtClean="0"/>
              <a:t>1</a:t>
            </a:r>
            <a:r>
              <a:rPr lang="en-US" sz="2800" dirty="0" smtClean="0"/>
              <a:t>,v</a:t>
            </a:r>
            <a:r>
              <a:rPr lang="en-US" sz="2800" baseline="-25000" dirty="0" smtClean="0"/>
              <a:t>2</a:t>
            </a:r>
            <a:r>
              <a:rPr lang="en-US" sz="2800" dirty="0" smtClean="0"/>
              <a:t>) = (v</a:t>
            </a:r>
            <a:r>
              <a:rPr lang="en-US" sz="2800" baseline="-25000" dirty="0" smtClean="0"/>
              <a:t>1</a:t>
            </a:r>
            <a:r>
              <a:rPr lang="en-US" sz="2800" dirty="0" smtClean="0"/>
              <a:t>+v</a:t>
            </a:r>
            <a:r>
              <a:rPr lang="en-US" sz="2800" baseline="-25000" dirty="0" smtClean="0"/>
              <a:t>2</a:t>
            </a:r>
            <a:r>
              <a:rPr lang="en-US" sz="2800" dirty="0" smtClean="0"/>
              <a:t>, v</a:t>
            </a:r>
            <a:r>
              <a:rPr lang="en-US" sz="2800" baseline="-25000" dirty="0" smtClean="0"/>
              <a:t>1</a:t>
            </a:r>
            <a:r>
              <a:rPr lang="en-US" sz="2800" dirty="0" smtClean="0"/>
              <a:t>-v</a:t>
            </a:r>
            <a:r>
              <a:rPr lang="en-US" sz="2800" baseline="-25000" dirty="0" smtClean="0"/>
              <a:t>2</a:t>
            </a:r>
            <a:r>
              <a:rPr lang="en-US" sz="2800" dirty="0" smtClean="0"/>
              <a:t>), </a:t>
            </a:r>
          </a:p>
          <a:p>
            <a:pPr>
              <a:buFont typeface="Arial" charset="0"/>
              <a:buNone/>
            </a:pPr>
            <a:r>
              <a:rPr lang="en-US" sz="2800" dirty="0" smtClean="0"/>
              <a:t>		v = (3,-4), w = (3,19)</a:t>
            </a:r>
          </a:p>
          <a:p>
            <a:pPr>
              <a:buFont typeface="Arial" charset="0"/>
              <a:buNone/>
            </a:pPr>
            <a:endParaRPr lang="en-US" sz="2800" dirty="0" smtClean="0"/>
          </a:p>
          <a:p>
            <a:pPr>
              <a:buFont typeface="Arial" charset="0"/>
              <a:buNone/>
            </a:pPr>
            <a:r>
              <a:rPr lang="en-US" sz="2800" dirty="0" smtClean="0"/>
              <a:t>2). T (v</a:t>
            </a:r>
            <a:r>
              <a:rPr lang="en-US" sz="2800" baseline="-25000" dirty="0" smtClean="0"/>
              <a:t>1</a:t>
            </a:r>
            <a:r>
              <a:rPr lang="en-US" sz="2800" dirty="0" smtClean="0"/>
              <a:t>,v</a:t>
            </a:r>
            <a:r>
              <a:rPr lang="en-US" sz="2800" baseline="-25000" dirty="0" smtClean="0"/>
              <a:t>2</a:t>
            </a:r>
            <a:r>
              <a:rPr lang="en-US" sz="2800" dirty="0" smtClean="0"/>
              <a:t>,v</a:t>
            </a:r>
            <a:r>
              <a:rPr lang="en-US" sz="2800" baseline="-25000" dirty="0" smtClean="0"/>
              <a:t>3</a:t>
            </a:r>
            <a:r>
              <a:rPr lang="en-US" sz="2800" dirty="0" smtClean="0"/>
              <a:t>) = (v</a:t>
            </a:r>
            <a:r>
              <a:rPr lang="en-US" sz="2800" baseline="-25000" dirty="0" smtClean="0"/>
              <a:t>1 </a:t>
            </a:r>
            <a:r>
              <a:rPr lang="en-US" sz="2800" dirty="0" smtClean="0"/>
              <a:t>- v</a:t>
            </a:r>
            <a:r>
              <a:rPr lang="en-US" sz="2800" baseline="-25000" dirty="0" smtClean="0"/>
              <a:t>2</a:t>
            </a:r>
            <a:r>
              <a:rPr lang="en-US" sz="2800" dirty="0" smtClean="0"/>
              <a:t>, v</a:t>
            </a:r>
            <a:r>
              <a:rPr lang="en-US" sz="2800" baseline="-25000" dirty="0" smtClean="0"/>
              <a:t>1 </a:t>
            </a:r>
            <a:r>
              <a:rPr lang="en-US" sz="2800" dirty="0" smtClean="0"/>
              <a:t>+ v</a:t>
            </a:r>
            <a:r>
              <a:rPr lang="en-US" sz="2800" baseline="-25000" dirty="0" smtClean="0"/>
              <a:t>2</a:t>
            </a:r>
            <a:r>
              <a:rPr lang="en-US" sz="2800" dirty="0" smtClean="0"/>
              <a:t>, 2v</a:t>
            </a:r>
            <a:r>
              <a:rPr lang="en-US" sz="2800" baseline="-25000" dirty="0" smtClean="0"/>
              <a:t>2</a:t>
            </a:r>
            <a:r>
              <a:rPr lang="en-US" sz="2800" dirty="0" smtClean="0"/>
              <a:t>), </a:t>
            </a:r>
          </a:p>
          <a:p>
            <a:pPr>
              <a:buFont typeface="Arial" charset="0"/>
              <a:buNone/>
            </a:pPr>
            <a:r>
              <a:rPr lang="en-US" sz="2800" dirty="0" smtClean="0"/>
              <a:t>		v = (2,3,0),  w = (-11,-1,10)</a:t>
            </a:r>
          </a:p>
          <a:p>
            <a:pPr>
              <a:buFont typeface="Arial" charset="0"/>
              <a:buNone/>
            </a:pPr>
            <a:r>
              <a:rPr lang="en-US" sz="2800" dirty="0" smtClean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58BDC788-35F7-4704-B783-FB074A23E2E9}" type="slidenum">
              <a:rPr lang="en-MY" smtClean="0"/>
              <a:pPr>
                <a:defRPr/>
              </a:pPr>
              <a:t>19</a:t>
            </a:fld>
            <a:endParaRPr lang="en-MY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1907704" y="260648"/>
            <a:ext cx="6779096" cy="792088"/>
          </a:xfr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t"/>
          <a:lstStyle/>
          <a:p>
            <a:pPr eaLnBrk="1" hangingPunct="1"/>
            <a:r>
              <a:rPr lang="en-US" sz="3200" b="1" dirty="0" smtClean="0">
                <a:solidFill>
                  <a:schemeClr val="bg1"/>
                </a:solidFill>
              </a:rPr>
              <a:t>The Null Space (kernel) and Range</a:t>
            </a:r>
            <a:r>
              <a:rPr lang="en-US" sz="3200" dirty="0" smtClean="0">
                <a:solidFill>
                  <a:schemeClr val="bg1"/>
                </a:solidFill>
              </a:rPr>
              <a:t/>
            </a:r>
            <a:br>
              <a:rPr lang="en-US" sz="3200" dirty="0" smtClean="0">
                <a:solidFill>
                  <a:schemeClr val="bg1"/>
                </a:solidFill>
              </a:rPr>
            </a:br>
            <a:r>
              <a:rPr lang="en-US" sz="3200" dirty="0" smtClean="0"/>
              <a:t/>
            </a:r>
            <a:br>
              <a:rPr lang="en-US" sz="3200" dirty="0" smtClean="0"/>
            </a:br>
            <a:endParaRPr lang="en-US" sz="3200" dirty="0" smtClean="0"/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>
          <a:xfrm>
            <a:off x="539552" y="1639341"/>
            <a:ext cx="8229600" cy="4525963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marL="514350" indent="-514350" eaLnBrk="1" hangingPunct="1">
              <a:buFont typeface="Arial" charset="0"/>
              <a:buNone/>
              <a:defRPr/>
            </a:pPr>
            <a:r>
              <a:rPr lang="en-US" sz="2800" b="1" dirty="0" smtClean="0"/>
              <a:t>Definition</a:t>
            </a:r>
            <a:endParaRPr lang="en-US" sz="2800" dirty="0" smtClean="0"/>
          </a:p>
          <a:p>
            <a:pPr eaLnBrk="1" hangingPunct="1">
              <a:defRPr/>
            </a:pPr>
            <a:r>
              <a:rPr lang="en-US" sz="2400" dirty="0" smtClean="0"/>
              <a:t>If T:</a:t>
            </a:r>
            <a:r>
              <a:rPr lang="en-US" sz="2400" i="1" dirty="0" smtClean="0"/>
              <a:t>V</a:t>
            </a:r>
            <a:r>
              <a:rPr lang="en-US" sz="2400" dirty="0" smtClean="0"/>
              <a:t> → </a:t>
            </a:r>
            <a:r>
              <a:rPr lang="en-US" sz="2400" i="1" dirty="0" smtClean="0"/>
              <a:t>W</a:t>
            </a:r>
            <a:r>
              <a:rPr lang="en-US" sz="2400" dirty="0" smtClean="0"/>
              <a:t> is a linear transformation, then the set of vectors in </a:t>
            </a:r>
            <a:r>
              <a:rPr lang="en-US" sz="2400" i="1" dirty="0" smtClean="0"/>
              <a:t>V</a:t>
            </a:r>
            <a:r>
              <a:rPr lang="en-US" sz="2400" dirty="0" smtClean="0"/>
              <a:t> that T maps into </a:t>
            </a:r>
            <a:r>
              <a:rPr lang="en-US" sz="2400" b="1" dirty="0" smtClean="0"/>
              <a:t>0</a:t>
            </a:r>
            <a:r>
              <a:rPr lang="en-US" sz="2400" dirty="0" smtClean="0"/>
              <a:t>, is called </a:t>
            </a:r>
            <a:r>
              <a:rPr lang="en-US" sz="2400" b="1" dirty="0" smtClean="0"/>
              <a:t>kernel</a:t>
            </a:r>
            <a:r>
              <a:rPr lang="en-US" sz="2400" dirty="0" smtClean="0"/>
              <a:t> (or </a:t>
            </a:r>
            <a:r>
              <a:rPr lang="en-US" sz="2400" b="1" dirty="0" err="1" smtClean="0"/>
              <a:t>nullspace</a:t>
            </a:r>
            <a:r>
              <a:rPr lang="en-US" sz="2400" dirty="0" smtClean="0"/>
              <a:t>) of T denoted by </a:t>
            </a:r>
            <a:r>
              <a:rPr lang="en-US" sz="2400" b="1" dirty="0" err="1" smtClean="0"/>
              <a:t>ker</a:t>
            </a:r>
            <a:r>
              <a:rPr lang="en-US" sz="2400" b="1" dirty="0" smtClean="0"/>
              <a:t>(T)</a:t>
            </a:r>
            <a:r>
              <a:rPr lang="en-US" sz="2400" dirty="0" smtClean="0"/>
              <a:t>, or</a:t>
            </a:r>
          </a:p>
          <a:p>
            <a:pPr eaLnBrk="1" hangingPunct="1">
              <a:buFont typeface="Arial" charset="0"/>
              <a:buNone/>
              <a:defRPr/>
            </a:pPr>
            <a:r>
              <a:rPr lang="en-US" sz="2800" dirty="0" smtClean="0"/>
              <a:t>		</a:t>
            </a:r>
            <a:r>
              <a:rPr lang="en-US" sz="2800" dirty="0" err="1" smtClean="0"/>
              <a:t>ker</a:t>
            </a:r>
            <a:r>
              <a:rPr lang="en-US" sz="2800" dirty="0" smtClean="0"/>
              <a:t>(T) = {v </a:t>
            </a:r>
            <a:r>
              <a:rPr lang="az-Cyrl-AZ" sz="2800" dirty="0" smtClean="0"/>
              <a:t>Є </a:t>
            </a:r>
            <a:r>
              <a:rPr lang="en-US" sz="2800" i="1" dirty="0" smtClean="0"/>
              <a:t>V</a:t>
            </a:r>
            <a:r>
              <a:rPr lang="en-US" sz="2800" dirty="0" smtClean="0"/>
              <a:t>|T(v) = 0} or N(T) = {v </a:t>
            </a:r>
            <a:r>
              <a:rPr lang="az-Cyrl-AZ" sz="2800" dirty="0" smtClean="0"/>
              <a:t>Є </a:t>
            </a:r>
            <a:r>
              <a:rPr lang="en-US" sz="2800" i="1" dirty="0" smtClean="0"/>
              <a:t>V</a:t>
            </a:r>
            <a:r>
              <a:rPr lang="en-US" sz="2800" dirty="0" smtClean="0"/>
              <a:t>|T(v) = 0} </a:t>
            </a:r>
          </a:p>
          <a:p>
            <a:pPr eaLnBrk="1" hangingPunct="1">
              <a:buFont typeface="Arial" charset="0"/>
              <a:buNone/>
              <a:defRPr/>
            </a:pPr>
            <a:endParaRPr lang="en-US" sz="2800" dirty="0" smtClean="0"/>
          </a:p>
          <a:p>
            <a:pPr eaLnBrk="1" hangingPunct="1">
              <a:defRPr/>
            </a:pPr>
            <a:r>
              <a:rPr lang="en-US" sz="2400" dirty="0" smtClean="0"/>
              <a:t>The set of all vectors in </a:t>
            </a:r>
            <a:r>
              <a:rPr lang="en-US" sz="2400" i="1" dirty="0" smtClean="0"/>
              <a:t>W</a:t>
            </a:r>
            <a:r>
              <a:rPr lang="en-US" sz="2400" dirty="0" smtClean="0"/>
              <a:t> that are images under T of at least one vector  in </a:t>
            </a:r>
            <a:r>
              <a:rPr lang="en-US" sz="2400" i="1" dirty="0" smtClean="0"/>
              <a:t>V</a:t>
            </a:r>
            <a:r>
              <a:rPr lang="en-US" sz="2400" dirty="0" smtClean="0"/>
              <a:t> is call the </a:t>
            </a:r>
            <a:r>
              <a:rPr lang="en-US" sz="2400" b="1" dirty="0" smtClean="0"/>
              <a:t>range</a:t>
            </a:r>
            <a:r>
              <a:rPr lang="en-US" sz="2400" dirty="0" smtClean="0"/>
              <a:t> of T; denoted by </a:t>
            </a:r>
            <a:r>
              <a:rPr lang="en-US" sz="2400" b="1" dirty="0" smtClean="0"/>
              <a:t>R(T)</a:t>
            </a:r>
            <a:r>
              <a:rPr lang="en-US" sz="2400" dirty="0" smtClean="0"/>
              <a:t>, or</a:t>
            </a:r>
          </a:p>
          <a:p>
            <a:pPr eaLnBrk="1" hangingPunct="1">
              <a:buFont typeface="Arial" charset="0"/>
              <a:buNone/>
              <a:defRPr/>
            </a:pPr>
            <a:r>
              <a:rPr lang="en-US" sz="2800" dirty="0" smtClean="0"/>
              <a:t>		R(T) ={T(v) | v </a:t>
            </a:r>
            <a:r>
              <a:rPr lang="az-Cyrl-AZ" sz="2800" dirty="0" smtClean="0"/>
              <a:t>Є</a:t>
            </a:r>
            <a:r>
              <a:rPr lang="en-US" sz="2800" dirty="0" smtClean="0"/>
              <a:t> </a:t>
            </a:r>
            <a:r>
              <a:rPr lang="en-US" sz="2800" i="1" dirty="0" smtClean="0"/>
              <a:t>V</a:t>
            </a:r>
            <a:r>
              <a:rPr lang="en-US" sz="2800" dirty="0" smtClean="0"/>
              <a:t>}</a:t>
            </a:r>
          </a:p>
          <a:p>
            <a:pPr eaLnBrk="1" hangingPunct="1">
              <a:defRPr/>
            </a:pPr>
            <a:endParaRPr lang="en-US" sz="28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6FA04968-033A-44E3-8A25-5688F6515515}" type="slidenum">
              <a:rPr lang="en-MY" smtClean="0"/>
              <a:pPr>
                <a:defRPr/>
              </a:pPr>
              <a:t>20</a:t>
            </a:fld>
            <a:endParaRPr lang="en-MY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74AAC009-09C3-4D51-8177-44708010D99D}" type="slidenum">
              <a:rPr lang="en-MY" smtClean="0"/>
              <a:pPr>
                <a:defRPr/>
              </a:pPr>
              <a:t>21</a:t>
            </a:fld>
            <a:endParaRPr lang="en-MY"/>
          </a:p>
        </p:txBody>
      </p:sp>
      <p:pic>
        <p:nvPicPr>
          <p:cNvPr id="2458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611560" y="1340768"/>
            <a:ext cx="7448550" cy="3152775"/>
          </a:xfrm>
          <a:noFill/>
        </p:spPr>
      </p:pic>
      <p:sp>
        <p:nvSpPr>
          <p:cNvPr id="7" name="TextBox 6"/>
          <p:cNvSpPr txBox="1"/>
          <p:nvPr/>
        </p:nvSpPr>
        <p:spPr>
          <a:xfrm>
            <a:off x="3203848" y="4509120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Figure 1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2123728" y="274638"/>
            <a:ext cx="6408712" cy="850106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n-US" sz="3200" b="1" dirty="0" smtClean="0"/>
              <a:t>Example 9</a:t>
            </a:r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>
          <a:xfrm>
            <a:off x="323528" y="2636912"/>
            <a:ext cx="8229600" cy="3528392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/>
          <a:lstStyle/>
          <a:p>
            <a:pPr>
              <a:buNone/>
            </a:pPr>
            <a:r>
              <a:rPr lang="en-US" sz="2400" b="1" i="1" u="sng" dirty="0" smtClean="0"/>
              <a:t>Solution</a:t>
            </a:r>
            <a:r>
              <a:rPr lang="en-US" sz="2400" dirty="0" smtClean="0"/>
              <a:t>: </a:t>
            </a:r>
          </a:p>
          <a:p>
            <a:pPr>
              <a:buNone/>
            </a:pPr>
            <a:r>
              <a:rPr lang="en-US" sz="2400" dirty="0" smtClean="0"/>
              <a:t>To find </a:t>
            </a:r>
            <a:r>
              <a:rPr lang="en-US" sz="2400" dirty="0" err="1" smtClean="0"/>
              <a:t>ker</a:t>
            </a:r>
            <a:r>
              <a:rPr lang="en-US" sz="2400" dirty="0" smtClean="0"/>
              <a:t>(T) we need to find all x = (x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,x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) in R</a:t>
            </a:r>
            <a:r>
              <a:rPr lang="en-US" sz="2400" baseline="30000" dirty="0" smtClean="0"/>
              <a:t>2</a:t>
            </a:r>
            <a:r>
              <a:rPr lang="en-US" sz="2400" dirty="0" smtClean="0"/>
              <a:t> such that, </a:t>
            </a:r>
          </a:p>
          <a:p>
            <a:pPr>
              <a:buFont typeface="Arial" charset="0"/>
              <a:buNone/>
            </a:pPr>
            <a:r>
              <a:rPr lang="en-US" sz="2400" dirty="0" smtClean="0"/>
              <a:t>			T(x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, x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) = (x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 – 2x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, 0, -x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) = (0,0,0) </a:t>
            </a:r>
          </a:p>
          <a:p>
            <a:pPr>
              <a:buFont typeface="Arial" charset="0"/>
              <a:buNone/>
            </a:pPr>
            <a:r>
              <a:rPr lang="en-US" sz="2400" dirty="0" smtClean="0"/>
              <a:t>this lead to the homogenous system</a:t>
            </a:r>
          </a:p>
          <a:p>
            <a:pPr>
              <a:buFont typeface="Arial" charset="0"/>
              <a:buNone/>
            </a:pPr>
            <a:r>
              <a:rPr lang="en-US" sz="2400" baseline="30000" dirty="0" smtClean="0"/>
              <a:t>		</a:t>
            </a:r>
            <a:r>
              <a:rPr lang="en-US" sz="2400" dirty="0" smtClean="0"/>
              <a:t>x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 - 2x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 = 0,    	0 = 0,    and          -x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 = 0</a:t>
            </a:r>
          </a:p>
          <a:p>
            <a:pPr>
              <a:buFont typeface="Arial" charset="0"/>
              <a:buNone/>
            </a:pPr>
            <a:r>
              <a:rPr lang="en-US" sz="2400" dirty="0" smtClean="0"/>
              <a:t>Which lead the trivial solution (x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,x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) = (0,0), so we have </a:t>
            </a:r>
          </a:p>
          <a:p>
            <a:pPr>
              <a:buFont typeface="Arial" charset="0"/>
              <a:buNone/>
            </a:pPr>
            <a:r>
              <a:rPr lang="en-US" sz="2400" dirty="0" smtClean="0"/>
              <a:t>			</a:t>
            </a:r>
            <a:r>
              <a:rPr lang="en-US" sz="2400" dirty="0" err="1" smtClean="0"/>
              <a:t>ker</a:t>
            </a:r>
            <a:r>
              <a:rPr lang="en-US" sz="2400" dirty="0" smtClean="0"/>
              <a:t>(T) = {(0,0)} = {</a:t>
            </a:r>
            <a:r>
              <a:rPr lang="en-US" sz="2400" b="1" dirty="0" smtClean="0"/>
              <a:t>0</a:t>
            </a:r>
            <a:r>
              <a:rPr lang="en-US" sz="2400" dirty="0" smtClean="0"/>
              <a:t>}.</a:t>
            </a:r>
          </a:p>
          <a:p>
            <a:pPr>
              <a:buFont typeface="Arial" charset="0"/>
              <a:buNone/>
            </a:pPr>
            <a:r>
              <a:rPr lang="en-US" sz="2400" baseline="30000" dirty="0" smtClean="0"/>
              <a:t>		 </a:t>
            </a:r>
            <a:r>
              <a:rPr lang="en-US" sz="1600" baseline="30000" dirty="0" smtClean="0"/>
              <a:t> </a:t>
            </a:r>
            <a:endParaRPr lang="en-US" sz="1600" dirty="0" smtClean="0"/>
          </a:p>
          <a:p>
            <a:endParaRPr lang="en-US" sz="24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07CCCE5C-23C1-4B40-904B-FEB701172D49}" type="slidenum">
              <a:rPr lang="en-MY" smtClean="0"/>
              <a:pPr>
                <a:defRPr/>
              </a:pPr>
              <a:t>22</a:t>
            </a:fld>
            <a:endParaRPr lang="en-MY"/>
          </a:p>
        </p:txBody>
      </p:sp>
      <p:sp>
        <p:nvSpPr>
          <p:cNvPr id="5" name="Rectangle 4"/>
          <p:cNvSpPr/>
          <p:nvPr/>
        </p:nvSpPr>
        <p:spPr>
          <a:xfrm>
            <a:off x="395536" y="1412776"/>
            <a:ext cx="799288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 smtClean="0"/>
              <a:t>Find the kernel of linear transformation T:R</a:t>
            </a:r>
            <a:r>
              <a:rPr lang="en-US" sz="2400" baseline="30000" dirty="0" smtClean="0"/>
              <a:t>2</a:t>
            </a:r>
            <a:r>
              <a:rPr lang="en-US" sz="2400" dirty="0" smtClean="0"/>
              <a:t> →  R</a:t>
            </a:r>
            <a:r>
              <a:rPr lang="en-US" sz="2400" baseline="30000" dirty="0" smtClean="0"/>
              <a:t>3 </a:t>
            </a:r>
            <a:r>
              <a:rPr lang="en-US" sz="2400" dirty="0" smtClean="0"/>
              <a:t> represented by T(x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, x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) = (x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 – 2x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, 0, -x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)</a:t>
            </a:r>
            <a:r>
              <a:rPr lang="en-US" sz="2400" baseline="30000" dirty="0" smtClean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>
          <a:xfrm>
            <a:off x="2051720" y="274638"/>
            <a:ext cx="6635080" cy="850106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n-US" sz="3200" b="1" dirty="0" smtClean="0"/>
              <a:t>Example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FA0C7E46-9099-4A38-9928-58A25C93D859}" type="slidenum">
              <a:rPr lang="en-MY" smtClean="0"/>
              <a:pPr>
                <a:defRPr/>
              </a:pPr>
              <a:t>23</a:t>
            </a:fld>
            <a:endParaRPr lang="en-MY"/>
          </a:p>
        </p:txBody>
      </p:sp>
      <p:pic>
        <p:nvPicPr>
          <p:cNvPr id="2662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539552" y="1628800"/>
            <a:ext cx="8148845" cy="2880320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2051720" y="188640"/>
            <a:ext cx="5976664" cy="838994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US" sz="3200" b="1" dirty="0" smtClean="0"/>
              <a:t>Solution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68AD9A69-AB32-437C-B86D-3818E1C64AEE}" type="slidenum">
              <a:rPr lang="en-MY" smtClean="0"/>
              <a:pPr>
                <a:defRPr/>
              </a:pPr>
              <a:t>24</a:t>
            </a:fld>
            <a:endParaRPr lang="en-MY"/>
          </a:p>
        </p:txBody>
      </p:sp>
      <p:pic>
        <p:nvPicPr>
          <p:cNvPr id="2765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331640" y="1124744"/>
            <a:ext cx="6480720" cy="5330795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 idx="4294967295"/>
          </p:nvPr>
        </p:nvSpPr>
        <p:spPr>
          <a:xfrm>
            <a:off x="2123728" y="274638"/>
            <a:ext cx="6563072" cy="850106"/>
          </a:xfr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b="1" dirty="0" smtClean="0"/>
              <a:t>Theorem </a:t>
            </a:r>
            <a:endParaRPr lang="ms-MY" b="1" dirty="0" smtClean="0"/>
          </a:p>
        </p:txBody>
      </p:sp>
      <p:sp>
        <p:nvSpPr>
          <p:cNvPr id="36868" name="Slide Number Placeholder 3"/>
          <p:cNvSpPr txBox="1">
            <a:spLocks noGrp="1"/>
          </p:cNvSpPr>
          <p:nvPr/>
        </p:nvSpPr>
        <p:spPr bwMode="auto">
          <a:xfrm>
            <a:off x="7543800" y="6553200"/>
            <a:ext cx="1143000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 eaLnBrk="0" hangingPunct="0">
              <a:defRPr/>
            </a:pPr>
            <a:fld id="{D2325A54-0299-497C-8C13-7F043DFE7128}" type="slidenum">
              <a:rPr lang="en-US" sz="1000" b="1">
                <a:solidFill>
                  <a:schemeClr val="bg1"/>
                </a:solidFill>
                <a:ea typeface="ＭＳ Ｐゴシック" pitchFamily="34" charset="-128"/>
                <a:cs typeface="+mn-cs"/>
              </a:rPr>
              <a:pPr algn="r" eaLnBrk="0" hangingPunct="0">
                <a:defRPr/>
              </a:pPr>
              <a:t>25</a:t>
            </a:fld>
            <a:endParaRPr lang="en-US" sz="1000" b="1">
              <a:solidFill>
                <a:schemeClr val="bg1"/>
              </a:solidFill>
              <a:ea typeface="ＭＳ Ｐゴシック" pitchFamily="34" charset="-128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95536" y="1556792"/>
            <a:ext cx="8136904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charset="0"/>
              <a:buNone/>
            </a:pPr>
            <a:r>
              <a:rPr lang="en-GB" sz="2800" dirty="0" smtClean="0"/>
              <a:t>Let </a:t>
            </a:r>
            <a:r>
              <a:rPr lang="en-GB" sz="2800" i="1" dirty="0" smtClean="0"/>
              <a:t>V</a:t>
            </a:r>
            <a:r>
              <a:rPr lang="en-GB" sz="2800" dirty="0" smtClean="0"/>
              <a:t> and </a:t>
            </a:r>
            <a:r>
              <a:rPr lang="en-GB" sz="2800" i="1" dirty="0" smtClean="0"/>
              <a:t>W</a:t>
            </a:r>
            <a:r>
              <a:rPr lang="en-GB" sz="2800" dirty="0" smtClean="0"/>
              <a:t> be finite dimensional vector spaces and </a:t>
            </a:r>
            <a:r>
              <a:rPr lang="en-GB" sz="2800" i="1" dirty="0" smtClean="0"/>
              <a:t>B </a:t>
            </a:r>
            <a:r>
              <a:rPr lang="en-GB" sz="2800" dirty="0" smtClean="0"/>
              <a:t>= {v</a:t>
            </a:r>
            <a:r>
              <a:rPr lang="en-GB" sz="2800" baseline="-25000" dirty="0" smtClean="0"/>
              <a:t>1</a:t>
            </a:r>
            <a:r>
              <a:rPr lang="en-GB" sz="2800" dirty="0" smtClean="0"/>
              <a:t>, v</a:t>
            </a:r>
            <a:r>
              <a:rPr lang="en-GB" sz="2800" baseline="-25000" dirty="0" smtClean="0"/>
              <a:t>2</a:t>
            </a:r>
            <a:r>
              <a:rPr lang="en-GB" sz="2800" dirty="0" smtClean="0"/>
              <a:t>, …,</a:t>
            </a:r>
            <a:r>
              <a:rPr lang="en-GB" sz="2800" dirty="0" err="1" smtClean="0"/>
              <a:t>v</a:t>
            </a:r>
            <a:r>
              <a:rPr lang="en-GB" sz="2800" baseline="-25000" dirty="0" err="1" smtClean="0"/>
              <a:t>n</a:t>
            </a:r>
            <a:r>
              <a:rPr lang="en-GB" sz="2800" dirty="0" smtClean="0"/>
              <a:t>} be a basis of </a:t>
            </a:r>
            <a:r>
              <a:rPr lang="en-GB" sz="2800" i="1" dirty="0" smtClean="0"/>
              <a:t>V</a:t>
            </a:r>
            <a:r>
              <a:rPr lang="en-GB" sz="2800" dirty="0" smtClean="0"/>
              <a:t>. If </a:t>
            </a:r>
            <a:r>
              <a:rPr lang="en-GB" sz="2800" i="1" dirty="0" smtClean="0"/>
              <a:t>T</a:t>
            </a:r>
            <a:r>
              <a:rPr lang="en-GB" sz="2800" dirty="0" smtClean="0"/>
              <a:t>:</a:t>
            </a:r>
            <a:r>
              <a:rPr lang="en-GB" sz="2800" i="1" dirty="0" smtClean="0"/>
              <a:t>V</a:t>
            </a:r>
            <a:r>
              <a:rPr lang="en-GB" sz="2800" dirty="0" smtClean="0">
                <a:sym typeface="Wingdings" pitchFamily="2" charset="2"/>
              </a:rPr>
              <a:t></a:t>
            </a:r>
            <a:r>
              <a:rPr lang="en-GB" sz="2800" i="1" dirty="0" smtClean="0"/>
              <a:t>W</a:t>
            </a:r>
            <a:r>
              <a:rPr lang="en-GB" sz="2800" dirty="0" smtClean="0"/>
              <a:t> is a linear transformation, then</a:t>
            </a:r>
            <a:endParaRPr lang="ms-MY" sz="2800" dirty="0" smtClean="0"/>
          </a:p>
          <a:p>
            <a:pPr>
              <a:lnSpc>
                <a:spcPct val="150000"/>
              </a:lnSpc>
              <a:buFont typeface="Arial" charset="0"/>
              <a:buNone/>
            </a:pPr>
            <a:r>
              <a:rPr lang="en-GB" sz="2800" dirty="0" smtClean="0"/>
              <a:t>        R(T) = span { T(v</a:t>
            </a:r>
            <a:r>
              <a:rPr lang="en-GB" sz="2800" baseline="-25000" dirty="0" smtClean="0"/>
              <a:t>1</a:t>
            </a:r>
            <a:r>
              <a:rPr lang="en-GB" sz="2800" dirty="0" smtClean="0"/>
              <a:t>), T(v</a:t>
            </a:r>
            <a:r>
              <a:rPr lang="en-GB" sz="2800" baseline="-25000" dirty="0" smtClean="0"/>
              <a:t>2</a:t>
            </a:r>
            <a:r>
              <a:rPr lang="en-GB" sz="2800" dirty="0" smtClean="0"/>
              <a:t>),…, T(</a:t>
            </a:r>
            <a:r>
              <a:rPr lang="en-GB" sz="2800" dirty="0" err="1" smtClean="0"/>
              <a:t>v</a:t>
            </a:r>
            <a:r>
              <a:rPr lang="en-GB" sz="2800" baseline="-25000" dirty="0" err="1" smtClean="0"/>
              <a:t>n</a:t>
            </a:r>
            <a:r>
              <a:rPr lang="en-GB" sz="2800" dirty="0" smtClean="0"/>
              <a:t>) }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>
          <a:xfrm>
            <a:off x="1979712" y="274638"/>
            <a:ext cx="6552728" cy="850106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n-US" sz="3200" b="1" dirty="0" smtClean="0"/>
              <a:t>Example 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B744475F-340F-4832-B71D-C9A1728F5598}" type="slidenum">
              <a:rPr lang="en-MY" smtClean="0"/>
              <a:pPr>
                <a:defRPr/>
              </a:pPr>
              <a:t>26</a:t>
            </a:fld>
            <a:endParaRPr lang="en-MY"/>
          </a:p>
        </p:txBody>
      </p:sp>
      <p:pic>
        <p:nvPicPr>
          <p:cNvPr id="2970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467544" y="1700808"/>
            <a:ext cx="8169529" cy="2863775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>
          <a:xfrm>
            <a:off x="1979712" y="260648"/>
            <a:ext cx="6336704" cy="850106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US" sz="3200" b="1" dirty="0" smtClean="0"/>
              <a:t>Solution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BAE65BE0-0EAB-4D12-8A3B-D3B165A4B9EA}" type="slidenum">
              <a:rPr lang="en-MY" smtClean="0"/>
              <a:pPr>
                <a:defRPr/>
              </a:pPr>
              <a:t>27</a:t>
            </a:fld>
            <a:endParaRPr lang="en-MY"/>
          </a:p>
        </p:txBody>
      </p:sp>
      <p:sp>
        <p:nvSpPr>
          <p:cNvPr id="7" name="TextBox 6"/>
          <p:cNvSpPr txBox="1"/>
          <p:nvPr/>
        </p:nvSpPr>
        <p:spPr>
          <a:xfrm>
            <a:off x="467544" y="1412776"/>
            <a:ext cx="806489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lphaLcParenR"/>
            </a:pPr>
            <a:r>
              <a:rPr lang="en-US" sz="2000" dirty="0" smtClean="0"/>
              <a:t>Based on the theorem, the vector                  is in R(T) if there are</a:t>
            </a:r>
          </a:p>
          <a:p>
            <a:pPr marL="457200" indent="-457200"/>
            <a:r>
              <a:rPr lang="en-US" sz="2000" dirty="0" smtClean="0"/>
              <a:t>      </a:t>
            </a:r>
          </a:p>
          <a:p>
            <a:pPr marL="457200" indent="-457200"/>
            <a:r>
              <a:rPr lang="en-US" sz="2000" dirty="0" smtClean="0"/>
              <a:t>       scalars</a:t>
            </a:r>
          </a:p>
          <a:p>
            <a:pPr marL="457200" indent="-457200"/>
            <a:endParaRPr lang="en-US" sz="2000" dirty="0" smtClean="0"/>
          </a:p>
          <a:p>
            <a:pPr marL="457200" indent="-457200"/>
            <a:endParaRPr lang="en-US" sz="2000" dirty="0" smtClean="0"/>
          </a:p>
          <a:p>
            <a:pPr marL="457200" indent="-457200"/>
            <a:endParaRPr lang="en-US" sz="2000" dirty="0" smtClean="0"/>
          </a:p>
          <a:p>
            <a:pPr marL="457200" indent="-457200"/>
            <a:endParaRPr lang="en-US" sz="2000" dirty="0" smtClean="0"/>
          </a:p>
          <a:p>
            <a:pPr marL="457200" indent="-457200"/>
            <a:endParaRPr lang="en-US" sz="2000" dirty="0" smtClean="0"/>
          </a:p>
          <a:p>
            <a:pPr marL="457200" indent="-457200"/>
            <a:endParaRPr lang="en-US" sz="2000" dirty="0" smtClean="0"/>
          </a:p>
          <a:p>
            <a:pPr marL="457200" indent="-457200"/>
            <a:r>
              <a:rPr lang="en-US" sz="2000" dirty="0" smtClean="0"/>
              <a:t>that is  </a:t>
            </a:r>
            <a:endParaRPr lang="en-US" sz="2000" dirty="0"/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4572000" y="1124744"/>
          <a:ext cx="792088" cy="10818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6" name="Equation" r:id="rId3" imgW="520474" imgH="710891" progId="Equation.3">
                  <p:embed/>
                </p:oleObj>
              </mc:Choice>
              <mc:Fallback>
                <p:oleObj name="Equation" r:id="rId3" imgW="520474" imgH="710891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1124744"/>
                        <a:ext cx="792088" cy="108187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1958529" y="1981151"/>
          <a:ext cx="2757487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7" name="Equation" r:id="rId5" imgW="1435100" imgH="228600" progId="Equation.3">
                  <p:embed/>
                </p:oleObj>
              </mc:Choice>
              <mc:Fallback>
                <p:oleObj name="Equation" r:id="rId5" imgW="1435100" imgH="228600" progId="Equation.3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8529" y="1981151"/>
                        <a:ext cx="2757487" cy="4397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2051720" y="2708920"/>
          <a:ext cx="4114744" cy="1440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8" name="Equation" r:id="rId7" imgW="2032000" imgH="711200" progId="Equation.3">
                  <p:embed/>
                </p:oleObj>
              </mc:Choice>
              <mc:Fallback>
                <p:oleObj name="Equation" r:id="rId7" imgW="2032000" imgH="711200" progId="Equation.3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720" y="2708920"/>
                        <a:ext cx="4114744" cy="1440160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7" name="Object 5"/>
          <p:cNvGraphicFramePr>
            <a:graphicFrameLocks noChangeAspect="1"/>
          </p:cNvGraphicFramePr>
          <p:nvPr/>
        </p:nvGraphicFramePr>
        <p:xfrm>
          <a:off x="2171700" y="4724400"/>
          <a:ext cx="4128492" cy="1441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9" name="Equation" r:id="rId9" imgW="1841500" imgH="711200" progId="Equation.3">
                  <p:embed/>
                </p:oleObj>
              </mc:Choice>
              <mc:Fallback>
                <p:oleObj name="Equation" r:id="rId9" imgW="1841500" imgH="711200" progId="Equation.3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1700" y="4724400"/>
                        <a:ext cx="4128492" cy="1441450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360A883A-396F-4995-B9EA-4BC32BF3B9AE}" type="slidenum">
              <a:rPr lang="en-MY" smtClean="0"/>
              <a:pPr>
                <a:defRPr/>
              </a:pPr>
              <a:t>28</a:t>
            </a:fld>
            <a:endParaRPr lang="en-MY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1979712" y="260648"/>
            <a:ext cx="6336704" cy="79208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Solution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5536" y="1268760"/>
            <a:ext cx="842493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/>
            <a:r>
              <a:rPr lang="en-US" sz="2800" dirty="0" smtClean="0"/>
              <a:t>The set of solutions to the linear systems is given by</a:t>
            </a:r>
          </a:p>
          <a:p>
            <a:pPr marL="457200" indent="-457200"/>
            <a:endParaRPr lang="en-US" sz="2800" dirty="0" smtClean="0"/>
          </a:p>
          <a:p>
            <a:pPr marL="457200" indent="-457200"/>
            <a:endParaRPr lang="en-US" sz="2800" dirty="0" smtClean="0"/>
          </a:p>
          <a:p>
            <a:pPr marL="457200" indent="-457200"/>
            <a:endParaRPr lang="en-US" sz="2800" dirty="0" smtClean="0"/>
          </a:p>
          <a:p>
            <a:pPr marL="457200" indent="-457200"/>
            <a:r>
              <a:rPr lang="en-US" sz="2800" dirty="0" smtClean="0"/>
              <a:t>If </a:t>
            </a:r>
            <a:r>
              <a:rPr lang="en-US" sz="2800" i="1" dirty="0" smtClean="0"/>
              <a:t>t</a:t>
            </a:r>
            <a:r>
              <a:rPr lang="en-US" sz="2800" dirty="0" smtClean="0"/>
              <a:t> = 0, </a:t>
            </a:r>
            <a:endParaRPr lang="en-US" sz="2800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1547664" y="1916832"/>
          <a:ext cx="5205413" cy="846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Equation" r:id="rId3" imgW="1562100" imgH="254000" progId="Equation.3">
                  <p:embed/>
                </p:oleObj>
              </mc:Choice>
              <mc:Fallback>
                <p:oleObj name="Equation" r:id="rId3" imgW="1562100" imgH="25400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664" y="1916832"/>
                        <a:ext cx="5205413" cy="846138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3" name="Object 3"/>
          <p:cNvGraphicFramePr>
            <a:graphicFrameLocks noChangeAspect="1"/>
          </p:cNvGraphicFramePr>
          <p:nvPr/>
        </p:nvGraphicFramePr>
        <p:xfrm>
          <a:off x="1475656" y="3645024"/>
          <a:ext cx="5545137" cy="1522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Equation" r:id="rId5" imgW="1663700" imgH="457200" progId="Equation.3">
                  <p:embed/>
                </p:oleObj>
              </mc:Choice>
              <mc:Fallback>
                <p:oleObj name="Equation" r:id="rId5" imgW="1663700" imgH="45720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5656" y="3645024"/>
                        <a:ext cx="5545137" cy="1522412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DA1689C5-4291-45BE-980F-D2F1C6B499CE}" type="slidenum">
              <a:rPr lang="en-MY" smtClean="0"/>
              <a:pPr>
                <a:defRPr/>
              </a:pPr>
              <a:t>29</a:t>
            </a:fld>
            <a:endParaRPr lang="en-MY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123728" y="274638"/>
            <a:ext cx="6563072" cy="850106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US" sz="3200" b="1" dirty="0" smtClean="0"/>
              <a:t>Solution (cont.)</a:t>
            </a:r>
          </a:p>
        </p:txBody>
      </p:sp>
      <p:pic>
        <p:nvPicPr>
          <p:cNvPr id="2049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1013" y="1704975"/>
            <a:ext cx="8181975" cy="3448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Title 1"/>
          <p:cNvSpPr>
            <a:spLocks noGrp="1"/>
          </p:cNvSpPr>
          <p:nvPr>
            <p:ph type="title"/>
          </p:nvPr>
        </p:nvSpPr>
        <p:spPr>
          <a:xfrm>
            <a:off x="1979712" y="260648"/>
            <a:ext cx="6717432" cy="72008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r>
              <a:rPr lang="en-US" sz="4000" b="1" dirty="0" smtClean="0"/>
              <a:t>Exercises </a:t>
            </a:r>
          </a:p>
        </p:txBody>
      </p:sp>
      <p:sp>
        <p:nvSpPr>
          <p:cNvPr id="1029" name="Content Placeholder 2"/>
          <p:cNvSpPr>
            <a:spLocks noGrp="1"/>
          </p:cNvSpPr>
          <p:nvPr>
            <p:ph idx="1"/>
          </p:nvPr>
        </p:nvSpPr>
        <p:spPr>
          <a:xfrm>
            <a:off x="467544" y="1844824"/>
            <a:ext cx="8229600" cy="3600400"/>
          </a:xfr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/>
          <a:lstStyle/>
          <a:p>
            <a:pPr>
              <a:buNone/>
            </a:pPr>
            <a:r>
              <a:rPr lang="en-US" sz="2800" dirty="0" smtClean="0"/>
              <a:t>1) Define linear operator as; T: R</a:t>
            </a:r>
            <a:r>
              <a:rPr lang="en-US" sz="2800" baseline="30000" dirty="0" smtClean="0"/>
              <a:t>2</a:t>
            </a:r>
            <a:r>
              <a:rPr lang="en-US" sz="2800" dirty="0" smtClean="0"/>
              <a:t> → R</a:t>
            </a:r>
            <a:r>
              <a:rPr lang="en-US" sz="2800" baseline="30000" dirty="0" smtClean="0"/>
              <a:t>2</a:t>
            </a:r>
            <a:r>
              <a:rPr lang="en-US" sz="2800" dirty="0" smtClean="0"/>
              <a:t>, determine whether vector </a:t>
            </a:r>
            <a:r>
              <a:rPr lang="en-US" sz="2800" b="1" dirty="0" smtClean="0"/>
              <a:t>v</a:t>
            </a:r>
            <a:r>
              <a:rPr lang="en-US" sz="2800" dirty="0" smtClean="0"/>
              <a:t> is in N(T), where T and </a:t>
            </a:r>
            <a:r>
              <a:rPr lang="en-US" sz="2800" b="1" dirty="0" smtClean="0"/>
              <a:t>v</a:t>
            </a:r>
            <a:r>
              <a:rPr lang="en-US" sz="2800" dirty="0" smtClean="0"/>
              <a:t> are given as;</a:t>
            </a:r>
          </a:p>
          <a:p>
            <a:pPr>
              <a:buNone/>
            </a:pPr>
            <a:endParaRPr lang="en-US" sz="28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F6E7E99F-0590-4C7E-8F1E-75D1342A5260}" type="slidenum">
              <a:rPr lang="en-MY" smtClean="0"/>
              <a:pPr>
                <a:defRPr/>
              </a:pPr>
              <a:t>30</a:t>
            </a:fld>
            <a:endParaRPr lang="en-MY"/>
          </a:p>
        </p:txBody>
      </p:sp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1547664" y="3573016"/>
          <a:ext cx="4069373" cy="13681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6" name="Equation" r:id="rId3" imgW="1435100" imgH="482600" progId="Equation.3">
                  <p:embed/>
                </p:oleObj>
              </mc:Choice>
              <mc:Fallback>
                <p:oleObj name="Equation" r:id="rId3" imgW="1435100" imgH="48260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664" y="3573016"/>
                        <a:ext cx="4069373" cy="136815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3"/>
          <p:cNvGraphicFramePr>
            <a:graphicFrameLocks noChangeAspect="1"/>
          </p:cNvGraphicFramePr>
          <p:nvPr/>
        </p:nvGraphicFramePr>
        <p:xfrm>
          <a:off x="6372200" y="3501008"/>
          <a:ext cx="1656184" cy="16114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7" name="Equation" r:id="rId5" imgW="469900" imgH="457200" progId="Equation.3">
                  <p:embed/>
                </p:oleObj>
              </mc:Choice>
              <mc:Fallback>
                <p:oleObj name="Equation" r:id="rId5" imgW="469900" imgH="45720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2200" y="3501008"/>
                        <a:ext cx="1656184" cy="161149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Title 1"/>
          <p:cNvSpPr>
            <a:spLocks noGrp="1"/>
          </p:cNvSpPr>
          <p:nvPr>
            <p:ph type="title"/>
          </p:nvPr>
        </p:nvSpPr>
        <p:spPr>
          <a:xfrm>
            <a:off x="1979712" y="260648"/>
            <a:ext cx="6717432" cy="72008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r>
              <a:rPr lang="en-US" sz="4000" b="1" dirty="0" smtClean="0"/>
              <a:t>Exercises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F6E7E99F-0590-4C7E-8F1E-75D1342A5260}" type="slidenum">
              <a:rPr lang="en-MY" smtClean="0"/>
              <a:pPr>
                <a:defRPr/>
              </a:pPr>
              <a:t>31</a:t>
            </a:fld>
            <a:endParaRPr lang="en-MY"/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467544" y="1484784"/>
            <a:ext cx="8280920" cy="4176464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2) Define linear operator as; T:R</a:t>
            </a:r>
            <a:r>
              <a:rPr kumimoji="0" lang="en-US" sz="2800" b="0" i="0" u="none" strike="noStrike" kern="1200" cap="none" spc="0" normalizeH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→ R</a:t>
            </a:r>
            <a:r>
              <a:rPr kumimoji="0" lang="en-US" sz="2800" b="0" i="0" u="none" strike="noStrike" kern="1200" cap="none" spc="0" normalizeH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determine whether vector </a:t>
            </a: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is in R(T), where T and </a:t>
            </a: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are given as;</a:t>
            </a:r>
          </a:p>
        </p:txBody>
      </p:sp>
      <p:graphicFrame>
        <p:nvGraphicFramePr>
          <p:cNvPr id="8" name="Object 4"/>
          <p:cNvGraphicFramePr>
            <a:graphicFrameLocks noChangeAspect="1"/>
          </p:cNvGraphicFramePr>
          <p:nvPr/>
        </p:nvGraphicFramePr>
        <p:xfrm>
          <a:off x="1331640" y="3140968"/>
          <a:ext cx="6034554" cy="2160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2" name="Equation" r:id="rId3" imgW="2057400" imgH="736600" progId="Equation.3">
                  <p:embed/>
                </p:oleObj>
              </mc:Choice>
              <mc:Fallback>
                <p:oleObj name="Equation" r:id="rId3" imgW="2057400" imgH="73660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3140968"/>
                        <a:ext cx="6034554" cy="21602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>
          <a:xfrm>
            <a:off x="1979712" y="260648"/>
            <a:ext cx="6851104" cy="850106"/>
          </a:xfr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eaLnBrk="1" hangingPunct="1"/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2800" dirty="0" smtClean="0"/>
              <a:t>Matrix Representation of a Linear Transformation</a:t>
            </a:r>
            <a:r>
              <a:rPr lang="en-US" sz="3200" dirty="0" smtClean="0"/>
              <a:t/>
            </a:r>
            <a:br>
              <a:rPr lang="en-US" sz="3200" dirty="0" smtClean="0"/>
            </a:br>
            <a:endParaRPr lang="en-US" sz="3200" dirty="0" smtClean="0"/>
          </a:p>
        </p:txBody>
      </p:sp>
      <p:sp>
        <p:nvSpPr>
          <p:cNvPr id="35843" name="Content Placeholder 2"/>
          <p:cNvSpPr>
            <a:spLocks noGrp="1"/>
          </p:cNvSpPr>
          <p:nvPr>
            <p:ph idx="1"/>
          </p:nvPr>
        </p:nvSpPr>
        <p:spPr>
          <a:xfrm>
            <a:off x="179512" y="1484784"/>
            <a:ext cx="8748464" cy="4525963"/>
          </a:xfrm>
          <a:solidFill>
            <a:schemeClr val="bg1"/>
          </a:solidFill>
        </p:spPr>
        <p:txBody>
          <a:bodyPr/>
          <a:lstStyle/>
          <a:p>
            <a:pPr eaLnBrk="1" hangingPunct="1">
              <a:buNone/>
            </a:pPr>
            <a:r>
              <a:rPr lang="en-US" sz="2800" dirty="0" smtClean="0"/>
              <a:t>Given any </a:t>
            </a:r>
            <a:r>
              <a:rPr lang="en-US" sz="2800" i="1" dirty="0" err="1" smtClean="0"/>
              <a:t>m</a:t>
            </a:r>
            <a:r>
              <a:rPr lang="en-US" sz="1800" dirty="0" err="1" smtClean="0"/>
              <a:t>x</a:t>
            </a:r>
            <a:r>
              <a:rPr lang="en-US" sz="2800" i="1" dirty="0" err="1" smtClean="0"/>
              <a:t>n</a:t>
            </a:r>
            <a:r>
              <a:rPr lang="en-US" sz="2800" dirty="0" smtClean="0"/>
              <a:t> matrix </a:t>
            </a:r>
            <a:r>
              <a:rPr lang="en-US" sz="2800" b="1" dirty="0" smtClean="0">
                <a:solidFill>
                  <a:srgbClr val="FF0000"/>
                </a:solidFill>
              </a:rPr>
              <a:t>A</a:t>
            </a:r>
            <a:r>
              <a:rPr lang="en-US" sz="2800" dirty="0" smtClean="0"/>
              <a:t>, in general if T : </a:t>
            </a:r>
            <a:r>
              <a:rPr lang="en-US" sz="2800" dirty="0" err="1" smtClean="0"/>
              <a:t>R</a:t>
            </a:r>
            <a:r>
              <a:rPr lang="en-US" sz="2800" baseline="30000" dirty="0" err="1" smtClean="0"/>
              <a:t>n</a:t>
            </a:r>
            <a:r>
              <a:rPr lang="en-US" sz="2800" dirty="0" err="1" smtClean="0"/>
              <a:t>→R</a:t>
            </a:r>
            <a:r>
              <a:rPr lang="en-US" sz="2800" baseline="30000" dirty="0" err="1" smtClean="0"/>
              <a:t>m</a:t>
            </a:r>
            <a:r>
              <a:rPr lang="en-US" sz="2800" dirty="0" smtClean="0"/>
              <a:t> is a linear</a:t>
            </a:r>
          </a:p>
          <a:p>
            <a:pPr eaLnBrk="1" hangingPunct="1">
              <a:buNone/>
            </a:pPr>
            <a:r>
              <a:rPr lang="en-US" sz="2800" dirty="0" smtClean="0"/>
              <a:t>transformation, then it is possible to write;</a:t>
            </a:r>
          </a:p>
          <a:p>
            <a:pPr eaLnBrk="1" hangingPunct="1">
              <a:buNone/>
            </a:pPr>
            <a:endParaRPr lang="en-US" sz="2800" dirty="0" smtClean="0"/>
          </a:p>
          <a:p>
            <a:pPr eaLnBrk="1" hangingPunct="1">
              <a:buFont typeface="Arial" charset="0"/>
              <a:buNone/>
            </a:pPr>
            <a:r>
              <a:rPr lang="en-US" sz="2800" dirty="0" smtClean="0"/>
              <a:t>				T(</a:t>
            </a:r>
            <a:r>
              <a:rPr lang="en-US" sz="2800" b="1" dirty="0" smtClean="0"/>
              <a:t>v</a:t>
            </a:r>
            <a:r>
              <a:rPr lang="en-US" sz="2800" dirty="0" smtClean="0"/>
              <a:t>) = </a:t>
            </a:r>
            <a:r>
              <a:rPr lang="en-US" sz="2800" b="1" dirty="0" smtClean="0">
                <a:solidFill>
                  <a:srgbClr val="FF0000"/>
                </a:solidFill>
              </a:rPr>
              <a:t>A</a:t>
            </a:r>
            <a:r>
              <a:rPr lang="en-US" sz="2800" b="1" dirty="0" smtClean="0"/>
              <a:t>v</a:t>
            </a:r>
          </a:p>
          <a:p>
            <a:pPr eaLnBrk="1" hangingPunct="1">
              <a:buFont typeface="Arial" charset="0"/>
              <a:buNone/>
            </a:pPr>
            <a:endParaRPr lang="en-US" sz="2800" b="1" dirty="0" smtClean="0"/>
          </a:p>
          <a:p>
            <a:pPr>
              <a:buNone/>
            </a:pPr>
            <a:r>
              <a:rPr lang="en-US" sz="2800" dirty="0" smtClean="0"/>
              <a:t>where</a:t>
            </a:r>
            <a:r>
              <a:rPr lang="en-US" sz="2800" b="1" dirty="0" smtClean="0"/>
              <a:t> </a:t>
            </a:r>
            <a:r>
              <a:rPr lang="en-US" sz="2800" b="1" dirty="0" smtClean="0">
                <a:solidFill>
                  <a:srgbClr val="FF0000"/>
                </a:solidFill>
              </a:rPr>
              <a:t>A</a:t>
            </a:r>
            <a:r>
              <a:rPr lang="en-US" sz="2800" dirty="0" smtClean="0"/>
              <a:t> is the </a:t>
            </a:r>
            <a:r>
              <a:rPr lang="en-US" sz="2800" i="1" dirty="0" err="1" smtClean="0"/>
              <a:t>m</a:t>
            </a:r>
            <a:r>
              <a:rPr lang="en-US" sz="1800" dirty="0" err="1" smtClean="0"/>
              <a:t>x</a:t>
            </a:r>
            <a:r>
              <a:rPr lang="en-US" sz="2800" i="1" dirty="0" err="1" smtClean="0"/>
              <a:t>n</a:t>
            </a:r>
            <a:r>
              <a:rPr lang="en-US" sz="2800" dirty="0" smtClean="0"/>
              <a:t> matrix whose </a:t>
            </a:r>
            <a:r>
              <a:rPr lang="en-US" sz="2800" i="1" dirty="0" err="1" smtClean="0"/>
              <a:t>j</a:t>
            </a:r>
            <a:r>
              <a:rPr lang="en-US" sz="2800" baseline="30000" dirty="0" err="1" smtClean="0"/>
              <a:t>th</a:t>
            </a:r>
            <a:r>
              <a:rPr lang="en-US" sz="2800" dirty="0" smtClean="0"/>
              <a:t> column vector is </a:t>
            </a:r>
          </a:p>
          <a:p>
            <a:pPr eaLnBrk="1" hangingPunct="1">
              <a:buFont typeface="Arial" charset="0"/>
              <a:buNone/>
            </a:pPr>
            <a:r>
              <a:rPr lang="en-US" sz="2800" dirty="0" smtClean="0"/>
              <a:t>T(</a:t>
            </a:r>
            <a:r>
              <a:rPr lang="en-US" sz="2800" dirty="0" err="1" smtClean="0"/>
              <a:t>e</a:t>
            </a:r>
            <a:r>
              <a:rPr lang="en-US" sz="2800" baseline="-25000" dirty="0" err="1" smtClean="0"/>
              <a:t>j</a:t>
            </a:r>
            <a:r>
              <a:rPr lang="en-US" sz="2800" dirty="0" smtClean="0"/>
              <a:t>) for </a:t>
            </a:r>
            <a:r>
              <a:rPr lang="en-US" sz="2800" i="1" dirty="0" smtClean="0"/>
              <a:t>j</a:t>
            </a:r>
            <a:r>
              <a:rPr lang="en-US" sz="2800" dirty="0" smtClean="0"/>
              <a:t> = 1,2,. . .</a:t>
            </a:r>
            <a:r>
              <a:rPr lang="en-US" sz="2800" i="1" dirty="0" smtClean="0"/>
              <a:t>n</a:t>
            </a:r>
            <a:r>
              <a:rPr lang="en-US" sz="2800" dirty="0" smtClean="0"/>
              <a:t>.  </a:t>
            </a:r>
            <a:r>
              <a:rPr lang="en-US" sz="2800" b="1" dirty="0" smtClean="0">
                <a:solidFill>
                  <a:srgbClr val="FF0000"/>
                </a:solidFill>
              </a:rPr>
              <a:t>A</a:t>
            </a:r>
            <a:r>
              <a:rPr lang="en-US" sz="2800" dirty="0" smtClean="0"/>
              <a:t> is called the </a:t>
            </a:r>
            <a:r>
              <a:rPr lang="en-US" sz="2800" b="1" dirty="0" smtClean="0"/>
              <a:t>matrix representation</a:t>
            </a:r>
          </a:p>
          <a:p>
            <a:pPr eaLnBrk="1" hangingPunct="1">
              <a:buFont typeface="Arial" charset="0"/>
              <a:buNone/>
            </a:pPr>
            <a:r>
              <a:rPr lang="en-US" sz="2800" b="1" dirty="0" smtClean="0"/>
              <a:t> of T relative to the standard bases of </a:t>
            </a:r>
            <a:r>
              <a:rPr lang="en-US" sz="2800" b="1" dirty="0" err="1" smtClean="0"/>
              <a:t>R</a:t>
            </a:r>
            <a:r>
              <a:rPr lang="en-US" sz="2800" b="1" baseline="30000" dirty="0" err="1" smtClean="0"/>
              <a:t>n</a:t>
            </a:r>
            <a:r>
              <a:rPr lang="en-US" sz="2800" b="1" dirty="0" smtClean="0"/>
              <a:t> and R</a:t>
            </a:r>
            <a:r>
              <a:rPr lang="en-US" sz="2800" b="1" baseline="30000" dirty="0" smtClean="0"/>
              <a:t>m</a:t>
            </a:r>
            <a:r>
              <a:rPr lang="en-US" sz="2800" b="1" dirty="0" smtClean="0"/>
              <a:t>.  </a:t>
            </a:r>
          </a:p>
          <a:p>
            <a:pPr eaLnBrk="1" hangingPunct="1">
              <a:buFont typeface="Arial" charset="0"/>
              <a:buNone/>
            </a:pPr>
            <a:endParaRPr lang="en-US" sz="28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F54AFEF6-C8B1-43DD-816E-9B0023EF94C6}" type="slidenum">
              <a:rPr lang="en-MY" smtClean="0"/>
              <a:pPr>
                <a:defRPr/>
              </a:pPr>
              <a:t>32</a:t>
            </a:fld>
            <a:endParaRPr lang="en-MY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 idx="4294967295"/>
          </p:nvPr>
        </p:nvSpPr>
        <p:spPr>
          <a:xfrm>
            <a:off x="2051720" y="274638"/>
            <a:ext cx="6696744" cy="778098"/>
          </a:xfr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GB" sz="2800" dirty="0" smtClean="0"/>
              <a:t>Computing matrix of a linear transformation</a:t>
            </a:r>
            <a:endParaRPr lang="ms-MY" sz="2800" dirty="0" smtClean="0"/>
          </a:p>
        </p:txBody>
      </p:sp>
      <p:sp>
        <p:nvSpPr>
          <p:cNvPr id="47107" name="Slide Number Placeholder 3"/>
          <p:cNvSpPr txBox="1">
            <a:spLocks noGrp="1"/>
          </p:cNvSpPr>
          <p:nvPr/>
        </p:nvSpPr>
        <p:spPr bwMode="auto">
          <a:xfrm>
            <a:off x="7543800" y="6553200"/>
            <a:ext cx="1143000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 eaLnBrk="0" hangingPunct="0">
              <a:defRPr/>
            </a:pPr>
            <a:fld id="{BAB75576-2DBB-4D2D-B27B-21FD4921D16D}" type="slidenum">
              <a:rPr lang="en-US" sz="1000" b="1">
                <a:solidFill>
                  <a:schemeClr val="bg1"/>
                </a:solidFill>
                <a:ea typeface="ＭＳ Ｐゴシック" pitchFamily="34" charset="-128"/>
                <a:cs typeface="+mn-cs"/>
              </a:rPr>
              <a:pPr algn="r" eaLnBrk="0" hangingPunct="0">
                <a:defRPr/>
              </a:pPr>
              <a:t>33</a:t>
            </a:fld>
            <a:endParaRPr lang="en-US" sz="1000" b="1">
              <a:solidFill>
                <a:schemeClr val="bg1"/>
              </a:solidFill>
              <a:ea typeface="ＭＳ Ｐゴシック" pitchFamily="34" charset="-128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95536" y="1268760"/>
            <a:ext cx="8568952" cy="156966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Based on Theorem 4.2 (module- page 116), the following steps summarize the process for finding the matrix representation of a linear transformation T:</a:t>
            </a:r>
            <a:r>
              <a:rPr lang="en-US" sz="2400" i="1" dirty="0" smtClean="0"/>
              <a:t>V</a:t>
            </a:r>
            <a:r>
              <a:rPr lang="en-US" sz="2400" dirty="0" smtClean="0">
                <a:sym typeface="Wingdings" pitchFamily="2" charset="2"/>
              </a:rPr>
              <a:t></a:t>
            </a:r>
            <a:r>
              <a:rPr lang="en-US" sz="2400" i="1" dirty="0" smtClean="0">
                <a:sym typeface="Wingdings" pitchFamily="2" charset="2"/>
              </a:rPr>
              <a:t>W</a:t>
            </a:r>
            <a:r>
              <a:rPr lang="en-US" sz="2400" dirty="0" smtClean="0">
                <a:sym typeface="Wingdings" pitchFamily="2" charset="2"/>
              </a:rPr>
              <a:t> relative to the ordered bases </a:t>
            </a:r>
            <a:r>
              <a:rPr lang="en-US" sz="2400" i="1" dirty="0" smtClean="0">
                <a:sym typeface="Wingdings" pitchFamily="2" charset="2"/>
              </a:rPr>
              <a:t>B</a:t>
            </a:r>
            <a:r>
              <a:rPr lang="en-US" sz="1400" i="1" dirty="0" smtClean="0">
                <a:sym typeface="Wingdings" pitchFamily="2" charset="2"/>
              </a:rPr>
              <a:t>1</a:t>
            </a:r>
            <a:r>
              <a:rPr lang="en-US" sz="2400" i="1" dirty="0" smtClean="0">
                <a:sym typeface="Wingdings" pitchFamily="2" charset="2"/>
              </a:rPr>
              <a:t> </a:t>
            </a:r>
            <a:r>
              <a:rPr lang="en-US" sz="2400" dirty="0" smtClean="0">
                <a:sym typeface="Wingdings" pitchFamily="2" charset="2"/>
              </a:rPr>
              <a:t>and </a:t>
            </a:r>
            <a:r>
              <a:rPr lang="en-US" sz="2400" i="1" dirty="0" smtClean="0">
                <a:sym typeface="Wingdings" pitchFamily="2" charset="2"/>
              </a:rPr>
              <a:t>B</a:t>
            </a:r>
            <a:r>
              <a:rPr lang="en-US" sz="1400" i="1" dirty="0" smtClean="0">
                <a:sym typeface="Wingdings" pitchFamily="2" charset="2"/>
              </a:rPr>
              <a:t>2</a:t>
            </a:r>
            <a:endParaRPr lang="en-US" sz="1400" i="1" dirty="0"/>
          </a:p>
        </p:txBody>
      </p:sp>
      <p:grpSp>
        <p:nvGrpSpPr>
          <p:cNvPr id="2" name="Group 9"/>
          <p:cNvGrpSpPr/>
          <p:nvPr/>
        </p:nvGrpSpPr>
        <p:grpSpPr>
          <a:xfrm>
            <a:off x="395536" y="2996952"/>
            <a:ext cx="8496944" cy="864096"/>
            <a:chOff x="395536" y="2996952"/>
            <a:chExt cx="8496944" cy="864096"/>
          </a:xfrm>
        </p:grpSpPr>
        <p:sp>
          <p:nvSpPr>
            <p:cNvPr id="7" name="TextBox 6"/>
            <p:cNvSpPr txBox="1"/>
            <p:nvPr/>
          </p:nvSpPr>
          <p:spPr>
            <a:xfrm>
              <a:off x="395536" y="2996952"/>
              <a:ext cx="8496944" cy="830997"/>
            </a:xfrm>
            <a:prstGeom prst="rect">
              <a:avLst/>
            </a:prstGeom>
            <a:solidFill>
              <a:srgbClr val="FFFF99"/>
            </a:solidFill>
          </p:spPr>
          <p:txBody>
            <a:bodyPr wrap="square" rtlCol="0">
              <a:spAutoFit/>
            </a:bodyPr>
            <a:lstStyle/>
            <a:p>
              <a:pPr marL="457200" indent="-457200">
                <a:buClr>
                  <a:srgbClr val="FF0000"/>
                </a:buClr>
                <a:buAutoNum type="arabicParenR"/>
              </a:pPr>
              <a:r>
                <a:rPr lang="en-US" sz="2400" dirty="0" smtClean="0"/>
                <a:t>For the given basis                                                                   ,</a:t>
              </a:r>
            </a:p>
            <a:p>
              <a:pPr marL="457200" indent="-457200"/>
              <a:r>
                <a:rPr lang="en-US" sz="2400" dirty="0" smtClean="0"/>
                <a:t>       compute </a:t>
              </a:r>
              <a:endParaRPr lang="en-US" sz="2400" dirty="0"/>
            </a:p>
          </p:txBody>
        </p:sp>
        <p:graphicFrame>
          <p:nvGraphicFramePr>
            <p:cNvPr id="1027" name="Object 3"/>
            <p:cNvGraphicFramePr>
              <a:graphicFrameLocks noChangeAspect="1"/>
            </p:cNvGraphicFramePr>
            <p:nvPr/>
          </p:nvGraphicFramePr>
          <p:xfrm>
            <a:off x="3319735" y="3068960"/>
            <a:ext cx="4492625" cy="401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38" name="Equation" r:id="rId3" imgW="2552700" imgH="228600" progId="Equation.3">
                    <p:embed/>
                  </p:oleObj>
                </mc:Choice>
                <mc:Fallback>
                  <p:oleObj name="Equation" r:id="rId3" imgW="2552700" imgH="228600" progId="Equation.3">
                    <p:embed/>
                    <p:pic>
                      <p:nvPicPr>
                        <p:cNvPr id="0" name="Picture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9735" y="3068960"/>
                          <a:ext cx="4492625" cy="4016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Object 8"/>
            <p:cNvGraphicFramePr>
              <a:graphicFrameLocks noChangeAspect="1"/>
            </p:cNvGraphicFramePr>
            <p:nvPr/>
          </p:nvGraphicFramePr>
          <p:xfrm>
            <a:off x="2188156" y="3429000"/>
            <a:ext cx="2455852" cy="4320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39" name="Equation" r:id="rId5" imgW="1371600" imgH="241300" progId="Equation.3">
                    <p:embed/>
                  </p:oleObj>
                </mc:Choice>
                <mc:Fallback>
                  <p:oleObj name="Equation" r:id="rId5" imgW="1371600" imgH="241300" progId="Equation.3">
                    <p:embed/>
                    <p:pic>
                      <p:nvPicPr>
                        <p:cNvPr id="0" name="Picture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88156" y="3429000"/>
                          <a:ext cx="2455852" cy="43204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TextBox 11"/>
          <p:cNvSpPr txBox="1"/>
          <p:nvPr/>
        </p:nvSpPr>
        <p:spPr>
          <a:xfrm>
            <a:off x="323528" y="4077072"/>
            <a:ext cx="8640960" cy="2308324"/>
          </a:xfrm>
          <a:prstGeom prst="rect">
            <a:avLst/>
          </a:prstGeom>
          <a:solidFill>
            <a:srgbClr val="FFFF99"/>
          </a:solidFill>
        </p:spPr>
        <p:txBody>
          <a:bodyPr wrap="square" rtlCol="0">
            <a:spAutoFit/>
          </a:bodyPr>
          <a:lstStyle/>
          <a:p>
            <a:pPr marL="457200" indent="-457200">
              <a:buClr>
                <a:srgbClr val="FF0000"/>
              </a:buClr>
              <a:buAutoNum type="arabicParenR" startAt="2"/>
            </a:pPr>
            <a:r>
              <a:rPr lang="en-US" sz="2400" dirty="0" smtClean="0"/>
              <a:t>Find the coordinate vector</a:t>
            </a:r>
          </a:p>
          <a:p>
            <a:pPr marL="457200" indent="-457200"/>
            <a:r>
              <a:rPr lang="en-US" sz="2400" dirty="0" smtClean="0"/>
              <a:t>       </a:t>
            </a:r>
          </a:p>
          <a:p>
            <a:pPr marL="457200" indent="-457200"/>
            <a:endParaRPr lang="en-US" sz="2400" dirty="0" smtClean="0"/>
          </a:p>
          <a:p>
            <a:pPr marL="457200" indent="-457200"/>
            <a:endParaRPr lang="en-US" sz="2400" dirty="0" smtClean="0"/>
          </a:p>
          <a:p>
            <a:pPr marL="457200" indent="-457200"/>
            <a:endParaRPr lang="en-US" sz="2400" dirty="0" smtClean="0"/>
          </a:p>
          <a:p>
            <a:pPr marL="457200" indent="-457200"/>
            <a:endParaRPr lang="en-US" sz="2400" dirty="0" smtClean="0"/>
          </a:p>
        </p:txBody>
      </p:sp>
      <p:graphicFrame>
        <p:nvGraphicFramePr>
          <p:cNvPr id="14" name="Object 13"/>
          <p:cNvGraphicFramePr>
            <a:graphicFrameLocks noChangeAspect="1"/>
          </p:cNvGraphicFramePr>
          <p:nvPr/>
        </p:nvGraphicFramePr>
        <p:xfrm>
          <a:off x="4211638" y="4125913"/>
          <a:ext cx="3522662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0" name="Equation" r:id="rId7" imgW="1841500" imgH="241300" progId="Equation.3">
                  <p:embed/>
                </p:oleObj>
              </mc:Choice>
              <mc:Fallback>
                <p:oleObj name="Equation" r:id="rId7" imgW="1841500" imgH="241300" progId="Equation.3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638" y="4125913"/>
                        <a:ext cx="3522662" cy="455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1" name="Object 7"/>
          <p:cNvGraphicFramePr>
            <a:graphicFrameLocks noChangeAspect="1"/>
          </p:cNvGraphicFramePr>
          <p:nvPr/>
        </p:nvGraphicFramePr>
        <p:xfrm>
          <a:off x="863600" y="4652963"/>
          <a:ext cx="7308800" cy="1427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1" name="Equation" r:id="rId9" imgW="3657600" imgH="723900" progId="Equation.3">
                  <p:embed/>
                </p:oleObj>
              </mc:Choice>
              <mc:Fallback>
                <p:oleObj name="Equation" r:id="rId9" imgW="3657600" imgH="723900" progId="Equation.3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3600" y="4652963"/>
                        <a:ext cx="7308800" cy="1427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 bwMode="auto">
          <a:xfrm>
            <a:off x="1979712" y="274638"/>
            <a:ext cx="6768752" cy="778098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Computing matrix of a linear transformation</a:t>
            </a:r>
            <a:endParaRPr kumimoji="0" lang="ms-MY" sz="2800" b="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3528" y="1412777"/>
            <a:ext cx="8496944" cy="4893647"/>
          </a:xfrm>
          <a:prstGeom prst="rect">
            <a:avLst/>
          </a:prstGeom>
          <a:solidFill>
            <a:srgbClr val="FFFF99"/>
          </a:solidFill>
        </p:spPr>
        <p:txBody>
          <a:bodyPr wrap="square" rtlCol="0">
            <a:spAutoFit/>
          </a:bodyPr>
          <a:lstStyle/>
          <a:p>
            <a:pPr marL="457200" indent="-457200">
              <a:buClr>
                <a:srgbClr val="FF0000"/>
              </a:buClr>
              <a:buFont typeface="+mj-lt"/>
              <a:buAutoNum type="arabicParenR" startAt="3"/>
            </a:pPr>
            <a:r>
              <a:rPr lang="en-US" sz="2400" dirty="0" smtClean="0"/>
              <a:t>Define the </a:t>
            </a:r>
            <a:r>
              <a:rPr lang="en-US" sz="2400" i="1" dirty="0" err="1" smtClean="0"/>
              <a:t>m</a:t>
            </a:r>
            <a:r>
              <a:rPr lang="en-US" sz="1600" dirty="0" err="1" smtClean="0"/>
              <a:t>x</a:t>
            </a:r>
            <a:r>
              <a:rPr lang="en-US" sz="2400" i="1" dirty="0" err="1" smtClean="0"/>
              <a:t>n</a:t>
            </a:r>
            <a:r>
              <a:rPr lang="en-US" sz="2400" i="1" dirty="0" smtClean="0"/>
              <a:t> </a:t>
            </a:r>
            <a:r>
              <a:rPr lang="en-US" sz="2400" dirty="0" smtClean="0"/>
              <a:t>matrix              with </a:t>
            </a:r>
            <a:r>
              <a:rPr lang="en-US" sz="2400" i="1" dirty="0" err="1" smtClean="0"/>
              <a:t>i-</a:t>
            </a:r>
            <a:r>
              <a:rPr lang="en-US" sz="2400" dirty="0" err="1" smtClean="0"/>
              <a:t>th</a:t>
            </a:r>
            <a:r>
              <a:rPr lang="en-US" sz="2400" dirty="0" smtClean="0"/>
              <a:t> column vector equal to</a:t>
            </a:r>
          </a:p>
          <a:p>
            <a:pPr marL="457200" indent="-457200">
              <a:buFont typeface="+mj-lt"/>
              <a:buAutoNum type="arabicParenR" startAt="3"/>
            </a:pPr>
            <a:endParaRPr lang="en-US" sz="2400" dirty="0" smtClean="0"/>
          </a:p>
          <a:p>
            <a:pPr marL="457200" indent="-457200">
              <a:buFont typeface="+mj-lt"/>
              <a:buAutoNum type="arabicParenR" startAt="3"/>
            </a:pPr>
            <a:endParaRPr lang="en-US" sz="2400" dirty="0" smtClean="0"/>
          </a:p>
          <a:p>
            <a:pPr marL="457200" indent="-457200">
              <a:buFont typeface="+mj-lt"/>
              <a:buAutoNum type="arabicParenR" startAt="3"/>
            </a:pPr>
            <a:endParaRPr lang="en-US" sz="2400" dirty="0" smtClean="0"/>
          </a:p>
          <a:p>
            <a:pPr marL="457200" indent="-457200">
              <a:buClr>
                <a:srgbClr val="FF0000"/>
              </a:buClr>
              <a:buFont typeface="+mj-lt"/>
              <a:buAutoNum type="arabicParenR" startAt="3"/>
            </a:pPr>
            <a:r>
              <a:rPr lang="en-US" sz="2400" dirty="0" smtClean="0"/>
              <a:t>Compute</a:t>
            </a:r>
          </a:p>
          <a:p>
            <a:pPr marL="457200" indent="-457200">
              <a:buFont typeface="+mj-lt"/>
              <a:buAutoNum type="arabicParenR" startAt="3"/>
            </a:pPr>
            <a:endParaRPr lang="en-US" sz="2400" dirty="0" smtClean="0"/>
          </a:p>
          <a:p>
            <a:pPr marL="457200" indent="-457200">
              <a:buClr>
                <a:srgbClr val="FF0000"/>
              </a:buClr>
              <a:buFont typeface="+mj-lt"/>
              <a:buAutoNum type="arabicParenR" startAt="3"/>
            </a:pPr>
            <a:r>
              <a:rPr lang="en-US" sz="2400" dirty="0" smtClean="0"/>
              <a:t>Compute the coordinates of</a:t>
            </a:r>
          </a:p>
          <a:p>
            <a:pPr marL="457200" indent="-457200">
              <a:buFont typeface="+mj-lt"/>
              <a:buAutoNum type="arabicParenR" startAt="3"/>
            </a:pPr>
            <a:endParaRPr lang="en-US" sz="2400" dirty="0" smtClean="0"/>
          </a:p>
          <a:p>
            <a:pPr marL="457200" indent="-457200">
              <a:buFont typeface="+mj-lt"/>
              <a:buAutoNum type="arabicParenR" startAt="3"/>
            </a:pPr>
            <a:endParaRPr lang="en-US" sz="2400" dirty="0" smtClean="0"/>
          </a:p>
          <a:p>
            <a:pPr marL="457200" indent="-457200">
              <a:buFont typeface="+mj-lt"/>
              <a:buAutoNum type="arabicParenR" startAt="3"/>
            </a:pPr>
            <a:endParaRPr lang="en-US" sz="2400" dirty="0" smtClean="0"/>
          </a:p>
          <a:p>
            <a:pPr marL="457200" indent="-457200">
              <a:buFont typeface="+mj-lt"/>
              <a:buAutoNum type="arabicParenR" startAt="3"/>
            </a:pPr>
            <a:endParaRPr lang="en-US" sz="2400" dirty="0" smtClean="0"/>
          </a:p>
          <a:p>
            <a:pPr marL="457200" indent="-457200">
              <a:buFont typeface="+mj-lt"/>
              <a:buAutoNum type="arabicParenR" startAt="3"/>
            </a:pPr>
            <a:endParaRPr lang="en-US" sz="2400" dirty="0" smtClean="0"/>
          </a:p>
          <a:p>
            <a:pPr marL="457200" indent="-457200">
              <a:buClr>
                <a:srgbClr val="FF0000"/>
              </a:buClr>
              <a:buFont typeface="+mj-lt"/>
              <a:buAutoNum type="arabicParenR" startAt="3"/>
            </a:pPr>
            <a:r>
              <a:rPr lang="en-US" sz="2400" dirty="0" smtClean="0"/>
              <a:t>Then,  </a:t>
            </a: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3707904" y="1412775"/>
          <a:ext cx="720080" cy="5816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0" name="Equation" r:id="rId3" imgW="330057" imgH="266584" progId="Equation.3">
                  <p:embed/>
                </p:oleObj>
              </mc:Choice>
              <mc:Fallback>
                <p:oleObj name="Equation" r:id="rId3" imgW="330057" imgH="266584" progId="Equation.3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7904" y="1412775"/>
                        <a:ext cx="720080" cy="58160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2" name="Object 4"/>
          <p:cNvGraphicFramePr>
            <a:graphicFrameLocks noChangeAspect="1"/>
          </p:cNvGraphicFramePr>
          <p:nvPr/>
        </p:nvGraphicFramePr>
        <p:xfrm>
          <a:off x="899592" y="1988840"/>
          <a:ext cx="1300163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1" name="Equation" r:id="rId5" imgW="596641" imgH="253890" progId="Equation.3">
                  <p:embed/>
                </p:oleObj>
              </mc:Choice>
              <mc:Fallback>
                <p:oleObj name="Equation" r:id="rId5" imgW="596641" imgH="253890" progId="Equation.3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1988840"/>
                        <a:ext cx="1300163" cy="5540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2123728" y="2780928"/>
          <a:ext cx="792088" cy="6543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2" name="Equation" r:id="rId7" imgW="291973" imgH="241195" progId="Equation.3">
                  <p:embed/>
                </p:oleObj>
              </mc:Choice>
              <mc:Fallback>
                <p:oleObj name="Equation" r:id="rId7" imgW="291973" imgH="241195" progId="Equation.3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3728" y="2780928"/>
                        <a:ext cx="792088" cy="65433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4499991" y="3573016"/>
          <a:ext cx="2825255" cy="4531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3" name="Equation" r:id="rId9" imgW="1345616" imgH="215806" progId="Equation.3">
                  <p:embed/>
                </p:oleObj>
              </mc:Choice>
              <mc:Fallback>
                <p:oleObj name="Equation" r:id="rId9" imgW="1345616" imgH="215806" progId="Equation.3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9991" y="3573016"/>
                        <a:ext cx="2825255" cy="45310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1835696" y="4077072"/>
          <a:ext cx="3456384" cy="17099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4" name="Equation" r:id="rId11" imgW="1701800" imgH="939800" progId="Equation.3">
                  <p:embed/>
                </p:oleObj>
              </mc:Choice>
              <mc:Fallback>
                <p:oleObj name="Equation" r:id="rId11" imgW="1701800" imgH="939800" progId="Equation.3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696" y="4077072"/>
                        <a:ext cx="3456384" cy="170992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1691680" y="5792688"/>
          <a:ext cx="3878109" cy="4446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5" name="Equation" r:id="rId13" imgW="1993900" imgH="228600" progId="Equation.3">
                  <p:embed/>
                </p:oleObj>
              </mc:Choice>
              <mc:Fallback>
                <p:oleObj name="Equation" r:id="rId13" imgW="1993900" imgH="228600" progId="Equation.3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680" y="5792688"/>
                        <a:ext cx="3878109" cy="44462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>
          <a:xfrm>
            <a:off x="1979712" y="332656"/>
            <a:ext cx="6645424" cy="792088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n-US" sz="3200" dirty="0" smtClean="0"/>
              <a:t>Example 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B0563DFB-4DD8-446E-8011-8947700F168C}" type="slidenum">
              <a:rPr lang="en-MY" smtClean="0"/>
              <a:pPr>
                <a:defRPr/>
              </a:pPr>
              <a:t>35</a:t>
            </a:fld>
            <a:endParaRPr lang="en-MY"/>
          </a:p>
        </p:txBody>
      </p:sp>
      <p:pic>
        <p:nvPicPr>
          <p:cNvPr id="3789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683568" y="1700808"/>
            <a:ext cx="7632848" cy="4104456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>
          <a:xfrm>
            <a:off x="2051720" y="188640"/>
            <a:ext cx="6645424" cy="864096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r>
              <a:rPr lang="en-US" sz="3200" dirty="0" smtClean="0"/>
              <a:t>SOLUTION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B0563DFB-4DD8-446E-8011-8947700F168C}" type="slidenum">
              <a:rPr lang="en-MY" smtClean="0"/>
              <a:pPr>
                <a:defRPr/>
              </a:pPr>
              <a:t>36</a:t>
            </a:fld>
            <a:endParaRPr lang="en-MY"/>
          </a:p>
        </p:txBody>
      </p:sp>
      <p:pic>
        <p:nvPicPr>
          <p:cNvPr id="3789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1412776"/>
            <a:ext cx="7639050" cy="46675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9F70BEAA-45B8-4162-8D60-94D415E769A6}" type="slidenum">
              <a:rPr lang="en-MY" smtClean="0"/>
              <a:pPr>
                <a:defRPr/>
              </a:pPr>
              <a:t>37</a:t>
            </a:fld>
            <a:endParaRPr lang="en-MY"/>
          </a:p>
        </p:txBody>
      </p:sp>
      <p:pic>
        <p:nvPicPr>
          <p:cNvPr id="3891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395536" y="1340768"/>
            <a:ext cx="8229600" cy="5112568"/>
          </a:xfrm>
          <a:noFill/>
        </p:spPr>
      </p:pic>
      <p:sp>
        <p:nvSpPr>
          <p:cNvPr id="5" name="Title 1"/>
          <p:cNvSpPr txBox="1">
            <a:spLocks/>
          </p:cNvSpPr>
          <p:nvPr/>
        </p:nvSpPr>
        <p:spPr bwMode="auto">
          <a:xfrm>
            <a:off x="1979712" y="260648"/>
            <a:ext cx="6717432" cy="79208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/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Solution (c</a:t>
            </a:r>
            <a:r>
              <a:rPr lang="en-US" sz="3200" dirty="0" err="1" smtClean="0"/>
              <a:t>ont</a:t>
            </a:r>
            <a:r>
              <a:rPr lang="en-US" sz="3200" dirty="0" smtClean="0"/>
              <a:t>…)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5736" y="3429000"/>
            <a:ext cx="381642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Thus by </a:t>
            </a:r>
            <a:r>
              <a:rPr lang="en-US" dirty="0" err="1" smtClean="0"/>
              <a:t>Teorem</a:t>
            </a:r>
            <a:r>
              <a:rPr lang="en-US" dirty="0" smtClean="0"/>
              <a:t> 4.2 </a:t>
            </a:r>
            <a:r>
              <a:rPr lang="en-US" sz="1600" dirty="0" smtClean="0"/>
              <a:t>(module-pg.116):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B9BF066F-5349-4C77-A7C4-3068FB779DB9}" type="slidenum">
              <a:rPr lang="en-MY" smtClean="0"/>
              <a:pPr>
                <a:defRPr/>
              </a:pPr>
              <a:t>38</a:t>
            </a:fld>
            <a:endParaRPr lang="en-MY"/>
          </a:p>
        </p:txBody>
      </p:sp>
      <p:pic>
        <p:nvPicPr>
          <p:cNvPr id="3994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571500" y="1357312"/>
            <a:ext cx="8032948" cy="4375943"/>
          </a:xfrm>
          <a:noFill/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051720" y="260648"/>
            <a:ext cx="6645424" cy="864096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n-US" sz="3200" dirty="0" smtClean="0"/>
              <a:t>Example 13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>
          <a:xfrm>
            <a:off x="2123728" y="260648"/>
            <a:ext cx="6552728" cy="720080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US" sz="3200" dirty="0" smtClean="0">
                <a:solidFill>
                  <a:schemeClr val="tx1"/>
                </a:solidFill>
              </a:rPr>
              <a:t>Solutions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B3A338DB-C9B4-496C-B113-E05BEBA9E7B4}" type="slidenum">
              <a:rPr lang="en-MY" smtClean="0"/>
              <a:pPr>
                <a:defRPr/>
              </a:pPr>
              <a:t>39</a:t>
            </a:fld>
            <a:endParaRPr lang="en-MY"/>
          </a:p>
        </p:txBody>
      </p:sp>
      <p:pic>
        <p:nvPicPr>
          <p:cNvPr id="4096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251520" y="1268760"/>
            <a:ext cx="8563849" cy="4608512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484784"/>
            <a:ext cx="8362381" cy="38884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2051720" y="260648"/>
            <a:ext cx="6552728" cy="72008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Solutions (cont..)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8B774503-D1EB-4596-A123-9994FC7C333E}" type="slidenum">
              <a:rPr lang="en-MY" smtClean="0"/>
              <a:pPr>
                <a:defRPr/>
              </a:pPr>
              <a:t>41</a:t>
            </a:fld>
            <a:endParaRPr lang="en-MY"/>
          </a:p>
        </p:txBody>
      </p:sp>
      <p:pic>
        <p:nvPicPr>
          <p:cNvPr id="4198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827584" y="1340768"/>
            <a:ext cx="7169422" cy="5058977"/>
          </a:xfrm>
          <a:noFill/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2051720" y="260648"/>
            <a:ext cx="6696744" cy="79208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Solutions (cont..)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2195736" y="332656"/>
            <a:ext cx="6501408" cy="72008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EXERCISE 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467544" y="1196752"/>
          <a:ext cx="1558528" cy="3896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8" name="Equation" r:id="rId3" imgW="812447" imgH="203112" progId="Equation.3">
                  <p:embed/>
                </p:oleObj>
              </mc:Choice>
              <mc:Fallback>
                <p:oleObj name="Equation" r:id="rId3" imgW="812447" imgH="203112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544" y="1196752"/>
                        <a:ext cx="1558528" cy="38963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1115616" y="3356992"/>
          <a:ext cx="5256584" cy="26138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9" name="Equation" r:id="rId5" imgW="1803400" imgH="736600" progId="Equation.3">
                  <p:embed/>
                </p:oleObj>
              </mc:Choice>
              <mc:Fallback>
                <p:oleObj name="Equation" r:id="rId5" imgW="1803400" imgH="73660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616" y="3356992"/>
                        <a:ext cx="5256584" cy="2613804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/>
          <p:nvPr/>
        </p:nvSpPr>
        <p:spPr>
          <a:xfrm>
            <a:off x="467544" y="1196752"/>
            <a:ext cx="828092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                       is a linear operator.</a:t>
            </a:r>
          </a:p>
          <a:p>
            <a:pPr marL="457200" indent="-457200">
              <a:buAutoNum type="alphaLcParenR"/>
            </a:pPr>
            <a:r>
              <a:rPr lang="en-US" sz="2400" dirty="0" smtClean="0"/>
              <a:t>Find the matrix representation for T relative to the standard</a:t>
            </a:r>
          </a:p>
          <a:p>
            <a:pPr marL="457200" indent="-457200"/>
            <a:r>
              <a:rPr lang="en-US" sz="2400" dirty="0" smtClean="0"/>
              <a:t>       basis for      .</a:t>
            </a:r>
          </a:p>
          <a:p>
            <a:pPr marL="457200" indent="-457200">
              <a:buAutoNum type="alphaLcParenR" startAt="2"/>
            </a:pPr>
            <a:r>
              <a:rPr lang="en-US" sz="2400" dirty="0" smtClean="0"/>
              <a:t>Find  T(v), using a direct computation and using the matrix </a:t>
            </a:r>
          </a:p>
          <a:p>
            <a:pPr marL="457200" indent="-457200"/>
            <a:r>
              <a:rPr lang="en-US" sz="2400" dirty="0" smtClean="0"/>
              <a:t>       representation.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</TotalTime>
  <Words>923</Words>
  <Application>Microsoft Office PowerPoint</Application>
  <PresentationFormat>On-screen Show (4:3)</PresentationFormat>
  <Paragraphs>254</Paragraphs>
  <Slides>42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4" baseType="lpstr">
      <vt:lpstr>Office Theme</vt:lpstr>
      <vt:lpstr>Equation</vt:lpstr>
      <vt:lpstr>PowerPoint Presentation</vt:lpstr>
      <vt:lpstr>MAPPING</vt:lpstr>
      <vt:lpstr>Example 1</vt:lpstr>
      <vt:lpstr>Example 2</vt:lpstr>
      <vt:lpstr>PowerPoint Presentation</vt:lpstr>
      <vt:lpstr>Definition</vt:lpstr>
      <vt:lpstr>Example 3 </vt:lpstr>
      <vt:lpstr>Solution</vt:lpstr>
      <vt:lpstr>Solution (cont..) </vt:lpstr>
      <vt:lpstr>Example 4</vt:lpstr>
      <vt:lpstr>Solution</vt:lpstr>
      <vt:lpstr>Example 5</vt:lpstr>
      <vt:lpstr>Remarks</vt:lpstr>
      <vt:lpstr>Properties of Linear Transformations</vt:lpstr>
      <vt:lpstr>Example 6</vt:lpstr>
      <vt:lpstr>Example 7</vt:lpstr>
      <vt:lpstr>Example 8</vt:lpstr>
      <vt:lpstr>Example 8(Sol.)</vt:lpstr>
      <vt:lpstr>Exercises</vt:lpstr>
      <vt:lpstr>The Null Space (kernel) and Range  </vt:lpstr>
      <vt:lpstr>PowerPoint Presentation</vt:lpstr>
      <vt:lpstr>Example 9</vt:lpstr>
      <vt:lpstr>Example 10</vt:lpstr>
      <vt:lpstr>Solution</vt:lpstr>
      <vt:lpstr>Theorem </vt:lpstr>
      <vt:lpstr>Example 11</vt:lpstr>
      <vt:lpstr>Solution</vt:lpstr>
      <vt:lpstr>PowerPoint Presentation</vt:lpstr>
      <vt:lpstr>Solution (cont.)</vt:lpstr>
      <vt:lpstr>Exercises </vt:lpstr>
      <vt:lpstr>Exercises </vt:lpstr>
      <vt:lpstr> Matrix Representation of a Linear Transformation </vt:lpstr>
      <vt:lpstr>Computing matrix of a linear transformation</vt:lpstr>
      <vt:lpstr>PowerPoint Presentation</vt:lpstr>
      <vt:lpstr>Example 12</vt:lpstr>
      <vt:lpstr>SOLUTION</vt:lpstr>
      <vt:lpstr>PowerPoint Presentation</vt:lpstr>
      <vt:lpstr>Example 13</vt:lpstr>
      <vt:lpstr>Solutions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feddy</dc:creator>
  <cp:lastModifiedBy>Noorfa</cp:lastModifiedBy>
  <cp:revision>34</cp:revision>
  <dcterms:created xsi:type="dcterms:W3CDTF">2013-01-02T01:15:37Z</dcterms:created>
  <dcterms:modified xsi:type="dcterms:W3CDTF">2015-04-13T04:15:25Z</dcterms:modified>
</cp:coreProperties>
</file>