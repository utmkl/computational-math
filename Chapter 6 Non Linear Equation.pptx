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0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9" d="100"/>
          <a:sy n="79" d="100"/>
        </p:scale>
        <p:origin x="-1020" y="2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4" Type="http://schemas.openxmlformats.org/officeDocument/2006/relationships/image" Target="../media/image6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0A204-FBAC-444F-B383-B3C067913AD6}" type="datetimeFigureOut">
              <a:rPr lang="en-US" smtClean="0"/>
              <a:pPr/>
              <a:t>5/10/2015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57BEB-0AD7-AC46-8B31-2B9654F079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0381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CA190-F9F4-BF4D-A920-61AED3D905C6}" type="datetimeFigureOut">
              <a:rPr lang="en-US" smtClean="0"/>
              <a:pPr/>
              <a:t>5/10/2015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155C3-F83F-3740-B975-1AEADD901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6913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273D3-0B52-400A-A251-C38E268EB588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728" y="1600200"/>
            <a:ext cx="656307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MY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C94F1-AAA0-4573-82E8-8F694A8789D0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E6AD1-D073-4DD2-A3F7-797A26A7A6E3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274638"/>
            <a:ext cx="6779096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7594D-E125-441B-91F7-5048922C9B55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274638"/>
            <a:ext cx="6707088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4B546-D2AD-4BB3-B2CD-062ABA08A7DD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8E84F-B373-40B7-88D5-2643023D1FCC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DFFF3-F96E-4744-8996-C68542A83A9E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5C052-182D-4E82-A294-615D674957A5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FF70C-81EE-4859-B773-AC269E47D9A7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842F9-6489-48BA-ABC8-484FC784E3D2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8813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BD28DC-33AA-46CC-89B4-9C19CB8FC249}" type="slidenum">
              <a:rPr lang="en-MY"/>
              <a:pPr>
                <a:defRPr/>
              </a:pPr>
              <a:t>‹#›</a:t>
            </a:fld>
            <a:endParaRPr lang="en-MY" dirty="0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908175" y="476250"/>
            <a:ext cx="66294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MY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08175" y="1600200"/>
            <a:ext cx="6778625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 smtClean="0"/>
          </a:p>
        </p:txBody>
      </p:sp>
      <p:pic>
        <p:nvPicPr>
          <p:cNvPr id="1029" name="Picture 1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36513" y="-22225"/>
            <a:ext cx="9217026" cy="690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8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0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4"/>
          <p:cNvSpPr txBox="1">
            <a:spLocks/>
          </p:cNvSpPr>
          <p:nvPr/>
        </p:nvSpPr>
        <p:spPr bwMode="auto">
          <a:xfrm>
            <a:off x="1979613" y="274638"/>
            <a:ext cx="583247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Britannic Bold" panose="020B0903060703020204" pitchFamily="34" charset="0"/>
              </a:rPr>
              <a:t>SCSI1113: COMPUTATIONAL MATHEMATICS</a:t>
            </a:r>
            <a:endParaRPr lang="en-US" altLang="en-US" sz="2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Britannic Bold" panose="020B0903060703020204" pitchFamily="34" charset="0"/>
            </a:endParaRPr>
          </a:p>
        </p:txBody>
      </p:sp>
      <p:sp>
        <p:nvSpPr>
          <p:cNvPr id="13314" name="Content Placeholder 16"/>
          <p:cNvSpPr txBox="1">
            <a:spLocks/>
          </p:cNvSpPr>
          <p:nvPr/>
        </p:nvSpPr>
        <p:spPr bwMode="auto">
          <a:xfrm>
            <a:off x="1042988" y="1844675"/>
            <a:ext cx="74898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sz="4800" dirty="0">
                <a:solidFill>
                  <a:srgbClr val="0070C0"/>
                </a:solidFill>
                <a:latin typeface="Britannic Bold" charset="0"/>
                <a:cs typeface="Arial" charset="0"/>
              </a:rPr>
              <a:t>CHAPTER </a:t>
            </a:r>
            <a:r>
              <a:rPr lang="en-US" sz="4800" dirty="0" smtClean="0">
                <a:solidFill>
                  <a:srgbClr val="0070C0"/>
                </a:solidFill>
                <a:latin typeface="Britannic Bold" charset="0"/>
                <a:cs typeface="Arial" charset="0"/>
              </a:rPr>
              <a:t>6</a:t>
            </a:r>
            <a:endParaRPr lang="en-US" sz="4800" dirty="0">
              <a:solidFill>
                <a:srgbClr val="0070C0"/>
              </a:solidFill>
              <a:latin typeface="Britannic Bold" charset="0"/>
              <a:cs typeface="Arial" charset="0"/>
            </a:endParaRPr>
          </a:p>
          <a:p>
            <a:pPr algn="ctr" eaLnBrk="1" hangingPunct="1">
              <a:buFont typeface="Arial" charset="0"/>
              <a:buNone/>
            </a:pPr>
            <a:endParaRPr lang="en-US" sz="4800" dirty="0">
              <a:latin typeface="Britannic Bold" charset="0"/>
              <a:cs typeface="Arial" charset="0"/>
            </a:endParaRPr>
          </a:p>
          <a:p>
            <a:pPr algn="ctr" eaLnBrk="1" hangingPunct="1">
              <a:buFont typeface="Arial" charset="0"/>
              <a:buNone/>
            </a:pPr>
            <a:r>
              <a:rPr lang="en-US" sz="4400" dirty="0" smtClean="0">
                <a:latin typeface="Britannic Bold" charset="0"/>
                <a:cs typeface="Arial" charset="0"/>
              </a:rPr>
              <a:t>Non-Linear Equations</a:t>
            </a:r>
            <a:endParaRPr lang="en-US" sz="4400" dirty="0">
              <a:latin typeface="Britannic Bold" charset="0"/>
              <a:cs typeface="Arial" charset="0"/>
            </a:endParaRPr>
          </a:p>
        </p:txBody>
      </p:sp>
      <p:sp>
        <p:nvSpPr>
          <p:cNvPr id="1331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0171FE21-F7A1-124A-9203-A7AFA7CEDBE1}" type="slidenum">
              <a:rPr lang="en-US" sz="1200">
                <a:solidFill>
                  <a:srgbClr val="898989"/>
                </a:solidFill>
                <a:cs typeface="Arial" charset="0"/>
              </a:rPr>
              <a:pPr eaLnBrk="1" hangingPunct="1"/>
              <a:t>1</a:t>
            </a:fld>
            <a:endParaRPr lang="en-US" sz="120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13317" name="TextBox 1"/>
          <p:cNvSpPr txBox="1">
            <a:spLocks noChangeArrowheads="1"/>
          </p:cNvSpPr>
          <p:nvPr/>
        </p:nvSpPr>
        <p:spPr bwMode="auto">
          <a:xfrm>
            <a:off x="3458771" y="6165850"/>
            <a:ext cx="2481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smtClean="0"/>
              <a:t>2014/2015 – Semester 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85816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77809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484784"/>
            <a:ext cx="7416824" cy="4525963"/>
          </a:xfrm>
        </p:spPr>
        <p:txBody>
          <a:bodyPr/>
          <a:lstStyle/>
          <a:p>
            <a:r>
              <a:rPr lang="en-US" dirty="0" smtClean="0"/>
              <a:t>6.1: Introduction</a:t>
            </a:r>
          </a:p>
          <a:p>
            <a:r>
              <a:rPr lang="en-US" dirty="0" smtClean="0"/>
              <a:t>6.2: Solution for NLE</a:t>
            </a:r>
          </a:p>
          <a:p>
            <a:r>
              <a:rPr lang="en-US" dirty="0" smtClean="0"/>
              <a:t>6.3: Intermediate Value Theorem</a:t>
            </a:r>
          </a:p>
          <a:p>
            <a:r>
              <a:rPr lang="en-US" dirty="0" smtClean="0"/>
              <a:t>6.4: Bisection Method</a:t>
            </a:r>
          </a:p>
          <a:p>
            <a:r>
              <a:rPr lang="en-US" dirty="0" smtClean="0"/>
              <a:t>6.5: False Position Method</a:t>
            </a:r>
          </a:p>
          <a:p>
            <a:r>
              <a:rPr lang="en-US" dirty="0" smtClean="0"/>
              <a:t>6.6: Secant Method</a:t>
            </a:r>
          </a:p>
          <a:p>
            <a:r>
              <a:rPr lang="en-US" dirty="0" smtClean="0"/>
              <a:t>6.7: Newton’s Method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635080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Introduction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208912" cy="4525963"/>
          </a:xfrm>
        </p:spPr>
        <p:txBody>
          <a:bodyPr/>
          <a:lstStyle/>
          <a:p>
            <a:r>
              <a:rPr lang="en-US" dirty="0" smtClean="0"/>
              <a:t>Finding a solution to an equation f(</a:t>
            </a:r>
            <a:r>
              <a:rPr lang="en-US" b="1" i="1" dirty="0" smtClean="0"/>
              <a:t>x</a:t>
            </a:r>
            <a:r>
              <a:rPr lang="en-US" dirty="0" smtClean="0"/>
              <a:t>), is finding the value of </a:t>
            </a:r>
            <a:r>
              <a:rPr lang="en-US" b="1" i="1" dirty="0" smtClean="0"/>
              <a:t>x </a:t>
            </a:r>
            <a:r>
              <a:rPr lang="en-US" dirty="0" smtClean="0"/>
              <a:t>when f(</a:t>
            </a:r>
            <a:r>
              <a:rPr lang="en-US" b="1" i="1" dirty="0" smtClean="0"/>
              <a:t>x</a:t>
            </a:r>
            <a:r>
              <a:rPr lang="en-US" dirty="0" smtClean="0"/>
              <a:t>)=0.</a:t>
            </a:r>
            <a:endParaRPr lang="ms-MY" dirty="0"/>
          </a:p>
        </p:txBody>
      </p:sp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04449" name="Object 1"/>
          <p:cNvGraphicFramePr>
            <a:graphicFrameLocks noChangeAspect="1"/>
          </p:cNvGraphicFramePr>
          <p:nvPr/>
        </p:nvGraphicFramePr>
        <p:xfrm>
          <a:off x="971600" y="2852935"/>
          <a:ext cx="1800200" cy="1670101"/>
        </p:xfrm>
        <a:graphic>
          <a:graphicData uri="http://schemas.openxmlformats.org/presentationml/2006/ole">
            <p:oleObj spid="_x0000_s1058" name="Equation" r:id="rId3" imgW="939754" imgH="889046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32584" y="3153162"/>
            <a:ext cx="4495800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0" dirty="0" smtClean="0"/>
              <a:t>For a linear equation, we can bring </a:t>
            </a:r>
            <a:r>
              <a:rPr lang="en-US" sz="2000" b="1" i="1" dirty="0" smtClean="0"/>
              <a:t>x</a:t>
            </a:r>
            <a:r>
              <a:rPr lang="en-US" sz="2000" b="0" dirty="0" smtClean="0"/>
              <a:t> to the left of equation to solve it.</a:t>
            </a:r>
            <a:endParaRPr lang="ms-MY" sz="2000" b="0" dirty="0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04453" name="Object 5"/>
          <p:cNvGraphicFramePr>
            <a:graphicFrameLocks noChangeAspect="1"/>
          </p:cNvGraphicFramePr>
          <p:nvPr/>
        </p:nvGraphicFramePr>
        <p:xfrm>
          <a:off x="6372200" y="4149080"/>
          <a:ext cx="1981200" cy="2298778"/>
        </p:xfrm>
        <a:graphic>
          <a:graphicData uri="http://schemas.openxmlformats.org/presentationml/2006/ole">
            <p:oleObj spid="_x0000_s1059" name="Equation" r:id="rId4" imgW="1282585" imgH="1498095" progId="Equation.3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71600" y="4797152"/>
            <a:ext cx="4495800" cy="10156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b="0" dirty="0" smtClean="0"/>
              <a:t>For a quadratic equation (polynomial degree=2), we can factorise it to solve the equation.</a:t>
            </a:r>
            <a:endParaRPr lang="en-GB" sz="2000" b="0" dirty="0"/>
          </a:p>
        </p:txBody>
      </p:sp>
      <p:sp>
        <p:nvSpPr>
          <p:cNvPr id="13" name="Right Arrow 12"/>
          <p:cNvSpPr/>
          <p:nvPr/>
        </p:nvSpPr>
        <p:spPr>
          <a:xfrm>
            <a:off x="2915816" y="3212976"/>
            <a:ext cx="43204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5652120" y="5013176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5C94F1-AAA0-4573-82E8-8F694A8789D0}" type="slidenum">
              <a:rPr lang="en-MY" smtClean="0"/>
              <a:pPr>
                <a:defRPr/>
              </a:pPr>
              <a:t>3</a:t>
            </a:fld>
            <a:endParaRPr lang="en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02630"/>
            <a:ext cx="6491064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Introduction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064896" cy="4525963"/>
          </a:xfrm>
        </p:spPr>
        <p:txBody>
          <a:bodyPr/>
          <a:lstStyle/>
          <a:p>
            <a:r>
              <a:rPr lang="en-US" dirty="0" smtClean="0"/>
              <a:t>How about if the equation is a polynomial with degree &gt;2?</a:t>
            </a:r>
          </a:p>
          <a:p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02896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06497" name="Object 1"/>
          <p:cNvGraphicFramePr>
            <a:graphicFrameLocks noChangeAspect="1"/>
          </p:cNvGraphicFramePr>
          <p:nvPr/>
        </p:nvGraphicFramePr>
        <p:xfrm>
          <a:off x="914400" y="3810000"/>
          <a:ext cx="3732213" cy="533400"/>
        </p:xfrm>
        <a:graphic>
          <a:graphicData uri="http://schemas.openxmlformats.org/presentationml/2006/ole">
            <p:oleObj spid="_x0000_s2082" name="Equation" r:id="rId3" imgW="1600062" imgH="228738" progId="Equation.3">
              <p:embed/>
            </p:oleObj>
          </a:graphicData>
        </a:graphic>
      </p:graphicFrame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914400" y="3048000"/>
          <a:ext cx="4800600" cy="533400"/>
        </p:xfrm>
        <a:graphic>
          <a:graphicData uri="http://schemas.openxmlformats.org/presentationml/2006/ole">
            <p:oleObj spid="_x0000_s2083" name="Equation" r:id="rId4" imgW="2056987" imgH="228738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188640"/>
            <a:ext cx="6707088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dirty="0" smtClean="0"/>
              <a:t>NLE Solution using Numerical Method</a:t>
            </a:r>
            <a:endParaRPr lang="ms-MY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496944" cy="4525963"/>
          </a:xfrm>
        </p:spPr>
        <p:txBody>
          <a:bodyPr/>
          <a:lstStyle/>
          <a:p>
            <a:r>
              <a:rPr lang="en-US" dirty="0" smtClean="0"/>
              <a:t>Two kinds of numerical method to solve NLE:</a:t>
            </a:r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charset="2"/>
              <a:buChar char="§"/>
            </a:pPr>
            <a:r>
              <a:rPr lang="en-US" dirty="0" smtClean="0"/>
              <a:t>Bracketing methods:</a:t>
            </a:r>
          </a:p>
          <a:p>
            <a:pPr lvl="2"/>
            <a:r>
              <a:rPr lang="en-US" dirty="0" smtClean="0"/>
              <a:t>Need to solve intermediate value theorem first</a:t>
            </a:r>
          </a:p>
          <a:p>
            <a:pPr lvl="2"/>
            <a:r>
              <a:rPr lang="en-US" b="1" dirty="0" smtClean="0"/>
              <a:t>Bisection Method</a:t>
            </a:r>
          </a:p>
          <a:p>
            <a:pPr lvl="2"/>
            <a:r>
              <a:rPr lang="en-US" b="1" dirty="0" smtClean="0"/>
              <a:t>False Positive Method</a:t>
            </a:r>
          </a:p>
          <a:p>
            <a:pPr marL="914400" lvl="2" indent="0">
              <a:buNone/>
            </a:pPr>
            <a:endParaRPr lang="en-US" b="1" dirty="0" smtClean="0"/>
          </a:p>
          <a:p>
            <a:pPr lvl="1">
              <a:buFont typeface="Wingdings" charset="2"/>
              <a:buChar char="§"/>
            </a:pPr>
            <a:r>
              <a:rPr lang="en-US" dirty="0" smtClean="0"/>
              <a:t>Fixed-Point iteration method</a:t>
            </a:r>
          </a:p>
          <a:p>
            <a:pPr lvl="2"/>
            <a:r>
              <a:rPr lang="en-US" b="1" dirty="0" smtClean="0"/>
              <a:t>Secant Method</a:t>
            </a:r>
          </a:p>
          <a:p>
            <a:pPr lvl="2"/>
            <a:r>
              <a:rPr lang="en-US" b="1" dirty="0" smtClean="0"/>
              <a:t>Newton’s Method</a:t>
            </a:r>
            <a:endParaRPr lang="ms-MY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02896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188640"/>
            <a:ext cx="6707088" cy="86409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Intermediate Value Theorem  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2088232"/>
          </a:xfrm>
        </p:spPr>
        <p:txBody>
          <a:bodyPr/>
          <a:lstStyle/>
          <a:p>
            <a:r>
              <a:rPr lang="en-GB" dirty="0" smtClean="0"/>
              <a:t>If f(</a:t>
            </a:r>
            <a:r>
              <a:rPr lang="en-GB" b="1" i="1" dirty="0" smtClean="0"/>
              <a:t>x</a:t>
            </a:r>
            <a:r>
              <a:rPr lang="en-GB" dirty="0" smtClean="0"/>
              <a:t>) is a continuous function at interval [</a:t>
            </a:r>
            <a:r>
              <a:rPr lang="en-GB" i="1" dirty="0" err="1" smtClean="0"/>
              <a:t>a</a:t>
            </a:r>
            <a:r>
              <a:rPr lang="en-GB" dirty="0" err="1" smtClean="0"/>
              <a:t>,</a:t>
            </a:r>
            <a:r>
              <a:rPr lang="en-GB" i="1" dirty="0" err="1" smtClean="0"/>
              <a:t>b</a:t>
            </a:r>
            <a:r>
              <a:rPr lang="en-GB" dirty="0" smtClean="0"/>
              <a:t>] and </a:t>
            </a:r>
            <a:r>
              <a:rPr lang="en-GB" i="1" dirty="0" smtClean="0"/>
              <a:t>f(a)</a:t>
            </a:r>
            <a:r>
              <a:rPr lang="en-GB" dirty="0" smtClean="0"/>
              <a:t> and </a:t>
            </a:r>
            <a:r>
              <a:rPr lang="en-GB" i="1" dirty="0" smtClean="0"/>
              <a:t>f(b)</a:t>
            </a:r>
            <a:r>
              <a:rPr lang="en-GB" dirty="0" smtClean="0"/>
              <a:t> is on opposite direction or sign, </a:t>
            </a:r>
            <a:r>
              <a:rPr lang="en-GB" b="1" i="1" dirty="0" smtClean="0"/>
              <a:t>f(a).f(b)</a:t>
            </a:r>
            <a:r>
              <a:rPr lang="en-GB" b="1" dirty="0" smtClean="0"/>
              <a:t> &lt; 0 </a:t>
            </a:r>
            <a:r>
              <a:rPr lang="en-GB" dirty="0" smtClean="0"/>
              <a:t>therefore a root, </a:t>
            </a:r>
            <a:r>
              <a:rPr lang="en-GB" b="1" i="1" dirty="0" smtClean="0">
                <a:sym typeface="Symbol"/>
              </a:rPr>
              <a:t></a:t>
            </a:r>
            <a:r>
              <a:rPr lang="en-GB" dirty="0" smtClean="0"/>
              <a:t>  is exist between the interval </a:t>
            </a:r>
            <a:r>
              <a:rPr lang="en-GB" b="1" i="1" dirty="0" smtClean="0">
                <a:sym typeface="Symbol"/>
              </a:rPr>
              <a:t></a:t>
            </a:r>
            <a:r>
              <a:rPr lang="en-GB" b="1" i="1" dirty="0" smtClean="0"/>
              <a:t> </a:t>
            </a:r>
            <a:r>
              <a:rPr lang="en-GB" dirty="0" smtClean="0"/>
              <a:t>[</a:t>
            </a:r>
            <a:r>
              <a:rPr lang="en-GB" i="1" dirty="0" err="1" smtClean="0"/>
              <a:t>a</a:t>
            </a:r>
            <a:r>
              <a:rPr lang="en-GB" dirty="0" err="1" smtClean="0"/>
              <a:t>,</a:t>
            </a:r>
            <a:r>
              <a:rPr lang="en-GB" i="1" dirty="0" err="1" smtClean="0"/>
              <a:t>b</a:t>
            </a:r>
            <a:r>
              <a:rPr lang="en-GB" dirty="0" smtClean="0"/>
              <a:t>].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6" name="Picture 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3789040"/>
            <a:ext cx="6984776" cy="2647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67544" y="1196752"/>
            <a:ext cx="2376264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smtClean="0"/>
              <a:t>Definition: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332656"/>
            <a:ext cx="6419056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1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525963"/>
          </a:xfrm>
        </p:spPr>
        <p:txBody>
          <a:bodyPr/>
          <a:lstStyle/>
          <a:p>
            <a:r>
              <a:rPr lang="en-GB" dirty="0" smtClean="0"/>
              <a:t>Using the intermediate value theorem, check whether		                      contains real root in interval:</a:t>
            </a:r>
            <a:endParaRPr lang="ms-MY" dirty="0" smtClean="0"/>
          </a:p>
          <a:p>
            <a:pPr marL="914400" lvl="1" indent="-514350">
              <a:buFont typeface="+mj-lt"/>
              <a:buAutoNum type="romanLcPeriod"/>
            </a:pPr>
            <a:r>
              <a:rPr lang="en-GB" dirty="0" smtClean="0"/>
              <a:t>[-1,0]</a:t>
            </a:r>
            <a:endParaRPr lang="ms-MY" dirty="0" smtClean="0"/>
          </a:p>
          <a:p>
            <a:pPr marL="914400" lvl="1" indent="-514350">
              <a:buFont typeface="+mj-lt"/>
              <a:buAutoNum type="romanLcPeriod"/>
            </a:pPr>
            <a:r>
              <a:rPr lang="en-GB" dirty="0" smtClean="0"/>
              <a:t>[0,1]</a:t>
            </a:r>
            <a:endParaRPr lang="ms-MY" dirty="0" smtClean="0"/>
          </a:p>
          <a:p>
            <a:pPr marL="914400" lvl="1" indent="-514350">
              <a:buFont typeface="+mj-lt"/>
              <a:buAutoNum type="romanLcPeriod"/>
            </a:pPr>
            <a:r>
              <a:rPr lang="en-GB" dirty="0" smtClean="0"/>
              <a:t>[1,2]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5344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10754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075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36933427"/>
              </p:ext>
            </p:extLst>
          </p:nvPr>
        </p:nvGraphicFramePr>
        <p:xfrm>
          <a:off x="2411760" y="2132856"/>
          <a:ext cx="2664296" cy="529183"/>
        </p:xfrm>
        <a:graphic>
          <a:graphicData uri="http://schemas.openxmlformats.org/presentationml/2006/ole">
            <p:oleObj spid="_x0000_s3091" name="Equation" r:id="rId3" imgW="1155264" imgH="228738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60648"/>
            <a:ext cx="6419056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(</a:t>
            </a:r>
            <a:r>
              <a:rPr lang="en-US" dirty="0" err="1" smtClean="0"/>
              <a:t>i</a:t>
            </a:r>
            <a:r>
              <a:rPr lang="en-US" dirty="0" smtClean="0"/>
              <a:t>): [-1,0]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111625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342900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1626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2204863"/>
            <a:ext cx="2952328" cy="2861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23528" y="5253008"/>
            <a:ext cx="8424936" cy="1200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400" dirty="0" smtClean="0"/>
              <a:t>Since both </a:t>
            </a:r>
            <a:r>
              <a:rPr lang="en-GB" sz="2400" dirty="0"/>
              <a:t>value of 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2400" dirty="0"/>
              <a:t> and 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2400" dirty="0"/>
              <a:t> </a:t>
            </a:r>
            <a:r>
              <a:rPr lang="en-GB" sz="2400" dirty="0" smtClean="0"/>
              <a:t>is negative and does not meet intermediate value theorem, so there is no real root in interval [</a:t>
            </a:r>
            <a:r>
              <a:rPr lang="en-GB" sz="2400" dirty="0" err="1" smtClean="0"/>
              <a:t>a,b</a:t>
            </a:r>
            <a:r>
              <a:rPr lang="en-GB" sz="2400" dirty="0" smtClean="0"/>
              <a:t>] that is [-1,0].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(</a:t>
            </a:r>
            <a:r>
              <a:rPr lang="en-US" dirty="0" err="1" smtClean="0"/>
              <a:t>i</a:t>
            </a:r>
            <a:r>
              <a:rPr lang="en-US" dirty="0" smtClean="0"/>
              <a:t>): [-1,0]    </a:t>
            </a:r>
            <a:r>
              <a:rPr lang="en-US" sz="2800" dirty="0" smtClean="0"/>
              <a:t>(cont.)</a:t>
            </a:r>
            <a:endParaRPr lang="ms-MY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04248" y="6525344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352929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67544" y="4365104"/>
            <a:ext cx="8424936" cy="11120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800" dirty="0" smtClean="0"/>
              <a:t>Since </a:t>
            </a:r>
            <a:r>
              <a:rPr lang="en-GB" sz="28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8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GB" sz="2800" dirty="0" smtClean="0"/>
              <a:t> </a:t>
            </a:r>
            <a:r>
              <a:rPr lang="en-GB" sz="28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) &gt; 0, </a:t>
            </a:r>
            <a:r>
              <a:rPr lang="en-GB" sz="2800" dirty="0" smtClean="0"/>
              <a:t>does not meet intermediate value theorem, we conclude that no real root in interval [-1,0].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717432" cy="79208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(ii) : [0,1]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797152"/>
            <a:ext cx="8712968" cy="1584176"/>
          </a:xfrm>
        </p:spPr>
        <p:txBody>
          <a:bodyPr/>
          <a:lstStyle/>
          <a:p>
            <a:pPr>
              <a:buNone/>
            </a:pPr>
            <a:r>
              <a:rPr lang="en-GB" sz="2400" dirty="0" smtClean="0"/>
              <a:t>Both value of 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2400" dirty="0" smtClean="0"/>
              <a:t> and 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2400" dirty="0" smtClean="0"/>
              <a:t> do not in same sign or direction, that is</a:t>
            </a:r>
          </a:p>
          <a:p>
            <a:pPr>
              <a:buNone/>
            </a:pPr>
            <a:r>
              <a:rPr lang="en-GB" sz="2400" dirty="0" smtClean="0"/>
              <a:t>both in opposite direction. Since intermediate value theorem is </a:t>
            </a:r>
          </a:p>
          <a:p>
            <a:pPr>
              <a:buNone/>
            </a:pPr>
            <a:r>
              <a:rPr lang="en-GB" sz="2400" dirty="0" smtClean="0"/>
              <a:t>meet, so there at least one real root for the continuous function 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GB" sz="2400" dirty="0" smtClean="0"/>
              <a:t>in interval [0,1].</a:t>
            </a:r>
            <a:endParaRPr lang="ms-MY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279496"/>
            <a:ext cx="3600400" cy="3548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2058152"/>
            <a:ext cx="2808312" cy="2843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74638"/>
            <a:ext cx="6491064" cy="77809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(ii): [0,1]       </a:t>
            </a:r>
            <a:r>
              <a:rPr lang="en-US" sz="2800" dirty="0" smtClean="0"/>
              <a:t>(cont.)</a:t>
            </a:r>
            <a:endParaRPr lang="ms-MY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67544" y="1340768"/>
            <a:ext cx="8424936" cy="4968552"/>
            <a:chOff x="467544" y="1340768"/>
            <a:chExt cx="8424936" cy="4968552"/>
          </a:xfrm>
        </p:grpSpPr>
        <p:pic>
          <p:nvPicPr>
            <p:cNvPr id="11469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7544" y="1340768"/>
              <a:ext cx="8340799" cy="4968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467544" y="4653136"/>
              <a:ext cx="8424936" cy="16291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GB" sz="2800" dirty="0" smtClean="0"/>
                <a:t>Since </a:t>
              </a:r>
              <a:r>
                <a:rPr lang="en-GB" sz="28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GB" sz="28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GB" sz="2800" dirty="0" smtClean="0">
                  <a:latin typeface="Times New Roman" pitchFamily="18" charset="0"/>
                  <a:cs typeface="Times New Roman" pitchFamily="18" charset="0"/>
                </a:rPr>
                <a:t>).</a:t>
              </a:r>
              <a:r>
                <a:rPr lang="en-GB" sz="2800" dirty="0" smtClean="0"/>
                <a:t> </a:t>
              </a:r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GB" sz="28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GB" sz="2800" dirty="0" smtClean="0">
                  <a:latin typeface="Times New Roman" pitchFamily="18" charset="0"/>
                  <a:cs typeface="Times New Roman" pitchFamily="18" charset="0"/>
                </a:rPr>
                <a:t>) &lt; 0, </a:t>
              </a:r>
              <a:r>
                <a:rPr lang="en-GB" sz="2800" dirty="0" smtClean="0"/>
                <a:t>meet the intermediate value theorem, we conclude that there is at least one real root in interval [0,1].</a:t>
              </a:r>
              <a:endParaRPr lang="en-US" sz="28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6064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(iii) :  [1,2]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268760"/>
            <a:ext cx="3354977" cy="305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57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21182" y="2564904"/>
            <a:ext cx="2835194" cy="2411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57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3" y="5373216"/>
            <a:ext cx="8459555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23528" y="5229200"/>
            <a:ext cx="8568952" cy="1200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400" dirty="0" smtClean="0"/>
              <a:t>Since both </a:t>
            </a:r>
            <a:r>
              <a:rPr lang="en-GB" sz="2400" dirty="0"/>
              <a:t>value of 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2400" dirty="0"/>
              <a:t> and 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2400" dirty="0"/>
              <a:t> </a:t>
            </a:r>
            <a:r>
              <a:rPr lang="en-GB" sz="2400" dirty="0" smtClean="0"/>
              <a:t>is positive and does not meet intermediate value theorem, so there is no real root in interval [</a:t>
            </a:r>
            <a:r>
              <a:rPr lang="en-GB" sz="2400" dirty="0" err="1" smtClean="0"/>
              <a:t>a,b</a:t>
            </a:r>
            <a:r>
              <a:rPr lang="en-GB" sz="2400" dirty="0" smtClean="0"/>
              <a:t>] that is [1,2].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67744" y="274638"/>
            <a:ext cx="6419056" cy="70609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(iii) :  [1,2]   </a:t>
            </a:r>
            <a:r>
              <a:rPr lang="en-US" sz="2800" dirty="0" smtClean="0"/>
              <a:t>(cont.)</a:t>
            </a:r>
            <a:endParaRPr lang="ms-MY" sz="2800" dirty="0"/>
          </a:p>
        </p:txBody>
      </p:sp>
      <p:grpSp>
        <p:nvGrpSpPr>
          <p:cNvPr id="2" name="Group 1"/>
          <p:cNvGrpSpPr/>
          <p:nvPr/>
        </p:nvGrpSpPr>
        <p:grpSpPr>
          <a:xfrm>
            <a:off x="467544" y="1340768"/>
            <a:ext cx="8424936" cy="4536504"/>
            <a:chOff x="467544" y="1340768"/>
            <a:chExt cx="8424936" cy="4536504"/>
          </a:xfrm>
        </p:grpSpPr>
        <p:pic>
          <p:nvPicPr>
            <p:cNvPr id="116739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7544" y="1340768"/>
              <a:ext cx="8136904" cy="4536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467544" y="4365104"/>
              <a:ext cx="8424936" cy="11120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GB" sz="2800" dirty="0" smtClean="0"/>
                <a:t>Since </a:t>
              </a:r>
              <a:r>
                <a:rPr lang="en-GB" sz="28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GB" sz="28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GB" sz="2800" dirty="0" smtClean="0">
                  <a:latin typeface="Times New Roman" pitchFamily="18" charset="0"/>
                  <a:cs typeface="Times New Roman" pitchFamily="18" charset="0"/>
                </a:rPr>
                <a:t>).</a:t>
              </a:r>
              <a:r>
                <a:rPr lang="en-GB" sz="2800" dirty="0" smtClean="0"/>
                <a:t> </a:t>
              </a:r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GB" sz="28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GB" sz="2800" dirty="0" smtClean="0">
                  <a:latin typeface="Times New Roman" pitchFamily="18" charset="0"/>
                  <a:cs typeface="Times New Roman" pitchFamily="18" charset="0"/>
                </a:rPr>
                <a:t>) &gt; 0, </a:t>
              </a:r>
              <a:r>
                <a:rPr lang="en-GB" sz="2800" dirty="0" smtClean="0"/>
                <a:t>does not meet intermediate value theorem, we conclude that no real root in interval [1,2].</a:t>
              </a:r>
              <a:endParaRPr lang="en-US" sz="28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60648"/>
            <a:ext cx="6419056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Bisection Method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3"/>
            <a:ext cx="8640960" cy="2016224"/>
          </a:xfrm>
        </p:spPr>
        <p:txBody>
          <a:bodyPr/>
          <a:lstStyle/>
          <a:p>
            <a:r>
              <a:rPr lang="en-US" dirty="0" smtClean="0"/>
              <a:t>Have to check intermediate value theorem first.</a:t>
            </a:r>
          </a:p>
          <a:p>
            <a:r>
              <a:rPr lang="en-GB" dirty="0" smtClean="0"/>
              <a:t>The root can be obtained through midpoint</a:t>
            </a:r>
          </a:p>
          <a:p>
            <a:pPr>
              <a:buNone/>
            </a:pPr>
            <a:r>
              <a:rPr lang="en-GB" dirty="0" smtClean="0"/>
              <a:t>     for [</a:t>
            </a:r>
            <a:r>
              <a:rPr lang="en-GB" i="1" dirty="0" err="1" smtClean="0"/>
              <a:t>a</a:t>
            </a:r>
            <a:r>
              <a:rPr lang="en-GB" dirty="0" err="1" smtClean="0"/>
              <a:t>,</a:t>
            </a:r>
            <a:r>
              <a:rPr lang="en-GB" i="1" dirty="0" err="1" smtClean="0"/>
              <a:t>b</a:t>
            </a:r>
            <a:r>
              <a:rPr lang="en-GB" dirty="0" smtClean="0"/>
              <a:t>] which is 		  </a:t>
            </a:r>
            <a:endParaRPr lang="ms-MY" dirty="0" smtClean="0"/>
          </a:p>
          <a:p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17761" name="Object 1"/>
          <p:cNvGraphicFramePr>
            <a:graphicFrameLocks noChangeAspect="1"/>
          </p:cNvGraphicFramePr>
          <p:nvPr/>
        </p:nvGraphicFramePr>
        <p:xfrm>
          <a:off x="3851920" y="2276872"/>
          <a:ext cx="1309971" cy="864096"/>
        </p:xfrm>
        <a:graphic>
          <a:graphicData uri="http://schemas.openxmlformats.org/presentationml/2006/ole">
            <p:oleObj spid="_x0000_s4115" name="Equation" r:id="rId3" imgW="609600" imgH="393539" progId="Equation.3">
              <p:embed/>
            </p:oleObj>
          </a:graphicData>
        </a:graphic>
      </p:graphicFrame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3429000"/>
            <a:ext cx="3958208" cy="292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Bisection Method   </a:t>
            </a:r>
            <a:r>
              <a:rPr lang="en-US" sz="2400" dirty="0" smtClean="0"/>
              <a:t>(cont.)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pic>
        <p:nvPicPr>
          <p:cNvPr id="1187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12776"/>
            <a:ext cx="8208912" cy="231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872" y="2708920"/>
            <a:ext cx="5256584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04801" y="4038600"/>
            <a:ext cx="3200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f(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smtClean="0"/>
              <a:t>= 0, then</a:t>
            </a:r>
            <a:r>
              <a:rPr lang="en-US" sz="2400" i="1" dirty="0" smtClean="0"/>
              <a:t> </a:t>
            </a:r>
            <a:r>
              <a:rPr lang="en-US" sz="2400" b="1" i="1" dirty="0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= root.</a:t>
            </a:r>
          </a:p>
          <a:p>
            <a:r>
              <a:rPr lang="en-US" sz="2400" dirty="0" smtClean="0"/>
              <a:t>Otherwise, compute new </a:t>
            </a:r>
            <a:r>
              <a:rPr lang="en-US" sz="2400" b="1" i="1" dirty="0" smtClean="0"/>
              <a:t>c</a:t>
            </a:r>
            <a:r>
              <a:rPr lang="en-US" sz="2400" dirty="0" smtClean="0"/>
              <a:t>:</a:t>
            </a:r>
          </a:p>
          <a:p>
            <a:endParaRPr lang="ms-MY" sz="2000" dirty="0"/>
          </a:p>
        </p:txBody>
      </p:sp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611560" y="5157192"/>
          <a:ext cx="1512168" cy="997338"/>
        </p:xfrm>
        <a:graphic>
          <a:graphicData uri="http://schemas.openxmlformats.org/presentationml/2006/ole">
            <p:oleObj spid="_x0000_s5139" name="Equation" r:id="rId5" imgW="609600" imgH="393539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7971653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>
            <a:off x="971600" y="2204864"/>
            <a:ext cx="23042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Bisection Method   </a:t>
            </a:r>
            <a:r>
              <a:rPr lang="en-US" sz="2400" dirty="0" smtClean="0"/>
              <a:t>(cont.)</a:t>
            </a:r>
            <a:endParaRPr lang="ms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339903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/>
        </p:nvCxnSpPr>
        <p:spPr>
          <a:xfrm>
            <a:off x="2483768" y="2276872"/>
            <a:ext cx="23042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Bisection Method   </a:t>
            </a:r>
            <a:r>
              <a:rPr lang="en-US" sz="2400" dirty="0" smtClean="0"/>
              <a:t>(cont.)</a:t>
            </a:r>
            <a:endParaRPr lang="ms-MY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260648"/>
            <a:ext cx="7020272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 smtClean="0"/>
              <a:t>Convergence Criteria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000" dirty="0" smtClean="0"/>
              <a:t>When the root is determined by </a:t>
            </a:r>
            <a:r>
              <a:rPr lang="en-US" sz="2000" b="1" dirty="0" smtClean="0">
                <a:solidFill>
                  <a:srgbClr val="0070C0"/>
                </a:solidFill>
              </a:rPr>
              <a:t>indirect methods</a:t>
            </a:r>
            <a:r>
              <a:rPr lang="en-US" sz="2000" dirty="0" smtClean="0"/>
              <a:t>, the real root that obtained through </a:t>
            </a:r>
            <a:r>
              <a:rPr lang="en-US" sz="2000" b="1" dirty="0" smtClean="0">
                <a:solidFill>
                  <a:srgbClr val="0070C0"/>
                </a:solidFill>
              </a:rPr>
              <a:t>iteration process </a:t>
            </a:r>
            <a:r>
              <a:rPr lang="en-US" sz="2000" dirty="0" smtClean="0"/>
              <a:t>is repeated until the root was discovered in a specified accuracy limits. 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This limit is called the </a:t>
            </a:r>
            <a:r>
              <a:rPr lang="en-US" sz="2000" b="1" dirty="0" smtClean="0">
                <a:solidFill>
                  <a:srgbClr val="FF0000"/>
                </a:solidFill>
              </a:rPr>
              <a:t>convergence criteria </a:t>
            </a:r>
            <a:r>
              <a:rPr lang="en-US" sz="2000" dirty="0" smtClean="0"/>
              <a:t>which is usually obtained by the following procedure:</a:t>
            </a:r>
            <a:endParaRPr lang="ms-MY" sz="2000" dirty="0" smtClean="0"/>
          </a:p>
          <a:p>
            <a:pPr marL="914400" lvl="1" indent="-514350">
              <a:buNone/>
            </a:pPr>
            <a:endParaRPr lang="ms-MY" sz="1600" dirty="0" smtClean="0"/>
          </a:p>
          <a:p>
            <a:pPr>
              <a:buNone/>
            </a:pPr>
            <a:r>
              <a:rPr lang="en-US" sz="2000" dirty="0" smtClean="0"/>
              <a:t>	</a:t>
            </a:r>
            <a:endParaRPr lang="ms-MY" sz="2000" dirty="0" smtClean="0"/>
          </a:p>
          <a:p>
            <a:pPr>
              <a:buNone/>
            </a:pPr>
            <a:endParaRPr lang="ms-MY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0424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3429000"/>
            <a:ext cx="7416824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lvl="1" indent="-514350">
              <a:buAutoNum type="romanL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&gt; 0. Stops when the absolute value of the</a:t>
            </a:r>
          </a:p>
          <a:p>
            <a:pPr marL="514350" lvl="1" indent="-51435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function at a point  which is less than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 |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) | &lt;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ε</a:t>
            </a:r>
            <a:endParaRPr lang="ms-MY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581128"/>
            <a:ext cx="7416824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lvl="1" indent="-514350">
              <a:buAutoNum type="romanLcParenR" startAt="2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Specify a number &gt; 0. Stops when the absolute value</a:t>
            </a:r>
          </a:p>
          <a:p>
            <a:pPr marL="514350" lvl="1" indent="-51435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of difference between two successive approximation </a:t>
            </a:r>
            <a:r>
              <a:rPr lang="en-GB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14350" lvl="1" indent="-51435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and </a:t>
            </a:r>
            <a:r>
              <a:rPr lang="en-GB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less than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/>
              <a:t>: |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/>
              <a:t> </a:t>
            </a:r>
            <a:r>
              <a:rPr lang="en-US" sz="2400" baseline="-25000" dirty="0" smtClean="0"/>
              <a:t> -  </a:t>
            </a:r>
            <a:r>
              <a:rPr lang="en-GB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dirty="0" smtClean="0"/>
              <a:t>| &lt;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ms-MY" sz="2400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r>
              <a:rPr lang="en-US" dirty="0" smtClean="0"/>
              <a:t>In addition to the above criteria, we can also use the numerator criteria for determining the number of iteration. The formula is as follows: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criteria can also be used to stop the equations that have no solution.</a:t>
            </a:r>
            <a:endParaRPr lang="ms-MY" dirty="0" smtClean="0"/>
          </a:p>
          <a:p>
            <a:endParaRPr lang="ms-MY" dirty="0" smtClean="0"/>
          </a:p>
          <a:p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21857" name="Object 1"/>
          <p:cNvGraphicFramePr>
            <a:graphicFrameLocks noChangeAspect="1"/>
          </p:cNvGraphicFramePr>
          <p:nvPr/>
        </p:nvGraphicFramePr>
        <p:xfrm>
          <a:off x="2627784" y="2996952"/>
          <a:ext cx="2016224" cy="1295772"/>
        </p:xfrm>
        <a:graphic>
          <a:graphicData uri="http://schemas.openxmlformats.org/presentationml/2006/ole">
            <p:oleObj spid="_x0000_s6163" name="Equation" r:id="rId3" imgW="609600" imgH="393539" progId="Equation.3">
              <p:embed/>
            </p:oleObj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07704" y="260648"/>
            <a:ext cx="7020272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 smtClean="0"/>
              <a:t>Convergence Criteria   </a:t>
            </a:r>
            <a:r>
              <a:rPr lang="en-GB" sz="2400" dirty="0" smtClean="0"/>
              <a:t>(cont.)</a:t>
            </a:r>
            <a:endParaRPr lang="ms-MY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2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1239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56928"/>
            <a:ext cx="835292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539952"/>
            <a:ext cx="8360758" cy="1921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/>
        </p:nvCxnSpPr>
        <p:spPr>
          <a:xfrm>
            <a:off x="395536" y="2492896"/>
            <a:ext cx="8280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80312" y="4149080"/>
            <a:ext cx="151216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Solution</a:t>
            </a:r>
            <a:endParaRPr lang="en-US" b="1" dirty="0"/>
          </a:p>
        </p:txBody>
      </p:sp>
      <p:sp>
        <p:nvSpPr>
          <p:cNvPr id="9" name="Right Brace 8"/>
          <p:cNvSpPr/>
          <p:nvPr/>
        </p:nvSpPr>
        <p:spPr>
          <a:xfrm>
            <a:off x="7020272" y="2564904"/>
            <a:ext cx="432048" cy="3600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40768"/>
            <a:ext cx="8892480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2</a:t>
            </a:r>
            <a:r>
              <a:rPr lang="en-US" sz="2800" dirty="0" smtClean="0"/>
              <a:t>       (cont.)</a:t>
            </a:r>
            <a:endParaRPr lang="ms-MY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2</a:t>
            </a:r>
            <a:r>
              <a:rPr lang="en-US" sz="2800" dirty="0" smtClean="0"/>
              <a:t>       (cont.)</a:t>
            </a:r>
            <a:endParaRPr lang="ms-MY" sz="2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" y="1047750"/>
            <a:ext cx="815340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19896" y="509942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0.802</a:t>
            </a:r>
            <a:endParaRPr lang="en-US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188640"/>
            <a:ext cx="6501408" cy="86409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False Position Method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/>
          <a:lstStyle/>
          <a:p>
            <a:r>
              <a:rPr lang="en-GB" dirty="0" smtClean="0"/>
              <a:t>This method is modification of the Bisection method and converges more rapidly than the Bisection method.</a:t>
            </a:r>
          </a:p>
          <a:p>
            <a:r>
              <a:rPr lang="en-GB" dirty="0" smtClean="0"/>
              <a:t>Starts with two points </a:t>
            </a:r>
            <a:r>
              <a:rPr lang="en-GB" i="1" dirty="0" smtClean="0"/>
              <a:t>a </a:t>
            </a:r>
            <a:r>
              <a:rPr lang="en-GB" dirty="0" smtClean="0"/>
              <a:t>and </a:t>
            </a:r>
            <a:r>
              <a:rPr lang="en-GB" i="1" dirty="0" smtClean="0"/>
              <a:t>b </a:t>
            </a:r>
            <a:r>
              <a:rPr lang="en-GB" dirty="0" smtClean="0"/>
              <a:t>such that </a:t>
            </a:r>
            <a:r>
              <a:rPr lang="en-GB" i="1" dirty="0" smtClean="0"/>
              <a:t>f(a)</a:t>
            </a:r>
            <a:r>
              <a:rPr lang="en-GB" dirty="0" smtClean="0"/>
              <a:t> and </a:t>
            </a:r>
            <a:r>
              <a:rPr lang="en-GB" i="1" dirty="0" smtClean="0"/>
              <a:t>f(b)</a:t>
            </a:r>
            <a:r>
              <a:rPr lang="en-GB" dirty="0" smtClean="0"/>
              <a:t> are of opposite signs, which implies by the intermediate value theorem that the function has a root in the interval.</a:t>
            </a:r>
          </a:p>
          <a:p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4824536" cy="5040560"/>
          </a:xfrm>
        </p:spPr>
        <p:txBody>
          <a:bodyPr/>
          <a:lstStyle/>
          <a:p>
            <a:r>
              <a:rPr lang="en-GB" sz="2800" dirty="0" smtClean="0"/>
              <a:t>It finds the root from linear interpolation using points </a:t>
            </a:r>
            <a:r>
              <a:rPr lang="en-GB" sz="2800" i="1" dirty="0" smtClean="0">
                <a:solidFill>
                  <a:srgbClr val="00B0F0"/>
                </a:solidFill>
              </a:rPr>
              <a:t>a</a:t>
            </a:r>
            <a:r>
              <a:rPr lang="en-GB" sz="2800" i="1" dirty="0" smtClean="0"/>
              <a:t> </a:t>
            </a:r>
            <a:r>
              <a:rPr lang="en-GB" sz="2800" dirty="0" smtClean="0"/>
              <a:t>and </a:t>
            </a:r>
            <a:r>
              <a:rPr lang="en-GB" sz="2800" i="1" dirty="0" smtClean="0">
                <a:solidFill>
                  <a:srgbClr val="00B0F0"/>
                </a:solidFill>
              </a:rPr>
              <a:t>b</a:t>
            </a:r>
            <a:r>
              <a:rPr lang="en-GB" sz="2800" i="1" dirty="0" smtClean="0"/>
              <a:t> </a:t>
            </a:r>
            <a:r>
              <a:rPr lang="en-GB" sz="2800" dirty="0" smtClean="0"/>
              <a:t>or obtains an equation of a straight line connecting </a:t>
            </a:r>
            <a:r>
              <a:rPr lang="en-GB" sz="2800" i="1" dirty="0" smtClean="0"/>
              <a:t>f(a)</a:t>
            </a:r>
            <a:r>
              <a:rPr lang="en-GB" sz="2800" dirty="0" smtClean="0"/>
              <a:t> and </a:t>
            </a:r>
            <a:r>
              <a:rPr lang="en-GB" sz="2800" i="1" dirty="0" smtClean="0"/>
              <a:t>f(b)</a:t>
            </a:r>
            <a:r>
              <a:rPr lang="en-GB" sz="2800" dirty="0" smtClean="0"/>
              <a:t>.  </a:t>
            </a:r>
          </a:p>
          <a:p>
            <a:r>
              <a:rPr lang="en-GB" sz="2800" dirty="0" smtClean="0"/>
              <a:t>The root is the point where the straight line cuts the x-axis. The process of finding the root is continued until it reaches the required accuracy.</a:t>
            </a:r>
            <a:endParaRPr lang="ms-MY" sz="2800" dirty="0" smtClean="0"/>
          </a:p>
          <a:p>
            <a:pPr>
              <a:buNone/>
            </a:pP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46435" name="Object 3"/>
          <p:cNvGraphicFramePr>
            <a:graphicFrameLocks noChangeAspect="1"/>
          </p:cNvGraphicFramePr>
          <p:nvPr/>
        </p:nvGraphicFramePr>
        <p:xfrm>
          <a:off x="5364088" y="1412776"/>
          <a:ext cx="3521454" cy="2476872"/>
        </p:xfrm>
        <a:graphic>
          <a:graphicData uri="http://schemas.openxmlformats.org/presentationml/2006/ole">
            <p:oleObj spid="_x0000_s7202" name="Bitmap Image" r:id="rId3" imgW="5942857" imgH="5133333" progId="PBrush">
              <p:embed/>
            </p:oleObj>
          </a:graphicData>
        </a:graphic>
      </p:graphicFrame>
      <p:sp>
        <p:nvSpPr>
          <p:cNvPr id="8" name="Rectangle 7"/>
          <p:cNvSpPr/>
          <p:nvPr/>
        </p:nvSpPr>
        <p:spPr>
          <a:xfrm>
            <a:off x="5364088" y="4005064"/>
            <a:ext cx="3528392" cy="101566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 smtClean="0"/>
              <a:t>Root of</a:t>
            </a:r>
            <a:r>
              <a:rPr lang="en-GB" sz="2000" i="1" dirty="0" smtClean="0"/>
              <a:t> f(x)</a:t>
            </a:r>
            <a:r>
              <a:rPr lang="en-GB" sz="2000" dirty="0" smtClean="0"/>
              <a:t> can be obtained using False Position Method by the following formula:</a:t>
            </a:r>
            <a:endParaRPr lang="ms-MY" sz="2000" dirty="0" smtClean="0"/>
          </a:p>
        </p:txBody>
      </p:sp>
      <p:graphicFrame>
        <p:nvGraphicFramePr>
          <p:cNvPr id="146436" name="Object 4"/>
          <p:cNvGraphicFramePr>
            <a:graphicFrameLocks noChangeAspect="1"/>
          </p:cNvGraphicFramePr>
          <p:nvPr/>
        </p:nvGraphicFramePr>
        <p:xfrm>
          <a:off x="5796136" y="5229200"/>
          <a:ext cx="2656628" cy="936104"/>
        </p:xfrm>
        <a:graphic>
          <a:graphicData uri="http://schemas.openxmlformats.org/presentationml/2006/ole">
            <p:oleObj spid="_x0000_s7203" name="Equation" r:id="rId4" imgW="1194014" imgH="419146" progId="Equation.3">
              <p:embed/>
            </p:oleObj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28" y="188640"/>
            <a:ext cx="6573416" cy="86409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False Position Method  </a:t>
            </a:r>
            <a:r>
              <a:rPr lang="en-US" sz="2400" dirty="0" smtClean="0"/>
              <a:t>(cont.)</a:t>
            </a:r>
            <a:endParaRPr lang="ms-MY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3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229600" cy="1296144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    Given 			 , obtain the root using False Position Method over an interval [0,1].</a:t>
            </a:r>
          </a:p>
          <a:p>
            <a:pPr>
              <a:buNone/>
            </a:pPr>
            <a:r>
              <a:rPr lang="en-GB" dirty="0" smtClean="0"/>
              <a:t> </a:t>
            </a:r>
          </a:p>
          <a:p>
            <a:pPr lvl="1">
              <a:buNone/>
            </a:pP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47457" name="Object 1"/>
          <p:cNvGraphicFramePr>
            <a:graphicFrameLocks noChangeAspect="1"/>
          </p:cNvGraphicFramePr>
          <p:nvPr/>
        </p:nvGraphicFramePr>
        <p:xfrm>
          <a:off x="1835696" y="1340768"/>
          <a:ext cx="2454770" cy="381001"/>
        </p:xfrm>
        <a:graphic>
          <a:graphicData uri="http://schemas.openxmlformats.org/presentationml/2006/ole">
            <p:oleObj spid="_x0000_s8226" name="Equation" r:id="rId3" imgW="1523449" imgH="228738" progId="Equation.3">
              <p:embed/>
            </p:oleObj>
          </a:graphicData>
        </a:graphic>
      </p:graphicFrame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sp>
        <p:nvSpPr>
          <p:cNvPr id="1474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pSp>
        <p:nvGrpSpPr>
          <p:cNvPr id="5" name="Group 14"/>
          <p:cNvGrpSpPr/>
          <p:nvPr/>
        </p:nvGrpSpPr>
        <p:grpSpPr>
          <a:xfrm>
            <a:off x="395536" y="2708920"/>
            <a:ext cx="8568952" cy="3323987"/>
            <a:chOff x="395536" y="2708920"/>
            <a:chExt cx="8568952" cy="3323987"/>
          </a:xfrm>
        </p:grpSpPr>
        <p:sp>
          <p:nvSpPr>
            <p:cNvPr id="14" name="TextBox 13"/>
            <p:cNvSpPr txBox="1"/>
            <p:nvPr/>
          </p:nvSpPr>
          <p:spPr>
            <a:xfrm>
              <a:off x="395536" y="2708920"/>
              <a:ext cx="8568952" cy="3323987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GB" sz="3200" b="1" i="1" dirty="0" smtClean="0">
                  <a:solidFill>
                    <a:srgbClr val="00B0F0"/>
                  </a:solidFill>
                </a:rPr>
                <a:t>Solution:</a:t>
              </a:r>
            </a:p>
            <a:p>
              <a:pPr>
                <a:buFont typeface="Arial" pitchFamily="34" charset="0"/>
                <a:buChar char="•"/>
              </a:pPr>
              <a:r>
                <a:rPr lang="en-GB" sz="3200" dirty="0" smtClean="0"/>
                <a:t> Examine whether the function meets the CLT.</a:t>
              </a:r>
            </a:p>
            <a:p>
              <a:pPr>
                <a:buFont typeface="Arial" pitchFamily="34" charset="0"/>
                <a:buChar char="•"/>
              </a:pPr>
              <a:r>
                <a:rPr lang="en-GB" sz="3200" dirty="0"/>
                <a:t> </a:t>
              </a:r>
              <a:r>
                <a:rPr lang="en-GB" sz="3200" dirty="0" smtClean="0"/>
                <a:t>Similar to Example 6.3,  equation</a:t>
              </a:r>
            </a:p>
            <a:p>
              <a:pPr>
                <a:buNone/>
              </a:pPr>
              <a:r>
                <a:rPr lang="en-GB" sz="3200" dirty="0" smtClean="0"/>
                <a:t>   has opposite signs of </a:t>
              </a:r>
              <a:r>
                <a:rPr lang="en-GB" sz="3200" i="1" dirty="0" smtClean="0"/>
                <a:t>f(a)</a:t>
              </a:r>
              <a:r>
                <a:rPr lang="en-GB" sz="3200" dirty="0" smtClean="0"/>
                <a:t> and </a:t>
              </a:r>
              <a:r>
                <a:rPr lang="en-GB" sz="3200" i="1" dirty="0" smtClean="0"/>
                <a:t>f(b)</a:t>
              </a:r>
              <a:r>
                <a:rPr lang="en-GB" sz="3200" dirty="0" smtClean="0"/>
                <a:t> values.</a:t>
              </a:r>
            </a:p>
            <a:p>
              <a:pPr>
                <a:buNone/>
              </a:pPr>
              <a:r>
                <a:rPr lang="en-GB" sz="3200" dirty="0"/>
                <a:t> </a:t>
              </a:r>
              <a:r>
                <a:rPr lang="en-GB" sz="3200" dirty="0" smtClean="0"/>
                <a:t>  Therefore, it cuts x-axis at least at one point</a:t>
              </a:r>
            </a:p>
            <a:p>
              <a:pPr>
                <a:buNone/>
              </a:pPr>
              <a:r>
                <a:rPr lang="en-GB" sz="3200" dirty="0"/>
                <a:t> </a:t>
              </a:r>
              <a:r>
                <a:rPr lang="en-GB" sz="3200" dirty="0" smtClean="0"/>
                <a:t>  over [0,1] interval.</a:t>
              </a:r>
            </a:p>
            <a:p>
              <a:endParaRPr lang="en-US" dirty="0"/>
            </a:p>
          </p:txBody>
        </p:sp>
        <p:graphicFrame>
          <p:nvGraphicFramePr>
            <p:cNvPr id="147461" name="Object 5"/>
            <p:cNvGraphicFramePr>
              <a:graphicFrameLocks noChangeAspect="1"/>
            </p:cNvGraphicFramePr>
            <p:nvPr/>
          </p:nvGraphicFramePr>
          <p:xfrm>
            <a:off x="6156176" y="3789040"/>
            <a:ext cx="2783109" cy="432048"/>
          </p:xfrm>
          <a:graphic>
            <a:graphicData uri="http://schemas.openxmlformats.org/presentationml/2006/ole">
              <p:oleObj spid="_x0000_s8227" name="Equation" r:id="rId4" imgW="1523449" imgH="228738" progId="Equation.3">
                <p:embed/>
              </p:oleObj>
            </a:graphicData>
          </a:graphic>
        </p:graphicFrame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51720" y="274638"/>
            <a:ext cx="6635080" cy="7780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Example 4     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(cont.)</a:t>
            </a:r>
            <a:endParaRPr kumimoji="0" lang="ms-MY" sz="2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1340768"/>
            <a:ext cx="828092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dirty="0"/>
              <a:t> </a:t>
            </a:r>
            <a:r>
              <a:rPr lang="en-GB" sz="2800" dirty="0" smtClean="0"/>
              <a:t>Since the accuracy of the solution is in 2 </a:t>
            </a:r>
            <a:r>
              <a:rPr lang="en-GB" sz="2800" dirty="0" err="1" smtClean="0"/>
              <a:t>d.p</a:t>
            </a:r>
            <a:r>
              <a:rPr lang="en-GB" sz="2800" dirty="0"/>
              <a:t>,</a:t>
            </a:r>
            <a:r>
              <a:rPr lang="en-GB" sz="2800" dirty="0" smtClean="0"/>
              <a:t> thus</a:t>
            </a:r>
          </a:p>
          <a:p>
            <a:pPr marL="0" lvl="1">
              <a:buFont typeface="Arial" pitchFamily="34" charset="0"/>
              <a:buChar char="•"/>
            </a:pPr>
            <a:endParaRPr lang="en-GB" sz="2800" dirty="0"/>
          </a:p>
          <a:p>
            <a:pPr marL="0" lvl="1">
              <a:buFont typeface="Arial" pitchFamily="34" charset="0"/>
              <a:buChar char="•"/>
            </a:pPr>
            <a:endParaRPr lang="en-GB" sz="2800" dirty="0" smtClean="0"/>
          </a:p>
          <a:p>
            <a:pPr marL="0" lvl="1">
              <a:buFont typeface="Arial" pitchFamily="34" charset="0"/>
              <a:buChar char="•"/>
            </a:pPr>
            <a:endParaRPr lang="en-GB" sz="2800" dirty="0"/>
          </a:p>
          <a:p>
            <a:pPr marL="0" lvl="1">
              <a:buFont typeface="Arial" pitchFamily="34" charset="0"/>
              <a:buChar char="•"/>
            </a:pPr>
            <a:r>
              <a:rPr lang="en-GB" sz="2800" dirty="0" smtClean="0"/>
              <a:t> Using False Position Method,</a:t>
            </a:r>
          </a:p>
          <a:p>
            <a:endParaRPr lang="en-US" dirty="0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259632" y="1916831"/>
          <a:ext cx="2592288" cy="783281"/>
        </p:xfrm>
        <a:graphic>
          <a:graphicData uri="http://schemas.openxmlformats.org/presentationml/2006/ole">
            <p:oleObj spid="_x0000_s9250" name="Equation" r:id="rId3" imgW="1282585" imgH="393539" progId="Equation.3">
              <p:embed/>
            </p:oleObj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403648" y="3645024"/>
          <a:ext cx="2808312" cy="2571848"/>
        </p:xfrm>
        <a:graphic>
          <a:graphicData uri="http://schemas.openxmlformats.org/presentationml/2006/ole">
            <p:oleObj spid="_x0000_s9251" name="Equation" r:id="rId4" imgW="1194014" imgH="1092537" progId="Equation.3">
              <p:embed/>
            </p:oleObj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8E84F-B373-40B7-88D5-2643023D1FCC}" type="slidenum">
              <a:rPr lang="en-MY" smtClean="0"/>
              <a:pPr>
                <a:defRPr/>
              </a:pPr>
              <a:t>26</a:t>
            </a:fld>
            <a:endParaRPr lang="en-MY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148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268760"/>
            <a:ext cx="8136904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051720" y="274638"/>
            <a:ext cx="6635080" cy="7780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Example 4     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(cont.)</a:t>
            </a:r>
            <a:endParaRPr kumimoji="0" lang="ms-MY" sz="2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96752"/>
            <a:ext cx="8352928" cy="2026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284984"/>
            <a:ext cx="8352928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950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5229200"/>
            <a:ext cx="835292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051720" y="274638"/>
            <a:ext cx="6635080" cy="7780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Example 4     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(cont.)</a:t>
            </a:r>
            <a:endParaRPr kumimoji="0" lang="ms-MY" sz="2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51720" y="274638"/>
            <a:ext cx="6635080" cy="7780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EXERCISE</a:t>
            </a:r>
            <a:endParaRPr kumimoji="0" lang="ms-MY" sz="2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23528" y="1276218"/>
            <a:ext cx="8229600" cy="5177118"/>
            <a:chOff x="323528" y="1348226"/>
            <a:chExt cx="8229600" cy="5177118"/>
          </a:xfrm>
        </p:grpSpPr>
        <p:sp>
          <p:nvSpPr>
            <p:cNvPr id="4" name="Content Placeholder 2"/>
            <p:cNvSpPr txBox="1">
              <a:spLocks/>
            </p:cNvSpPr>
            <p:nvPr/>
          </p:nvSpPr>
          <p:spPr>
            <a:xfrm>
              <a:off x="323528" y="1412776"/>
              <a:ext cx="8229600" cy="5112568"/>
            </a:xfrm>
            <a:prstGeom prst="rect">
              <a:avLst/>
            </a:prstGeom>
          </p:spPr>
          <p:txBody>
            <a:bodyPr/>
            <a:lstStyle/>
            <a:p>
              <a:pPr marL="342900" lvl="0" indent="-342900" eaLnBrk="0" hangingPunct="0">
                <a:spcBef>
                  <a:spcPct val="20000"/>
                </a:spcBef>
              </a:pPr>
              <a:r>
                <a:rPr kumimoji="0" lang="en-GB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+mn-cs"/>
                </a:rPr>
                <a:t>Given a non linear function, </a:t>
              </a:r>
            </a:p>
            <a:p>
              <a:pPr marL="514350" lvl="0" indent="-514350" eaLnBrk="0" hangingPunct="0">
                <a:spcBef>
                  <a:spcPct val="20000"/>
                </a:spcBef>
                <a:buAutoNum type="alphaLcParenR"/>
              </a:pPr>
              <a:r>
                <a:rPr lang="en-GB" sz="2800" dirty="0" smtClean="0">
                  <a:latin typeface="+mn-lt"/>
                  <a:cs typeface="+mn-cs"/>
                </a:rPr>
                <a:t>Using intermediate value theorem, check whether there is a root in the following interval:</a:t>
              </a:r>
            </a:p>
            <a:p>
              <a:pPr marL="514350" lvl="0" indent="-514350" eaLnBrk="0" hangingPunct="0">
                <a:spcBef>
                  <a:spcPct val="20000"/>
                </a:spcBef>
              </a:pPr>
              <a:r>
                <a:rPr lang="en-GB" sz="2800" dirty="0" smtClean="0">
                  <a:latin typeface="+mn-lt"/>
                  <a:cs typeface="+mn-cs"/>
                </a:rPr>
                <a:t>      </a:t>
              </a:r>
              <a:r>
                <a:rPr lang="en-GB" sz="2800" dirty="0" err="1" smtClean="0">
                  <a:latin typeface="+mn-lt"/>
                  <a:cs typeface="+mn-cs"/>
                </a:rPr>
                <a:t>i</a:t>
              </a:r>
              <a:r>
                <a:rPr lang="en-GB" sz="2800" dirty="0" smtClean="0">
                  <a:latin typeface="+mn-lt"/>
                  <a:cs typeface="+mn-cs"/>
                </a:rPr>
                <a:t>) [1, 1.25]</a:t>
              </a:r>
            </a:p>
            <a:p>
              <a:pPr marL="514350" lvl="0" indent="-514350" eaLnBrk="0" hangingPunct="0">
                <a:spcBef>
                  <a:spcPct val="20000"/>
                </a:spcBef>
              </a:pPr>
              <a:r>
                <a:rPr lang="en-GB" sz="2800" dirty="0" smtClean="0">
                  <a:latin typeface="+mn-lt"/>
                  <a:cs typeface="+mn-cs"/>
                </a:rPr>
                <a:t>     ii) [0.75, 1] </a:t>
              </a:r>
            </a:p>
            <a:p>
              <a:pPr marL="514350" lvl="0" indent="-514350" eaLnBrk="0" hangingPunct="0">
                <a:spcBef>
                  <a:spcPct val="20000"/>
                </a:spcBef>
              </a:pPr>
              <a:r>
                <a:rPr lang="en-GB" sz="2800" dirty="0" smtClean="0">
                  <a:latin typeface="+mn-lt"/>
                  <a:cs typeface="+mn-cs"/>
                </a:rPr>
                <a:t>b) Based on the interval in (a), find the root at 3 </a:t>
              </a:r>
              <a:r>
                <a:rPr lang="en-GB" sz="2800" dirty="0" err="1" smtClean="0">
                  <a:latin typeface="+mn-lt"/>
                  <a:cs typeface="+mn-cs"/>
                </a:rPr>
                <a:t>d.p</a:t>
              </a:r>
              <a:r>
                <a:rPr lang="en-GB" sz="2800" dirty="0" smtClean="0">
                  <a:latin typeface="+mn-lt"/>
                  <a:cs typeface="+mn-cs"/>
                </a:rPr>
                <a:t> using </a:t>
              </a:r>
            </a:p>
            <a:p>
              <a:pPr marL="571500" lvl="0" indent="-571500" eaLnBrk="0" hangingPunct="0">
                <a:spcBef>
                  <a:spcPct val="20000"/>
                </a:spcBef>
              </a:pPr>
              <a:r>
                <a:rPr lang="en-GB" sz="2800" dirty="0" smtClean="0"/>
                <a:t>      </a:t>
              </a:r>
              <a:r>
                <a:rPr lang="en-GB" sz="2800" dirty="0" err="1" smtClean="0"/>
                <a:t>i</a:t>
              </a:r>
              <a:r>
                <a:rPr lang="en-GB" sz="2800" dirty="0" smtClean="0"/>
                <a:t>) Bisection method</a:t>
              </a:r>
            </a:p>
            <a:p>
              <a:pPr marL="571500" lvl="0" indent="-571500" eaLnBrk="0" hangingPunct="0">
                <a:spcBef>
                  <a:spcPct val="20000"/>
                </a:spcBef>
              </a:pPr>
              <a:r>
                <a:rPr kumimoji="0" lang="en-GB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+mn-cs"/>
                </a:rPr>
                <a:t>      ii) False position method</a:t>
              </a:r>
            </a:p>
            <a:p>
              <a:pPr marL="571500" lvl="0" indent="-571500" eaLnBrk="0" hangingPunct="0">
                <a:spcBef>
                  <a:spcPct val="20000"/>
                </a:spcBef>
              </a:pPr>
              <a:endPara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en-GB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+mn-cs"/>
                </a:rPr>
                <a:t> </a:t>
              </a:r>
            </a:p>
            <a:p>
              <a:pPr marL="742950" marR="0" lvl="1" indent="-28575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ms-MY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endParaRPr>
            </a:p>
          </p:txBody>
        </p:sp>
        <p:graphicFrame>
          <p:nvGraphicFramePr>
            <p:cNvPr id="5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88221888"/>
                </p:ext>
              </p:extLst>
            </p:nvPr>
          </p:nvGraphicFramePr>
          <p:xfrm>
            <a:off x="4572000" y="1348226"/>
            <a:ext cx="2719585" cy="568606"/>
          </p:xfrm>
          <a:graphic>
            <a:graphicData uri="http://schemas.openxmlformats.org/presentationml/2006/ole">
              <p:oleObj spid="_x0000_s13331" name="Equation" r:id="rId3" imgW="1129910" imgH="228738" progId="Equation.3">
                <p:embed/>
              </p:oleObj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E8E84F-B373-40B7-88D5-2643023D1FCC}" type="slidenum">
              <a:rPr lang="en-MY" smtClean="0"/>
              <a:pPr>
                <a:defRPr/>
              </a:pPr>
              <a:t>29</a:t>
            </a:fld>
            <a:endParaRPr lang="en-MY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188640"/>
            <a:ext cx="6491064" cy="85010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Secant Method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5"/>
            <a:ext cx="8229600" cy="1296144"/>
          </a:xfrm>
        </p:spPr>
        <p:txBody>
          <a:bodyPr/>
          <a:lstStyle/>
          <a:p>
            <a:r>
              <a:rPr lang="en-GB" dirty="0" smtClean="0"/>
              <a:t>A graphical representation on how the secant method working is shown in figure (a).  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150530" name="Picture 23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132856"/>
            <a:ext cx="3384376" cy="2423044"/>
          </a:xfrm>
          <a:prstGeom prst="rect">
            <a:avLst/>
          </a:prstGeom>
          <a:noFill/>
        </p:spPr>
      </p:pic>
      <p:pic>
        <p:nvPicPr>
          <p:cNvPr id="1505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797152"/>
            <a:ext cx="820891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131840" y="436510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Figure (a)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136904" cy="3657600"/>
          </a:xfrm>
        </p:spPr>
        <p:txBody>
          <a:bodyPr/>
          <a:lstStyle/>
          <a:p>
            <a:r>
              <a:rPr lang="en-US" dirty="0" smtClean="0"/>
              <a:t>Sometimes, the method can diverge instead of converge (see example – Fig.(b)).</a:t>
            </a:r>
          </a:p>
          <a:p>
            <a:r>
              <a:rPr lang="en-GB" dirty="0" smtClean="0"/>
              <a:t>Swapping the two initial guesses </a:t>
            </a:r>
            <a:r>
              <a:rPr lang="en-GB" i="1" dirty="0" smtClean="0"/>
              <a:t>x</a:t>
            </a:r>
            <a:r>
              <a:rPr lang="en-GB" baseline="-25000" dirty="0" smtClean="0"/>
              <a:t>0</a:t>
            </a:r>
            <a:r>
              <a:rPr lang="en-GB" dirty="0" smtClean="0"/>
              <a:t> and </a:t>
            </a:r>
            <a:r>
              <a:rPr lang="en-GB" i="1" dirty="0" smtClean="0"/>
              <a:t>x</a:t>
            </a:r>
            <a:r>
              <a:rPr lang="en-GB" baseline="-25000" dirty="0" smtClean="0"/>
              <a:t>1</a:t>
            </a:r>
            <a:r>
              <a:rPr lang="en-GB" dirty="0" smtClean="0"/>
              <a:t> may change the behaviour of the method from divergent to convergent.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151554" name="Picture 23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3789040"/>
            <a:ext cx="3335504" cy="2232248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23728" y="260648"/>
            <a:ext cx="6563072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Secant Method     </a:t>
            </a:r>
            <a:r>
              <a:rPr lang="en-US" sz="2400" dirty="0" smtClean="0"/>
              <a:t>(cont.)</a:t>
            </a:r>
            <a:endParaRPr lang="ms-MY" dirty="0"/>
          </a:p>
        </p:txBody>
      </p:sp>
      <p:sp>
        <p:nvSpPr>
          <p:cNvPr id="7" name="TextBox 6"/>
          <p:cNvSpPr txBox="1"/>
          <p:nvPr/>
        </p:nvSpPr>
        <p:spPr>
          <a:xfrm>
            <a:off x="1979712" y="5949280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Figure  (b): Divergence using the secant method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96752"/>
            <a:ext cx="828092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23728" y="260648"/>
            <a:ext cx="6563072" cy="77809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Secant Method     </a:t>
            </a:r>
            <a:r>
              <a:rPr lang="en-US" sz="2400" dirty="0" smtClean="0"/>
              <a:t>(cont.)</a:t>
            </a:r>
            <a:endParaRPr lang="ms-MY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5</a:t>
            </a:r>
            <a:endParaRPr lang="ms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988840"/>
            <a:ext cx="8136904" cy="3312368"/>
          </a:xfrm>
        </p:spPr>
        <p:txBody>
          <a:bodyPr/>
          <a:lstStyle/>
          <a:p>
            <a:pPr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Solve this function using the secant method.</a:t>
            </a:r>
          </a:p>
          <a:p>
            <a:pPr>
              <a:buNone/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If the initial guess are </a:t>
            </a:r>
            <a:r>
              <a:rPr lang="en-GB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=1 and </a:t>
            </a:r>
            <a:r>
              <a:rPr lang="en-GB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=0. </a:t>
            </a:r>
          </a:p>
          <a:p>
            <a:pPr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Do calculation correct to 3 decimal points. </a:t>
            </a:r>
            <a:endParaRPr lang="ms-MY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ms-MY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53601" name="Object 1"/>
          <p:cNvGraphicFramePr>
            <a:graphicFrameLocks noChangeAspect="1"/>
          </p:cNvGraphicFramePr>
          <p:nvPr/>
        </p:nvGraphicFramePr>
        <p:xfrm>
          <a:off x="1763688" y="2996952"/>
          <a:ext cx="3657600" cy="610284"/>
        </p:xfrm>
        <a:graphic>
          <a:graphicData uri="http://schemas.openxmlformats.org/presentationml/2006/ole">
            <p:oleObj spid="_x0000_s10259" name="Equation" r:id="rId3" imgW="1422033" imgH="228738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552728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ms-MY" sz="4400" dirty="0" smtClean="0"/>
              <a:t>Solution</a:t>
            </a:r>
            <a:endParaRPr lang="ms-MY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280920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340768"/>
            <a:ext cx="6480720" cy="4774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51720" y="274638"/>
            <a:ext cx="6552728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ms-MY" sz="4400" dirty="0" smtClean="0"/>
              <a:t>Solution   </a:t>
            </a:r>
            <a:r>
              <a:rPr lang="ms-MY" sz="2400" dirty="0" smtClean="0"/>
              <a:t>(cont.)</a:t>
            </a:r>
            <a:endParaRPr lang="ms-MY" sz="4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268760"/>
            <a:ext cx="820891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051720" y="274638"/>
            <a:ext cx="6552728" cy="850106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ms-MY" sz="44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   </a:t>
            </a:r>
            <a:r>
              <a:rPr kumimoji="0" lang="ms-MY" sz="24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(cont.)</a:t>
            </a:r>
            <a:endParaRPr kumimoji="0" lang="ms-MY" sz="4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686872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50" y="1340768"/>
            <a:ext cx="8348414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2051720" y="274638"/>
            <a:ext cx="6552728" cy="850106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ms-MY" sz="44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   </a:t>
            </a:r>
            <a:r>
              <a:rPr kumimoji="0" lang="ms-MY" sz="24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(cont.)</a:t>
            </a:r>
            <a:endParaRPr kumimoji="0" lang="ms-MY" sz="4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7" y="1268760"/>
            <a:ext cx="828092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traight Connector 8"/>
          <p:cNvCxnSpPr>
            <a:stCxn id="158722" idx="1"/>
            <a:endCxn id="158722" idx="3"/>
          </p:cNvCxnSpPr>
          <p:nvPr/>
        </p:nvCxnSpPr>
        <p:spPr>
          <a:xfrm>
            <a:off x="395537" y="2384884"/>
            <a:ext cx="8280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552" y="242088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Solution: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573016"/>
            <a:ext cx="7147520" cy="27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6</a:t>
            </a:r>
            <a:endParaRPr lang="ms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6573416" cy="79208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Newton’s Method</a:t>
            </a:r>
            <a:endParaRPr lang="ms-MY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23528" y="1219200"/>
            <a:ext cx="5544616" cy="3577952"/>
          </a:xfrm>
        </p:spPr>
        <p:txBody>
          <a:bodyPr/>
          <a:lstStyle/>
          <a:p>
            <a:r>
              <a:rPr lang="en-GB" sz="2400" dirty="0" smtClean="0">
                <a:cs typeface="Times New Roman" pitchFamily="18" charset="0"/>
              </a:rPr>
              <a:t>Assume that the </a:t>
            </a:r>
            <a:r>
              <a:rPr lang="en-GB" sz="2400" dirty="0" smtClean="0">
                <a:solidFill>
                  <a:srgbClr val="00B0F0"/>
                </a:solidFill>
                <a:cs typeface="Times New Roman" pitchFamily="18" charset="0"/>
              </a:rPr>
              <a:t>initial estimate of the zero</a:t>
            </a:r>
            <a:r>
              <a:rPr lang="en-GB" sz="2400" dirty="0" smtClean="0">
                <a:cs typeface="Times New Roman" pitchFamily="18" charset="0"/>
              </a:rPr>
              <a:t>, </a:t>
            </a:r>
            <a:r>
              <a:rPr lang="en-GB" sz="2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b="1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GB" sz="2400" dirty="0" smtClean="0">
                <a:cs typeface="Times New Roman" pitchFamily="18" charset="0"/>
              </a:rPr>
              <a:t> is close to the true root, draw the tangent line to the </a:t>
            </a:r>
            <a:r>
              <a:rPr lang="en-GB" sz="2400" i="1" dirty="0" smtClean="0">
                <a:cs typeface="Times New Roman" pitchFamily="18" charset="0"/>
              </a:rPr>
              <a:t>f(x)</a:t>
            </a:r>
            <a:r>
              <a:rPr lang="en-GB" sz="2400" dirty="0" smtClean="0">
                <a:cs typeface="Times New Roman" pitchFamily="18" charset="0"/>
              </a:rPr>
              <a:t> at point </a:t>
            </a:r>
            <a:r>
              <a:rPr lang="en-GB" sz="2400" i="1" dirty="0" smtClean="0">
                <a:cs typeface="Times New Roman" pitchFamily="18" charset="0"/>
              </a:rPr>
              <a:t>x</a:t>
            </a:r>
            <a:r>
              <a:rPr lang="en-GB" sz="2400" i="1" baseline="-25000" dirty="0" smtClean="0">
                <a:cs typeface="Times New Roman" pitchFamily="18" charset="0"/>
              </a:rPr>
              <a:t>0</a:t>
            </a:r>
            <a:r>
              <a:rPr lang="en-GB" sz="2400" dirty="0" smtClean="0">
                <a:cs typeface="Times New Roman" pitchFamily="18" charset="0"/>
              </a:rPr>
              <a:t> and find the next approximation to the zero value, </a:t>
            </a:r>
            <a:r>
              <a:rPr lang="en-GB" sz="2400" i="1" dirty="0" smtClean="0">
                <a:cs typeface="Times New Roman" pitchFamily="18" charset="0"/>
              </a:rPr>
              <a:t>x</a:t>
            </a:r>
            <a:r>
              <a:rPr lang="en-GB" sz="2400" i="1" baseline="-25000" dirty="0" smtClean="0">
                <a:cs typeface="Times New Roman" pitchFamily="18" charset="0"/>
              </a:rPr>
              <a:t>1 </a:t>
            </a:r>
            <a:r>
              <a:rPr lang="en-GB" sz="2400" dirty="0" smtClean="0">
                <a:cs typeface="Times New Roman" pitchFamily="18" charset="0"/>
              </a:rPr>
              <a:t>where the tangent crosses the x-axis. </a:t>
            </a:r>
          </a:p>
          <a:p>
            <a:r>
              <a:rPr lang="en-GB" sz="2400" dirty="0" smtClean="0">
                <a:cs typeface="Times New Roman" pitchFamily="18" charset="0"/>
              </a:rPr>
              <a:t>Then, draw the new tangent line to the curve at the point (</a:t>
            </a:r>
            <a:r>
              <a:rPr lang="en-GB" sz="2400" i="1" dirty="0" smtClean="0">
                <a:cs typeface="Times New Roman" pitchFamily="18" charset="0"/>
              </a:rPr>
              <a:t>x</a:t>
            </a:r>
            <a:r>
              <a:rPr lang="en-GB" sz="2400" i="1" baseline="-25000" dirty="0" smtClean="0">
                <a:cs typeface="Times New Roman" pitchFamily="18" charset="0"/>
              </a:rPr>
              <a:t>1</a:t>
            </a:r>
            <a:r>
              <a:rPr lang="en-GB" sz="2400" dirty="0" smtClean="0">
                <a:cs typeface="Times New Roman" pitchFamily="18" charset="0"/>
              </a:rPr>
              <a:t>, </a:t>
            </a:r>
            <a:r>
              <a:rPr lang="en-GB" sz="2400" i="1" dirty="0" smtClean="0">
                <a:cs typeface="Times New Roman" pitchFamily="18" charset="0"/>
              </a:rPr>
              <a:t>f</a:t>
            </a:r>
            <a:r>
              <a:rPr lang="en-GB" sz="2400" dirty="0" smtClean="0">
                <a:cs typeface="Times New Roman" pitchFamily="18" charset="0"/>
              </a:rPr>
              <a:t>(</a:t>
            </a:r>
            <a:r>
              <a:rPr lang="en-GB" sz="2400" i="1" dirty="0" smtClean="0">
                <a:cs typeface="Times New Roman" pitchFamily="18" charset="0"/>
              </a:rPr>
              <a:t>x</a:t>
            </a:r>
            <a:r>
              <a:rPr lang="en-GB" sz="2400" i="1" baseline="-25000" dirty="0" smtClean="0">
                <a:cs typeface="Times New Roman" pitchFamily="18" charset="0"/>
              </a:rPr>
              <a:t>1</a:t>
            </a:r>
            <a:r>
              <a:rPr lang="en-GB" sz="2400" dirty="0" smtClean="0">
                <a:cs typeface="Times New Roman" pitchFamily="18" charset="0"/>
              </a:rPr>
              <a:t>)) and as shown in Figure (c), the tangent line is now intersects the x-axis at point </a:t>
            </a:r>
            <a:r>
              <a:rPr lang="en-GB" sz="2400" i="1" dirty="0" smtClean="0">
                <a:cs typeface="Times New Roman" pitchFamily="18" charset="0"/>
              </a:rPr>
              <a:t>x</a:t>
            </a:r>
            <a:r>
              <a:rPr lang="en-GB" sz="2400" i="1" baseline="-25000" dirty="0" smtClean="0">
                <a:cs typeface="Times New Roman" pitchFamily="18" charset="0"/>
              </a:rPr>
              <a:t>2</a:t>
            </a:r>
            <a:r>
              <a:rPr lang="en-GB" sz="2400" dirty="0" smtClean="0">
                <a:cs typeface="Times New Roman" pitchFamily="18" charset="0"/>
              </a:rPr>
              <a:t>.Notice that the point where this tangent crosses the x axis usually represents an improved estimate of the root.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grpSp>
        <p:nvGrpSpPr>
          <p:cNvPr id="3" name="Group 1"/>
          <p:cNvGrpSpPr>
            <a:grpSpLocks/>
          </p:cNvGrpSpPr>
          <p:nvPr/>
        </p:nvGrpSpPr>
        <p:grpSpPr bwMode="auto">
          <a:xfrm>
            <a:off x="5796136" y="2348880"/>
            <a:ext cx="3275856" cy="2760662"/>
            <a:chOff x="3060" y="6480"/>
            <a:chExt cx="5040" cy="4348"/>
          </a:xfrm>
        </p:grpSpPr>
        <p:pic>
          <p:nvPicPr>
            <p:cNvPr id="1546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60" y="6480"/>
              <a:ext cx="5040" cy="4348"/>
            </a:xfrm>
            <a:prstGeom prst="rect">
              <a:avLst/>
            </a:prstGeom>
            <a:noFill/>
          </p:spPr>
        </p:pic>
        <p:sp>
          <p:nvSpPr>
            <p:cNvPr id="154627" name="Line 3"/>
            <p:cNvSpPr>
              <a:spLocks noChangeShapeType="1"/>
            </p:cNvSpPr>
            <p:nvPr/>
          </p:nvSpPr>
          <p:spPr bwMode="auto">
            <a:xfrm>
              <a:off x="4680" y="8280"/>
              <a:ext cx="90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ms-MY"/>
            </a:p>
          </p:txBody>
        </p:sp>
        <p:sp>
          <p:nvSpPr>
            <p:cNvPr id="154628" name="Text Box 4"/>
            <p:cNvSpPr txBox="1">
              <a:spLocks noChangeArrowheads="1"/>
            </p:cNvSpPr>
            <p:nvPr/>
          </p:nvSpPr>
          <p:spPr bwMode="auto">
            <a:xfrm>
              <a:off x="4500" y="8100"/>
              <a:ext cx="72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ms-MY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cs typeface="Arial" pitchFamily="34" charset="0"/>
                </a:rPr>
                <a:t>e</a:t>
              </a:r>
              <a:endParaRPr kumimoji="0" lang="ms-MY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868144" y="5085184"/>
            <a:ext cx="316835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Figure (c): </a:t>
            </a:r>
            <a:r>
              <a:rPr lang="en-US" dirty="0" smtClean="0"/>
              <a:t>Graphical depiction of Newton’s method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8229600" cy="5112568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In general, the Newton Method formula is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				where</a:t>
            </a:r>
          </a:p>
          <a:p>
            <a:pPr lvl="1">
              <a:buNone/>
            </a:pPr>
            <a:endParaRPr lang="en-GB" dirty="0" smtClean="0"/>
          </a:p>
          <a:p>
            <a:pPr>
              <a:buNone/>
            </a:pPr>
            <a:r>
              <a:rPr lang="en-GB" sz="2000" dirty="0" smtClean="0"/>
              <a:t>Although the Newton method is often very efficient compared with the </a:t>
            </a:r>
          </a:p>
          <a:p>
            <a:pPr>
              <a:buNone/>
            </a:pPr>
            <a:r>
              <a:rPr lang="en-GB" sz="2000" dirty="0" smtClean="0"/>
              <a:t>secant method, there are situations where it performs poorly.</a:t>
            </a:r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Its convergence depends on the nature of the function and on the accuracy of the initial guess.  </a:t>
            </a:r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The difficulty to get the derivative function can occur when dealing with the complex function. </a:t>
            </a:r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The Newton approach will often diverge if the initial guesses are not sufficiently close to the true roots or with the poor initial estimate.</a:t>
            </a:r>
            <a:endParaRPr lang="ms-MY" sz="2000" dirty="0" smtClean="0"/>
          </a:p>
          <a:p>
            <a:pPr>
              <a:buNone/>
            </a:pPr>
            <a:r>
              <a:rPr lang="en-GB" dirty="0" smtClean="0"/>
              <a:t> </a:t>
            </a:r>
          </a:p>
          <a:p>
            <a:pPr>
              <a:buNone/>
            </a:pPr>
            <a:endParaRPr lang="en-GB" dirty="0" smtClean="0"/>
          </a:p>
          <a:p>
            <a:pPr lvl="6">
              <a:buNone/>
            </a:pPr>
            <a:r>
              <a:rPr lang="en-GB" dirty="0" smtClean="0"/>
              <a:t> </a:t>
            </a:r>
            <a:endParaRPr lang="ms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1151F7B-22FC-4764-94DA-7B0D1FA08979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160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60769" name="Object 1"/>
          <p:cNvGraphicFramePr>
            <a:graphicFrameLocks noChangeAspect="1"/>
          </p:cNvGraphicFramePr>
          <p:nvPr/>
        </p:nvGraphicFramePr>
        <p:xfrm>
          <a:off x="611560" y="2060848"/>
          <a:ext cx="2717028" cy="1008112"/>
        </p:xfrm>
        <a:graphic>
          <a:graphicData uri="http://schemas.openxmlformats.org/presentationml/2006/ole">
            <p:oleObj spid="_x0000_s11298" name="Equation" r:id="rId3" imgW="1143276" imgH="431831" progId="Equation.3">
              <p:embed/>
            </p:oleObj>
          </a:graphicData>
        </a:graphic>
      </p:graphicFrame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60771" name="Object 3"/>
          <p:cNvGraphicFramePr>
            <a:graphicFrameLocks noChangeAspect="1"/>
          </p:cNvGraphicFramePr>
          <p:nvPr/>
        </p:nvGraphicFramePr>
        <p:xfrm>
          <a:off x="4716016" y="2420888"/>
          <a:ext cx="2232248" cy="575323"/>
        </p:xfrm>
        <a:graphic>
          <a:graphicData uri="http://schemas.openxmlformats.org/presentationml/2006/ole">
            <p:oleObj spid="_x0000_s11299" name="Equation" r:id="rId4" imgW="773935" imgH="203261" progId="Equation.3">
              <p:embed/>
            </p:oleObj>
          </a:graphicData>
        </a:graphic>
      </p:graphicFrame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6573416" cy="79208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Newton’s Method  </a:t>
            </a:r>
            <a:r>
              <a:rPr lang="en-US" sz="2400" dirty="0" smtClean="0"/>
              <a:t>(cont.)</a:t>
            </a:r>
            <a:endParaRPr lang="ms-MY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340768"/>
            <a:ext cx="8424936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7780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6</a:t>
            </a:r>
            <a:endParaRPr lang="ms-MY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274638"/>
            <a:ext cx="6491064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</a:t>
            </a:r>
            <a:endParaRPr lang="ms-MY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5832648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573016"/>
            <a:ext cx="5832648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02896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164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8349311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95736" y="274638"/>
            <a:ext cx="6491064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  </a:t>
            </a:r>
            <a:r>
              <a:rPr lang="en-US" sz="2800" dirty="0" smtClean="0"/>
              <a:t>(cont.)</a:t>
            </a:r>
            <a:endParaRPr lang="ms-MY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208912" cy="465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95736" y="274638"/>
            <a:ext cx="6491064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  </a:t>
            </a:r>
            <a:r>
              <a:rPr lang="en-US" sz="2800" dirty="0" smtClean="0"/>
              <a:t>(cont.)</a:t>
            </a:r>
            <a:endParaRPr lang="ms-MY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60648"/>
            <a:ext cx="6501408" cy="936104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sz="3200" dirty="0" smtClean="0"/>
              <a:t>Newton Method with special function </a:t>
            </a:r>
            <a:r>
              <a:rPr lang="en-GB" sz="3200" i="1" dirty="0" err="1" smtClean="0"/>
              <a:t>x</a:t>
            </a:r>
            <a:r>
              <a:rPr lang="en-GB" sz="3200" i="1" baseline="30000" dirty="0" err="1" smtClean="0"/>
              <a:t>n</a:t>
            </a:r>
            <a:r>
              <a:rPr lang="en-GB" sz="3200" i="1" dirty="0" smtClean="0"/>
              <a:t> </a:t>
            </a:r>
            <a:r>
              <a:rPr lang="en-GB" sz="3200" dirty="0" smtClean="0"/>
              <a:t>- </a:t>
            </a:r>
            <a:r>
              <a:rPr lang="en-GB" sz="3200" i="1" dirty="0" smtClean="0"/>
              <a:t>c</a:t>
            </a:r>
            <a:r>
              <a:rPr lang="en-GB" sz="3200" dirty="0" smtClean="0"/>
              <a:t> = 0</a:t>
            </a:r>
            <a:endParaRPr lang="ms-MY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08912" cy="4525963"/>
          </a:xfrm>
        </p:spPr>
        <p:txBody>
          <a:bodyPr/>
          <a:lstStyle/>
          <a:p>
            <a:r>
              <a:rPr lang="en-GB" dirty="0" smtClean="0"/>
              <a:t>The Newton Method also can be used for finding the square root of a number. </a:t>
            </a:r>
            <a:endParaRPr lang="ms-MY" dirty="0" smtClean="0"/>
          </a:p>
          <a:p>
            <a:r>
              <a:rPr lang="en-GB" dirty="0" smtClean="0"/>
              <a:t>For example, if one wishes to find the square root of 612, this is equivalent to finding the solution to:</a:t>
            </a:r>
          </a:p>
          <a:p>
            <a:endParaRPr lang="en-GB" dirty="0" smtClean="0"/>
          </a:p>
          <a:p>
            <a:r>
              <a:rPr lang="en-GB" dirty="0" smtClean="0"/>
              <a:t>The function to use in Newton's method is,</a:t>
            </a:r>
            <a:endParaRPr lang="ms-MY" dirty="0" smtClean="0"/>
          </a:p>
          <a:p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5344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66913" name="Object 1"/>
          <p:cNvGraphicFramePr>
            <a:graphicFrameLocks noChangeAspect="1"/>
          </p:cNvGraphicFramePr>
          <p:nvPr/>
        </p:nvGraphicFramePr>
        <p:xfrm>
          <a:off x="3059832" y="3861048"/>
          <a:ext cx="2088232" cy="679765"/>
        </p:xfrm>
        <a:graphic>
          <a:graphicData uri="http://schemas.openxmlformats.org/presentationml/2006/ole">
            <p:oleObj spid="_x0000_s12322" name="Equation" r:id="rId3" imgW="596563" imgH="203261" progId="Equation.3">
              <p:embed/>
            </p:oleObj>
          </a:graphicData>
        </a:graphic>
      </p:graphicFrame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ms-MY"/>
          </a:p>
        </p:txBody>
      </p:sp>
      <p:graphicFrame>
        <p:nvGraphicFramePr>
          <p:cNvPr id="166915" name="Object 3"/>
          <p:cNvGraphicFramePr>
            <a:graphicFrameLocks noChangeAspect="1"/>
          </p:cNvGraphicFramePr>
          <p:nvPr/>
        </p:nvGraphicFramePr>
        <p:xfrm>
          <a:off x="2771800" y="5373216"/>
          <a:ext cx="2664296" cy="595173"/>
        </p:xfrm>
        <a:graphic>
          <a:graphicData uri="http://schemas.openxmlformats.org/presentationml/2006/ole">
            <p:oleObj spid="_x0000_s12323" name="Equation" r:id="rId4" imgW="1028493" imgH="228738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52600"/>
            <a:ext cx="83993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23728" y="260648"/>
            <a:ext cx="6501408" cy="936104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GB" sz="3200" dirty="0" smtClean="0"/>
              <a:t>Newton Method with special function </a:t>
            </a:r>
            <a:r>
              <a:rPr lang="en-GB" sz="3200" i="1" dirty="0" err="1" smtClean="0"/>
              <a:t>x</a:t>
            </a:r>
            <a:r>
              <a:rPr lang="en-GB" sz="3200" i="1" baseline="30000" dirty="0" err="1" smtClean="0"/>
              <a:t>n</a:t>
            </a:r>
            <a:r>
              <a:rPr lang="en-GB" sz="3200" i="1" dirty="0" smtClean="0"/>
              <a:t> </a:t>
            </a:r>
            <a:r>
              <a:rPr lang="en-GB" sz="3200" dirty="0" smtClean="0"/>
              <a:t>- </a:t>
            </a:r>
            <a:r>
              <a:rPr lang="en-GB" sz="3200" i="1" dirty="0" smtClean="0"/>
              <a:t>c</a:t>
            </a:r>
            <a:r>
              <a:rPr lang="en-GB" sz="3200" dirty="0" smtClean="0"/>
              <a:t> = 0</a:t>
            </a:r>
            <a:endParaRPr lang="ms-MY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Example 7</a:t>
            </a:r>
            <a:endParaRPr lang="ms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58880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280920" cy="461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539552" y="2564904"/>
            <a:ext cx="79928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5536" y="256490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Solution: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268760"/>
            <a:ext cx="792088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9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284984"/>
            <a:ext cx="7920880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       </a:t>
            </a:r>
            <a:r>
              <a:rPr lang="en-US" sz="2800" dirty="0" smtClean="0"/>
              <a:t>(cont.)</a:t>
            </a:r>
            <a:endParaRPr lang="ms-MY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830888" y="6520259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940B42E-584B-4B34-9B2A-F057A521ABB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pic>
        <p:nvPicPr>
          <p:cNvPr id="1710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268760"/>
            <a:ext cx="8208912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101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4005064"/>
            <a:ext cx="509411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101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7704" y="5517232"/>
            <a:ext cx="5040560" cy="89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6563072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Solution        </a:t>
            </a:r>
            <a:r>
              <a:rPr lang="en-US" sz="2800" dirty="0" smtClean="0"/>
              <a:t>(cont.)</a:t>
            </a:r>
            <a:endParaRPr lang="ms-MY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95736" y="274638"/>
            <a:ext cx="6491064" cy="7780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EXERCISES</a:t>
            </a:r>
            <a:endParaRPr kumimoji="0" lang="ms-MY" sz="2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79512" y="1340768"/>
            <a:ext cx="8605464" cy="1390327"/>
            <a:chOff x="179512" y="1340768"/>
            <a:chExt cx="8605464" cy="1390327"/>
          </a:xfrm>
        </p:grpSpPr>
        <p:sp>
          <p:nvSpPr>
            <p:cNvPr id="5" name="TextBox 4"/>
            <p:cNvSpPr txBox="1"/>
            <p:nvPr/>
          </p:nvSpPr>
          <p:spPr>
            <a:xfrm>
              <a:off x="179512" y="1340768"/>
              <a:ext cx="799288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AutoNum type="arabicParenR"/>
              </a:pPr>
              <a:r>
                <a:rPr lang="en-US" sz="2800" dirty="0" smtClean="0"/>
                <a:t>Find root for the function                         using</a:t>
              </a:r>
            </a:p>
            <a:p>
              <a:pPr marL="514350" indent="-514350"/>
              <a:endParaRPr lang="en-US" sz="2800" dirty="0" smtClean="0"/>
            </a:p>
            <a:p>
              <a:pPr marL="514350" indent="-514350"/>
              <a:r>
                <a:rPr lang="en-US" sz="2800" dirty="0" smtClean="0"/>
                <a:t>      Secant method. Take  </a:t>
              </a:r>
              <a:endParaRPr lang="en-US" sz="2800" dirty="0"/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4499992" y="1340768"/>
            <a:ext cx="1812652" cy="549534"/>
          </p:xfrm>
          <a:graphic>
            <a:graphicData uri="http://schemas.openxmlformats.org/presentationml/2006/ole">
              <p:oleObj spid="_x0000_s14400" name="Equation" r:id="rId3" imgW="888510" imgH="228600" progId="Equation.3">
                <p:embed/>
              </p:oleObj>
            </a:graphicData>
          </a:graphic>
        </p:graphicFrame>
        <p:graphicFrame>
          <p:nvGraphicFramePr>
            <p:cNvPr id="14339" name="Object 3"/>
            <p:cNvGraphicFramePr>
              <a:graphicFrameLocks noChangeAspect="1"/>
            </p:cNvGraphicFramePr>
            <p:nvPr/>
          </p:nvGraphicFramePr>
          <p:xfrm>
            <a:off x="3851920" y="2204864"/>
            <a:ext cx="4933056" cy="526231"/>
          </p:xfrm>
          <a:graphic>
            <a:graphicData uri="http://schemas.openxmlformats.org/presentationml/2006/ole">
              <p:oleObj spid="_x0000_s14401" name="Equation" r:id="rId4" imgW="2209111" imgH="228738" progId="Equation.3">
                <p:embed/>
              </p:oleObj>
            </a:graphicData>
          </a:graphic>
        </p:graphicFrame>
      </p:grpSp>
      <p:grpSp>
        <p:nvGrpSpPr>
          <p:cNvPr id="8" name="Group 7"/>
          <p:cNvGrpSpPr/>
          <p:nvPr/>
        </p:nvGrpSpPr>
        <p:grpSpPr>
          <a:xfrm>
            <a:off x="179512" y="3573016"/>
            <a:ext cx="7992888" cy="2246769"/>
            <a:chOff x="179512" y="1340768"/>
            <a:chExt cx="7992888" cy="2246769"/>
          </a:xfrm>
        </p:grpSpPr>
        <p:sp>
          <p:nvSpPr>
            <p:cNvPr id="9" name="TextBox 8"/>
            <p:cNvSpPr txBox="1"/>
            <p:nvPr/>
          </p:nvSpPr>
          <p:spPr>
            <a:xfrm>
              <a:off x="179512" y="1340768"/>
              <a:ext cx="7992888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AutoNum type="arabicParenR" startAt="2"/>
              </a:pPr>
              <a:r>
                <a:rPr lang="en-US" sz="2800" dirty="0" smtClean="0"/>
                <a:t>Given an equation </a:t>
              </a:r>
            </a:p>
            <a:p>
              <a:pPr marL="514350" indent="-514350"/>
              <a:endParaRPr lang="en-US" sz="2800" dirty="0" smtClean="0"/>
            </a:p>
            <a:p>
              <a:pPr marL="514350" indent="-514350"/>
              <a:r>
                <a:rPr lang="en-US" sz="2800" dirty="0" smtClean="0"/>
                <a:t>       Find the root using Newton method.</a:t>
              </a:r>
            </a:p>
            <a:p>
              <a:pPr marL="514350" indent="-514350"/>
              <a:r>
                <a:rPr lang="en-US" sz="2800" dirty="0" smtClean="0"/>
                <a:t>    </a:t>
              </a:r>
            </a:p>
            <a:p>
              <a:pPr marL="514350" indent="-514350"/>
              <a:r>
                <a:rPr lang="en-US" sz="2800" dirty="0" smtClean="0"/>
                <a:t>      Take initial value  </a:t>
              </a:r>
              <a:endParaRPr lang="en-US" sz="2800" dirty="0"/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3491880" y="1340768"/>
            <a:ext cx="2433637" cy="549275"/>
          </p:xfrm>
          <a:graphic>
            <a:graphicData uri="http://schemas.openxmlformats.org/presentationml/2006/ole">
              <p:oleObj spid="_x0000_s14402" name="Equation" r:id="rId5" imgW="1193295" imgH="228738" progId="Equation.3">
                <p:embed/>
              </p:oleObj>
            </a:graphicData>
          </a:graphic>
        </p:graphicFrame>
        <p:graphicFrame>
          <p:nvGraphicFramePr>
            <p:cNvPr id="11" name="Object 3"/>
            <p:cNvGraphicFramePr>
              <a:graphicFrameLocks noChangeAspect="1"/>
            </p:cNvGraphicFramePr>
            <p:nvPr/>
          </p:nvGraphicFramePr>
          <p:xfrm>
            <a:off x="3275856" y="3047554"/>
            <a:ext cx="3998913" cy="525462"/>
          </p:xfrm>
          <a:graphic>
            <a:graphicData uri="http://schemas.openxmlformats.org/presentationml/2006/ole">
              <p:oleObj spid="_x0000_s14403" name="Equation" r:id="rId6" imgW="1790218" imgH="228738" progId="Equation.3">
                <p:embed/>
              </p:oleObj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5C94F1-AAA0-4573-82E8-8F694A8789D0}" type="slidenum">
              <a:rPr lang="en-MY" smtClean="0"/>
              <a:pPr>
                <a:defRPr/>
              </a:pPr>
              <a:t>50</a:t>
            </a:fld>
            <a:endParaRPr lang="en-MY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1400</Words>
  <Application>Microsoft Office PowerPoint</Application>
  <PresentationFormat>On-screen Show (4:3)</PresentationFormat>
  <Paragraphs>229</Paragraphs>
  <Slides>50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Office Theme</vt:lpstr>
      <vt:lpstr>Equation</vt:lpstr>
      <vt:lpstr>Bitmap Image</vt:lpstr>
      <vt:lpstr>Slide 1</vt:lpstr>
      <vt:lpstr>Outline</vt:lpstr>
      <vt:lpstr>Introduction</vt:lpstr>
      <vt:lpstr>Introduction</vt:lpstr>
      <vt:lpstr>NLE Solution using Numerical Method</vt:lpstr>
      <vt:lpstr>Intermediate Value Theorem  </vt:lpstr>
      <vt:lpstr>Example 1</vt:lpstr>
      <vt:lpstr>Solution (i): [-1,0]</vt:lpstr>
      <vt:lpstr>Solution (i): [-1,0]    (cont.)</vt:lpstr>
      <vt:lpstr>Solution (ii) : [0,1]</vt:lpstr>
      <vt:lpstr>Solution (ii): [0,1]       (cont.)</vt:lpstr>
      <vt:lpstr>Solution (iii) :  [1,2]</vt:lpstr>
      <vt:lpstr>Solution (iii) :  [1,2]   (cont.)</vt:lpstr>
      <vt:lpstr>Bisection Method</vt:lpstr>
      <vt:lpstr>Bisection Method   (cont.)</vt:lpstr>
      <vt:lpstr>Bisection Method   (cont.)</vt:lpstr>
      <vt:lpstr>Bisection Method   (cont.)</vt:lpstr>
      <vt:lpstr>Convergence Criteria</vt:lpstr>
      <vt:lpstr>Convergence Criteria   (cont.)</vt:lpstr>
      <vt:lpstr>Example 2</vt:lpstr>
      <vt:lpstr>Example 2       (cont.)</vt:lpstr>
      <vt:lpstr>Example 2       (cont.)</vt:lpstr>
      <vt:lpstr>False Position Method</vt:lpstr>
      <vt:lpstr>False Position Method  (cont.)</vt:lpstr>
      <vt:lpstr>Example 3</vt:lpstr>
      <vt:lpstr>Slide 26</vt:lpstr>
      <vt:lpstr>Slide 27</vt:lpstr>
      <vt:lpstr>Slide 28</vt:lpstr>
      <vt:lpstr>Slide 29</vt:lpstr>
      <vt:lpstr>Secant Method</vt:lpstr>
      <vt:lpstr>Secant Method     (cont.)</vt:lpstr>
      <vt:lpstr>Secant Method     (cont.)</vt:lpstr>
      <vt:lpstr>Example 5</vt:lpstr>
      <vt:lpstr>Solution</vt:lpstr>
      <vt:lpstr>Solution   (cont.)</vt:lpstr>
      <vt:lpstr>Slide 36</vt:lpstr>
      <vt:lpstr>Slide 37</vt:lpstr>
      <vt:lpstr>Example 6</vt:lpstr>
      <vt:lpstr>Newton’s Method</vt:lpstr>
      <vt:lpstr>Newton’s Method  (cont.)</vt:lpstr>
      <vt:lpstr>Example 6</vt:lpstr>
      <vt:lpstr>Solution</vt:lpstr>
      <vt:lpstr>Solution   (cont.)</vt:lpstr>
      <vt:lpstr>Solution   (cont.)</vt:lpstr>
      <vt:lpstr>Newton Method with special function xn - c = 0</vt:lpstr>
      <vt:lpstr>Newton Method with special function xn - c = 0</vt:lpstr>
      <vt:lpstr>Example 7</vt:lpstr>
      <vt:lpstr>Solution        (cont.)</vt:lpstr>
      <vt:lpstr>Solution        (cont.)</vt:lpstr>
      <vt:lpstr>Slide 50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VaioPC</cp:lastModifiedBy>
  <cp:revision>66</cp:revision>
  <dcterms:created xsi:type="dcterms:W3CDTF">2013-01-02T01:15:37Z</dcterms:created>
  <dcterms:modified xsi:type="dcterms:W3CDTF">2015-05-10T10:16:32Z</dcterms:modified>
</cp:coreProperties>
</file>