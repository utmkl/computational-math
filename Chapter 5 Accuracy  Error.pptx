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handoutMasterIdLst>
    <p:handoutMasterId r:id="rId29"/>
  </p:handoutMasterIdLst>
  <p:sldIdLst>
    <p:sldId id="388" r:id="rId2"/>
    <p:sldId id="389" r:id="rId3"/>
    <p:sldId id="390" r:id="rId4"/>
    <p:sldId id="391" r:id="rId5"/>
    <p:sldId id="392" r:id="rId6"/>
    <p:sldId id="393" r:id="rId7"/>
    <p:sldId id="411" r:id="rId8"/>
    <p:sldId id="412" r:id="rId9"/>
    <p:sldId id="394" r:id="rId10"/>
    <p:sldId id="395" r:id="rId11"/>
    <p:sldId id="410" r:id="rId12"/>
    <p:sldId id="396" r:id="rId13"/>
    <p:sldId id="401" r:id="rId14"/>
    <p:sldId id="414" r:id="rId15"/>
    <p:sldId id="413" r:id="rId16"/>
    <p:sldId id="402" r:id="rId17"/>
    <p:sldId id="403" r:id="rId18"/>
    <p:sldId id="404" r:id="rId19"/>
    <p:sldId id="405" r:id="rId20"/>
    <p:sldId id="406" r:id="rId21"/>
    <p:sldId id="407" r:id="rId22"/>
    <p:sldId id="408" r:id="rId23"/>
    <p:sldId id="409" r:id="rId24"/>
    <p:sldId id="415" r:id="rId25"/>
    <p:sldId id="416" r:id="rId26"/>
    <p:sldId id="417" r:id="rId2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4" d="100"/>
          <a:sy n="64" d="100"/>
        </p:scale>
        <p:origin x="-1470" y="-102"/>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463C2E6-6E7C-8649-B55F-E6F8466B1225}" type="datetimeFigureOut">
              <a:rPr lang="en-US" smtClean="0"/>
              <a:pPr/>
              <a:t>5/10/2015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95A6D05-F729-3F45-91C8-72CD0E2E45C1}" type="slidenum">
              <a:rPr lang="en-US" smtClean="0"/>
              <a:pPr/>
              <a:t>‹#›</a:t>
            </a:fld>
            <a:endParaRPr lang="en-US"/>
          </a:p>
        </p:txBody>
      </p:sp>
    </p:spTree>
    <p:extLst>
      <p:ext uri="{BB962C8B-B14F-4D97-AF65-F5344CB8AC3E}">
        <p14:creationId xmlns:p14="http://schemas.microsoft.com/office/powerpoint/2010/main" xmlns="" val="31165653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FBBD4E32-5FB6-294E-AC04-8494CC55B751}" type="datetimeFigureOut">
              <a:rPr lang="en-US"/>
              <a:pPr>
                <a:defRPr/>
              </a:pPr>
              <a:t>5/10/2015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1C33D5E3-D511-864D-9974-2BE8B85F4FD6}" type="slidenum">
              <a:rPr lang="en-US"/>
              <a:pPr>
                <a:defRPr/>
              </a:pPr>
              <a:t>‹#›</a:t>
            </a:fld>
            <a:endParaRPr lang="en-US"/>
          </a:p>
        </p:txBody>
      </p:sp>
    </p:spTree>
    <p:extLst>
      <p:ext uri="{BB962C8B-B14F-4D97-AF65-F5344CB8AC3E}">
        <p14:creationId xmlns:p14="http://schemas.microsoft.com/office/powerpoint/2010/main" xmlns="" val="2508558920"/>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MY"/>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MY"/>
          </a:p>
        </p:txBody>
      </p:sp>
      <p:sp>
        <p:nvSpPr>
          <p:cNvPr id="4" name="Slide Number Placeholder 5"/>
          <p:cNvSpPr>
            <a:spLocks noGrp="1"/>
          </p:cNvSpPr>
          <p:nvPr>
            <p:ph type="sldNum" sz="quarter" idx="10"/>
          </p:nvPr>
        </p:nvSpPr>
        <p:spPr/>
        <p:txBody>
          <a:bodyPr/>
          <a:lstStyle>
            <a:lvl1pPr>
              <a:defRPr/>
            </a:lvl1pPr>
          </a:lstStyle>
          <a:p>
            <a:pPr>
              <a:defRPr/>
            </a:pPr>
            <a:fld id="{207736E0-805E-6F4C-852A-768FFEA2D190}" type="slidenum">
              <a:rPr lang="en-US"/>
              <a:pPr>
                <a:defRPr/>
              </a:pPr>
              <a:t>‹#›</a:t>
            </a:fld>
            <a:endParaRPr lang="en-US"/>
          </a:p>
        </p:txBody>
      </p:sp>
    </p:spTree>
    <p:extLst>
      <p:ext uri="{BB962C8B-B14F-4D97-AF65-F5344CB8AC3E}">
        <p14:creationId xmlns:p14="http://schemas.microsoft.com/office/powerpoint/2010/main" xmlns="" val="819637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23728" y="274638"/>
            <a:ext cx="6563072" cy="1143000"/>
          </a:xfrm>
          <a:prstGeom prst="rect">
            <a:avLst/>
          </a:prstGeom>
        </p:spPr>
        <p:txBody>
          <a:bodyPr/>
          <a:lstStyle/>
          <a:p>
            <a:r>
              <a:rPr lang="en-US" dirty="0" smtClean="0"/>
              <a:t>Click to edit Master title style</a:t>
            </a:r>
            <a:endParaRPr lang="en-MY" dirty="0"/>
          </a:p>
        </p:txBody>
      </p:sp>
      <p:sp>
        <p:nvSpPr>
          <p:cNvPr id="3" name="Content Placeholder 2"/>
          <p:cNvSpPr>
            <a:spLocks noGrp="1"/>
          </p:cNvSpPr>
          <p:nvPr>
            <p:ph idx="1"/>
          </p:nvPr>
        </p:nvSpPr>
        <p:spPr>
          <a:xfrm>
            <a:off x="2123728" y="1600200"/>
            <a:ext cx="6563072" cy="4525963"/>
          </a:xfrm>
          <a:prstGeom prst="rect">
            <a:avLst/>
          </a:prstGeo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MY" dirty="0"/>
          </a:p>
        </p:txBody>
      </p:sp>
      <p:sp>
        <p:nvSpPr>
          <p:cNvPr id="4" name="Slide Number Placeholder 5"/>
          <p:cNvSpPr>
            <a:spLocks noGrp="1"/>
          </p:cNvSpPr>
          <p:nvPr>
            <p:ph type="sldNum" sz="quarter" idx="10"/>
          </p:nvPr>
        </p:nvSpPr>
        <p:spPr/>
        <p:txBody>
          <a:bodyPr/>
          <a:lstStyle>
            <a:lvl1pPr>
              <a:defRPr/>
            </a:lvl1pPr>
          </a:lstStyle>
          <a:p>
            <a:pPr>
              <a:defRPr/>
            </a:pPr>
            <a:fld id="{414CBA17-106B-A649-ADCF-F18F2650AB5F}" type="slidenum">
              <a:rPr lang="en-US"/>
              <a:pPr>
                <a:defRPr/>
              </a:pPr>
              <a:t>‹#›</a:t>
            </a:fld>
            <a:endParaRPr lang="en-US"/>
          </a:p>
        </p:txBody>
      </p:sp>
    </p:spTree>
    <p:extLst>
      <p:ext uri="{BB962C8B-B14F-4D97-AF65-F5344CB8AC3E}">
        <p14:creationId xmlns:p14="http://schemas.microsoft.com/office/powerpoint/2010/main" xmlns="" val="184240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MY"/>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Slide Number Placeholder 5"/>
          <p:cNvSpPr>
            <a:spLocks noGrp="1"/>
          </p:cNvSpPr>
          <p:nvPr>
            <p:ph type="sldNum" sz="quarter" idx="10"/>
          </p:nvPr>
        </p:nvSpPr>
        <p:spPr/>
        <p:txBody>
          <a:bodyPr/>
          <a:lstStyle>
            <a:lvl1pPr>
              <a:defRPr/>
            </a:lvl1pPr>
          </a:lstStyle>
          <a:p>
            <a:pPr>
              <a:defRPr/>
            </a:pPr>
            <a:fld id="{A91514BF-763C-034E-9C75-35AC1B853865}" type="slidenum">
              <a:rPr lang="en-US"/>
              <a:pPr>
                <a:defRPr/>
              </a:pPr>
              <a:t>‹#›</a:t>
            </a:fld>
            <a:endParaRPr lang="en-US"/>
          </a:p>
        </p:txBody>
      </p:sp>
    </p:spTree>
    <p:extLst>
      <p:ext uri="{BB962C8B-B14F-4D97-AF65-F5344CB8AC3E}">
        <p14:creationId xmlns:p14="http://schemas.microsoft.com/office/powerpoint/2010/main" xmlns="" val="2579780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07704" y="274638"/>
            <a:ext cx="6779096" cy="1143000"/>
          </a:xfrm>
          <a:prstGeom prst="rect">
            <a:avLst/>
          </a:prstGeom>
        </p:spPr>
        <p:txBody>
          <a:bodyPr/>
          <a:lstStyle/>
          <a:p>
            <a:r>
              <a:rPr lang="en-US" smtClean="0"/>
              <a:t>Click to edit Master title style</a:t>
            </a:r>
            <a:endParaRPr lang="en-MY"/>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5" name="Slide Number Placeholder 5"/>
          <p:cNvSpPr>
            <a:spLocks noGrp="1"/>
          </p:cNvSpPr>
          <p:nvPr>
            <p:ph type="sldNum" sz="quarter" idx="10"/>
          </p:nvPr>
        </p:nvSpPr>
        <p:spPr/>
        <p:txBody>
          <a:bodyPr/>
          <a:lstStyle>
            <a:lvl1pPr>
              <a:defRPr/>
            </a:lvl1pPr>
          </a:lstStyle>
          <a:p>
            <a:pPr>
              <a:defRPr/>
            </a:pPr>
            <a:fld id="{AC8F8A6A-9F77-8442-8E4C-DEE324F30671}" type="slidenum">
              <a:rPr lang="en-US"/>
              <a:pPr>
                <a:defRPr/>
              </a:pPr>
              <a:t>‹#›</a:t>
            </a:fld>
            <a:endParaRPr lang="en-US"/>
          </a:p>
        </p:txBody>
      </p:sp>
    </p:spTree>
    <p:extLst>
      <p:ext uri="{BB962C8B-B14F-4D97-AF65-F5344CB8AC3E}">
        <p14:creationId xmlns:p14="http://schemas.microsoft.com/office/powerpoint/2010/main" xmlns="" val="2242235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79712" y="274638"/>
            <a:ext cx="6707088" cy="1143000"/>
          </a:xfrm>
          <a:prstGeom prst="rect">
            <a:avLst/>
          </a:prstGeom>
        </p:spPr>
        <p:txBody>
          <a:bodyPr/>
          <a:lstStyle/>
          <a:p>
            <a:r>
              <a:rPr lang="en-US" dirty="0" smtClean="0"/>
              <a:t>Click to edit Master title style</a:t>
            </a:r>
            <a:endParaRPr lang="en-MY" dirty="0"/>
          </a:p>
        </p:txBody>
      </p:sp>
      <p:sp>
        <p:nvSpPr>
          <p:cNvPr id="3" name="Slide Number Placeholder 5"/>
          <p:cNvSpPr>
            <a:spLocks noGrp="1"/>
          </p:cNvSpPr>
          <p:nvPr>
            <p:ph type="sldNum" sz="quarter" idx="10"/>
          </p:nvPr>
        </p:nvSpPr>
        <p:spPr/>
        <p:txBody>
          <a:bodyPr/>
          <a:lstStyle>
            <a:lvl1pPr>
              <a:defRPr/>
            </a:lvl1pPr>
          </a:lstStyle>
          <a:p>
            <a:pPr>
              <a:defRPr/>
            </a:pPr>
            <a:fld id="{3C2A9093-EE09-8A40-9028-1E46093AA71C}" type="slidenum">
              <a:rPr lang="en-US"/>
              <a:pPr>
                <a:defRPr/>
              </a:pPr>
              <a:t>‹#›</a:t>
            </a:fld>
            <a:endParaRPr lang="en-US"/>
          </a:p>
        </p:txBody>
      </p:sp>
    </p:spTree>
    <p:extLst>
      <p:ext uri="{BB962C8B-B14F-4D97-AF65-F5344CB8AC3E}">
        <p14:creationId xmlns:p14="http://schemas.microsoft.com/office/powerpoint/2010/main" xmlns="" val="292199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p:txBody>
          <a:bodyPr/>
          <a:lstStyle>
            <a:lvl1pPr>
              <a:defRPr/>
            </a:lvl1pPr>
          </a:lstStyle>
          <a:p>
            <a:pPr>
              <a:defRPr/>
            </a:pPr>
            <a:fld id="{DF7E4A18-3A59-824C-AC98-295202AE0169}" type="slidenum">
              <a:rPr lang="en-US"/>
              <a:pPr>
                <a:defRPr/>
              </a:pPr>
              <a:t>‹#›</a:t>
            </a:fld>
            <a:endParaRPr lang="en-US"/>
          </a:p>
        </p:txBody>
      </p:sp>
    </p:spTree>
    <p:extLst>
      <p:ext uri="{BB962C8B-B14F-4D97-AF65-F5344CB8AC3E}">
        <p14:creationId xmlns:p14="http://schemas.microsoft.com/office/powerpoint/2010/main" xmlns="" val="357601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MY"/>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5"/>
          <p:cNvSpPr>
            <a:spLocks noGrp="1"/>
          </p:cNvSpPr>
          <p:nvPr>
            <p:ph type="sldNum" sz="quarter" idx="10"/>
          </p:nvPr>
        </p:nvSpPr>
        <p:spPr/>
        <p:txBody>
          <a:bodyPr/>
          <a:lstStyle>
            <a:lvl1pPr>
              <a:defRPr/>
            </a:lvl1pPr>
          </a:lstStyle>
          <a:p>
            <a:pPr>
              <a:defRPr/>
            </a:pPr>
            <a:fld id="{64851472-F530-2240-A495-7347DAEBB0E9}" type="slidenum">
              <a:rPr lang="en-US"/>
              <a:pPr>
                <a:defRPr/>
              </a:pPr>
              <a:t>‹#›</a:t>
            </a:fld>
            <a:endParaRPr lang="en-US"/>
          </a:p>
        </p:txBody>
      </p:sp>
    </p:spTree>
    <p:extLst>
      <p:ext uri="{BB962C8B-B14F-4D97-AF65-F5344CB8AC3E}">
        <p14:creationId xmlns:p14="http://schemas.microsoft.com/office/powerpoint/2010/main" xmlns="" val="4142406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MY"/>
          </a:p>
        </p:txBody>
      </p:sp>
      <p:sp>
        <p:nvSpPr>
          <p:cNvPr id="3" name="Picture Placeholder 2"/>
          <p:cNvSpPr>
            <a:spLocks noGrp="1"/>
          </p:cNvSpPr>
          <p:nvPr>
            <p:ph type="pic" idx="1"/>
          </p:nvPr>
        </p:nvSpPr>
        <p:spPr>
          <a:xfrm>
            <a:off x="1792288" y="612775"/>
            <a:ext cx="5486400" cy="41148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MY" noProof="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5"/>
          <p:cNvSpPr>
            <a:spLocks noGrp="1"/>
          </p:cNvSpPr>
          <p:nvPr>
            <p:ph type="sldNum" sz="quarter" idx="10"/>
          </p:nvPr>
        </p:nvSpPr>
        <p:spPr/>
        <p:txBody>
          <a:bodyPr/>
          <a:lstStyle>
            <a:lvl1pPr>
              <a:defRPr/>
            </a:lvl1pPr>
          </a:lstStyle>
          <a:p>
            <a:pPr>
              <a:defRPr/>
            </a:pPr>
            <a:fld id="{41868936-28E3-414B-A368-A91473AEDDEC}" type="slidenum">
              <a:rPr lang="en-US"/>
              <a:pPr>
                <a:defRPr/>
              </a:pPr>
              <a:t>‹#›</a:t>
            </a:fld>
            <a:endParaRPr lang="en-US"/>
          </a:p>
        </p:txBody>
      </p:sp>
    </p:spTree>
    <p:extLst>
      <p:ext uri="{BB962C8B-B14F-4D97-AF65-F5344CB8AC3E}">
        <p14:creationId xmlns:p14="http://schemas.microsoft.com/office/powerpoint/2010/main" xmlns="" val="2170478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051720" y="274638"/>
            <a:ext cx="6635080" cy="1143000"/>
          </a:xfrm>
          <a:prstGeom prst="rect">
            <a:avLst/>
          </a:prstGeom>
        </p:spPr>
        <p:txBody>
          <a:bodyPr/>
          <a:lstStyle/>
          <a:p>
            <a:r>
              <a:rPr lang="en-US" smtClean="0"/>
              <a:t>Click to edit Master title style</a:t>
            </a:r>
            <a:endParaRPr lang="en-MY"/>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Slide Number Placeholder 5"/>
          <p:cNvSpPr>
            <a:spLocks noGrp="1"/>
          </p:cNvSpPr>
          <p:nvPr>
            <p:ph type="sldNum" sz="quarter" idx="10"/>
          </p:nvPr>
        </p:nvSpPr>
        <p:spPr/>
        <p:txBody>
          <a:bodyPr/>
          <a:lstStyle>
            <a:lvl1pPr>
              <a:defRPr/>
            </a:lvl1pPr>
          </a:lstStyle>
          <a:p>
            <a:pPr>
              <a:defRPr/>
            </a:pPr>
            <a:fld id="{CB550E47-A751-AA47-860B-D2C716421CD4}" type="slidenum">
              <a:rPr lang="en-US"/>
              <a:pPr>
                <a:defRPr/>
              </a:pPr>
              <a:t>‹#›</a:t>
            </a:fld>
            <a:endParaRPr lang="en-US"/>
          </a:p>
        </p:txBody>
      </p:sp>
    </p:spTree>
    <p:extLst>
      <p:ext uri="{BB962C8B-B14F-4D97-AF65-F5344CB8AC3E}">
        <p14:creationId xmlns:p14="http://schemas.microsoft.com/office/powerpoint/2010/main" xmlns="" val="2479872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MY"/>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Slide Number Placeholder 5"/>
          <p:cNvSpPr>
            <a:spLocks noGrp="1"/>
          </p:cNvSpPr>
          <p:nvPr>
            <p:ph type="sldNum" sz="quarter" idx="10"/>
          </p:nvPr>
        </p:nvSpPr>
        <p:spPr/>
        <p:txBody>
          <a:bodyPr/>
          <a:lstStyle>
            <a:lvl1pPr>
              <a:defRPr/>
            </a:lvl1pPr>
          </a:lstStyle>
          <a:p>
            <a:pPr>
              <a:defRPr/>
            </a:pPr>
            <a:fld id="{E3D63B45-6AF1-FD42-9989-52F9E9D83E78}" type="slidenum">
              <a:rPr lang="en-US"/>
              <a:pPr>
                <a:defRPr/>
              </a:pPr>
              <a:t>‹#›</a:t>
            </a:fld>
            <a:endParaRPr lang="en-US"/>
          </a:p>
        </p:txBody>
      </p:sp>
    </p:spTree>
    <p:extLst>
      <p:ext uri="{BB962C8B-B14F-4D97-AF65-F5344CB8AC3E}">
        <p14:creationId xmlns:p14="http://schemas.microsoft.com/office/powerpoint/2010/main" xmlns="" val="810042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7008813" y="6492875"/>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cs typeface="Arial" charset="0"/>
              </a:defRPr>
            </a:lvl1pPr>
          </a:lstStyle>
          <a:p>
            <a:pPr>
              <a:defRPr/>
            </a:pPr>
            <a:fld id="{728DF5CF-A5FD-0F42-BDA0-15B83FC60769}" type="slidenum">
              <a:rPr lang="en-US"/>
              <a:pPr>
                <a:defRPr/>
              </a:pPr>
              <a:t>‹#›</a:t>
            </a:fld>
            <a:endParaRPr lang="en-US"/>
          </a:p>
        </p:txBody>
      </p:sp>
      <p:sp>
        <p:nvSpPr>
          <p:cNvPr id="1027" name="Title Placeholder 1"/>
          <p:cNvSpPr>
            <a:spLocks noGrp="1"/>
          </p:cNvSpPr>
          <p:nvPr>
            <p:ph type="title"/>
          </p:nvPr>
        </p:nvSpPr>
        <p:spPr bwMode="auto">
          <a:xfrm>
            <a:off x="1908175" y="476250"/>
            <a:ext cx="6629400" cy="649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1908175" y="1600200"/>
            <a:ext cx="6778625" cy="4445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29" name="Picture 11"/>
          <p:cNvPicPr>
            <a:picLocks noChangeAspect="1"/>
          </p:cNvPicPr>
          <p:nvPr userDrawn="1"/>
        </p:nvPicPr>
        <p:blipFill>
          <a:blip r:embed="rId12">
            <a:extLst>
              <a:ext uri="{28A0092B-C50C-407E-A947-70E740481C1C}">
                <a14:useLocalDpi xmlns:a14="http://schemas.microsoft.com/office/drawing/2010/main" xmlns="" val="0"/>
              </a:ext>
            </a:extLst>
          </a:blip>
          <a:srcRect/>
          <a:stretch>
            <a:fillRect/>
          </a:stretch>
        </p:blipFill>
        <p:spPr bwMode="auto">
          <a:xfrm>
            <a:off x="-36513" y="-25400"/>
            <a:ext cx="9217026" cy="690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iming>
    <p:tnLst>
      <p:par>
        <p:cTn id="1" dur="indefinite" restart="never" nodeType="tmRoot"/>
      </p:par>
    </p:tnLst>
  </p:timing>
  <p:hf hdr="0" ftr="0" dt="0"/>
  <p:txStyles>
    <p:titleStyle>
      <a:lvl1pPr algn="ctr" rtl="0" eaLnBrk="0" fontAlgn="base" hangingPunct="0">
        <a:spcBef>
          <a:spcPct val="0"/>
        </a:spcBef>
        <a:spcAft>
          <a:spcPct val="0"/>
        </a:spcAft>
        <a:defRPr sz="3600" kern="1200">
          <a:solidFill>
            <a:schemeClr val="tx1"/>
          </a:solidFill>
          <a:latin typeface="+mj-lt"/>
          <a:ea typeface="ＭＳ Ｐゴシック" charset="0"/>
          <a:cs typeface="ＭＳ Ｐゴシック" charset="0"/>
        </a:defRPr>
      </a:lvl1pPr>
      <a:lvl2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2pPr>
      <a:lvl3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3pPr>
      <a:lvl4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4pPr>
      <a:lvl5pPr algn="ctr" rtl="0" eaLnBrk="0" fontAlgn="base" hangingPunct="0">
        <a:spcBef>
          <a:spcPct val="0"/>
        </a:spcBef>
        <a:spcAft>
          <a:spcPct val="0"/>
        </a:spcAft>
        <a:defRPr sz="3600">
          <a:solidFill>
            <a:schemeClr val="tx1"/>
          </a:solidFill>
          <a:latin typeface="Calibri" pitchFamily="34" charset="0"/>
          <a:ea typeface="ＭＳ Ｐゴシック" charset="0"/>
          <a:cs typeface="ＭＳ Ｐゴシック" charset="0"/>
        </a:defRPr>
      </a:lvl5pPr>
      <a:lvl6pPr marL="457200" algn="ctr" rtl="0" fontAlgn="base">
        <a:spcBef>
          <a:spcPct val="0"/>
        </a:spcBef>
        <a:spcAft>
          <a:spcPct val="0"/>
        </a:spcAft>
        <a:defRPr sz="3600">
          <a:solidFill>
            <a:schemeClr val="tx1"/>
          </a:solidFill>
          <a:latin typeface="Calibri" pitchFamily="34" charset="0"/>
        </a:defRPr>
      </a:lvl6pPr>
      <a:lvl7pPr marL="914400" algn="ctr" rtl="0" fontAlgn="base">
        <a:spcBef>
          <a:spcPct val="0"/>
        </a:spcBef>
        <a:spcAft>
          <a:spcPct val="0"/>
        </a:spcAft>
        <a:defRPr sz="3600">
          <a:solidFill>
            <a:schemeClr val="tx1"/>
          </a:solidFill>
          <a:latin typeface="Calibri" pitchFamily="34" charset="0"/>
        </a:defRPr>
      </a:lvl7pPr>
      <a:lvl8pPr marL="1371600" algn="ctr" rtl="0" fontAlgn="base">
        <a:spcBef>
          <a:spcPct val="0"/>
        </a:spcBef>
        <a:spcAft>
          <a:spcPct val="0"/>
        </a:spcAft>
        <a:defRPr sz="3600">
          <a:solidFill>
            <a:schemeClr val="tx1"/>
          </a:solidFill>
          <a:latin typeface="Calibri" pitchFamily="34" charset="0"/>
        </a:defRPr>
      </a:lvl8pPr>
      <a:lvl9pPr marL="1828800" algn="ctr" rtl="0" fontAlgn="base">
        <a:spcBef>
          <a:spcPct val="0"/>
        </a:spcBef>
        <a:spcAft>
          <a:spcPct val="0"/>
        </a:spcAft>
        <a:defRPr sz="36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5.xml"/><Relationship Id="rId1" Type="http://schemas.openxmlformats.org/officeDocument/2006/relationships/vmlDrawing" Target="../drawings/vmlDrawing2.v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5.xml"/><Relationship Id="rId1" Type="http://schemas.openxmlformats.org/officeDocument/2006/relationships/vmlDrawing" Target="../drawings/vmlDrawing3.vml"/><Relationship Id="rId5" Type="http://schemas.openxmlformats.org/officeDocument/2006/relationships/oleObject" Target="../embeddings/oleObject6.bin"/><Relationship Id="rId4" Type="http://schemas.openxmlformats.org/officeDocument/2006/relationships/oleObject" Target="../embeddings/oleObject5.bin"/></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5.xml"/><Relationship Id="rId1" Type="http://schemas.openxmlformats.org/officeDocument/2006/relationships/vmlDrawing" Target="../drawings/vmlDrawing4.vml"/><Relationship Id="rId5" Type="http://schemas.openxmlformats.org/officeDocument/2006/relationships/oleObject" Target="../embeddings/oleObject9.bin"/><Relationship Id="rId4" Type="http://schemas.openxmlformats.org/officeDocument/2006/relationships/oleObject" Target="../embeddings/oleObject8.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5.xml"/><Relationship Id="rId1" Type="http://schemas.openxmlformats.org/officeDocument/2006/relationships/vmlDrawing" Target="../drawings/vmlDrawing5.vml"/><Relationship Id="rId4" Type="http://schemas.openxmlformats.org/officeDocument/2006/relationships/oleObject" Target="../embeddings/oleObject11.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5.xml"/><Relationship Id="rId1" Type="http://schemas.openxmlformats.org/officeDocument/2006/relationships/vmlDrawing" Target="../drawings/vmlDrawing6.vml"/><Relationship Id="rId4" Type="http://schemas.openxmlformats.org/officeDocument/2006/relationships/oleObject" Target="../embeddings/oleObject13.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4"/>
          <p:cNvSpPr txBox="1">
            <a:spLocks/>
          </p:cNvSpPr>
          <p:nvPr/>
        </p:nvSpPr>
        <p:spPr bwMode="auto">
          <a:xfrm>
            <a:off x="1979613" y="274638"/>
            <a:ext cx="5832475" cy="777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a:defRPr/>
            </a:pPr>
            <a:r>
              <a:rPr lang="en-US" altLang="en-US" sz="2000" b="1" cap="all"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Britannic Bold" panose="020B0903060703020204" pitchFamily="34" charset="0"/>
              </a:rPr>
              <a:t>SCSI1113: COMPUTATIONAL MATHEMATICS</a:t>
            </a:r>
            <a:endParaRPr lang="en-US" altLang="en-US" sz="20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Britannic Bold" panose="020B0903060703020204" pitchFamily="34" charset="0"/>
            </a:endParaRPr>
          </a:p>
        </p:txBody>
      </p:sp>
      <p:sp>
        <p:nvSpPr>
          <p:cNvPr id="13314" name="Content Placeholder 16"/>
          <p:cNvSpPr txBox="1">
            <a:spLocks/>
          </p:cNvSpPr>
          <p:nvPr/>
        </p:nvSpPr>
        <p:spPr bwMode="auto">
          <a:xfrm>
            <a:off x="1042988" y="1844675"/>
            <a:ext cx="7489825" cy="1571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algn="ctr" eaLnBrk="1" hangingPunct="1">
              <a:buFont typeface="Arial" charset="0"/>
              <a:buNone/>
            </a:pPr>
            <a:r>
              <a:rPr lang="en-US" sz="4800" dirty="0">
                <a:solidFill>
                  <a:srgbClr val="0070C0"/>
                </a:solidFill>
                <a:latin typeface="Britannic Bold" charset="0"/>
                <a:cs typeface="Arial" charset="0"/>
              </a:rPr>
              <a:t>CHAPTER </a:t>
            </a:r>
            <a:r>
              <a:rPr lang="en-US" sz="4800" dirty="0" smtClean="0">
                <a:solidFill>
                  <a:srgbClr val="0070C0"/>
                </a:solidFill>
                <a:latin typeface="Britannic Bold" charset="0"/>
                <a:cs typeface="Arial" charset="0"/>
              </a:rPr>
              <a:t>5</a:t>
            </a:r>
            <a:endParaRPr lang="en-US" sz="4800" dirty="0">
              <a:solidFill>
                <a:srgbClr val="0070C0"/>
              </a:solidFill>
              <a:latin typeface="Britannic Bold" charset="0"/>
              <a:cs typeface="Arial" charset="0"/>
            </a:endParaRPr>
          </a:p>
          <a:p>
            <a:pPr algn="ctr" eaLnBrk="1" hangingPunct="1">
              <a:buFont typeface="Arial" charset="0"/>
              <a:buNone/>
            </a:pPr>
            <a:endParaRPr lang="en-US" sz="4800" dirty="0">
              <a:latin typeface="Britannic Bold" charset="0"/>
              <a:cs typeface="Arial" charset="0"/>
            </a:endParaRPr>
          </a:p>
          <a:p>
            <a:pPr algn="ctr" eaLnBrk="1" hangingPunct="1">
              <a:buFont typeface="Arial" charset="0"/>
              <a:buNone/>
            </a:pPr>
            <a:r>
              <a:rPr lang="en-US" sz="3600" dirty="0" smtClean="0">
                <a:latin typeface="Britannic Bold" charset="0"/>
                <a:cs typeface="Arial" charset="0"/>
              </a:rPr>
              <a:t>Introduction to Numerical Methods</a:t>
            </a:r>
          </a:p>
          <a:p>
            <a:pPr algn="ctr" eaLnBrk="1" hangingPunct="1">
              <a:buFont typeface="Arial" charset="0"/>
              <a:buNone/>
            </a:pPr>
            <a:r>
              <a:rPr lang="en-US" sz="3200" dirty="0" smtClean="0">
                <a:latin typeface="Britannic Bold" charset="0"/>
                <a:cs typeface="Arial" charset="0"/>
              </a:rPr>
              <a:t>(Error &amp; Accuracy)</a:t>
            </a:r>
            <a:endParaRPr lang="en-US" sz="3200" dirty="0">
              <a:latin typeface="Britannic Bold" charset="0"/>
              <a:cs typeface="Arial" charset="0"/>
            </a:endParaRPr>
          </a:p>
        </p:txBody>
      </p:sp>
      <p:sp>
        <p:nvSpPr>
          <p:cNvPr id="13316" name="Slide Number Placeholder 1"/>
          <p:cNvSpPr>
            <a:spLocks noGrp="1"/>
          </p:cNvSpPr>
          <p:nvPr>
            <p:ph type="sldNum" sz="quarter" idx="10"/>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0BA940A0-AA9A-2141-AD02-9C8B58721019}" type="slidenum">
              <a:rPr lang="en-US" sz="1200">
                <a:solidFill>
                  <a:srgbClr val="898989"/>
                </a:solidFill>
                <a:cs typeface="Arial" charset="0"/>
              </a:rPr>
              <a:pPr eaLnBrk="1" hangingPunct="1"/>
              <a:t>1</a:t>
            </a:fld>
            <a:endParaRPr lang="en-US" sz="1200">
              <a:solidFill>
                <a:srgbClr val="898989"/>
              </a:solidFill>
              <a:cs typeface="Arial" charset="0"/>
            </a:endParaRPr>
          </a:p>
        </p:txBody>
      </p:sp>
      <p:sp>
        <p:nvSpPr>
          <p:cNvPr id="13317" name="TextBox 1"/>
          <p:cNvSpPr txBox="1">
            <a:spLocks noChangeArrowheads="1"/>
          </p:cNvSpPr>
          <p:nvPr/>
        </p:nvSpPr>
        <p:spPr bwMode="auto">
          <a:xfrm>
            <a:off x="3458771" y="6165850"/>
            <a:ext cx="248138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r>
              <a:rPr lang="en-US" sz="1800" dirty="0" smtClean="0"/>
              <a:t>2014/2015 – Semester 2</a:t>
            </a:r>
            <a:endParaRPr lang="en-US" sz="1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p:cNvSpPr>
            <a:spLocks noChangeArrowheads="1"/>
          </p:cNvSpPr>
          <p:nvPr/>
        </p:nvSpPr>
        <p:spPr bwMode="auto">
          <a:xfrm>
            <a:off x="323528" y="1340768"/>
            <a:ext cx="8458200" cy="48013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marL="342900" indent="-342900" algn="just">
              <a:buFont typeface="Arial"/>
              <a:buChar char="•"/>
            </a:pPr>
            <a:r>
              <a:rPr lang="en-GB" dirty="0">
                <a:latin typeface="Century Gothic"/>
                <a:cs typeface="Century Gothic"/>
              </a:rPr>
              <a:t>Computational Mathematics has been used since more than 3700 years ago by Babylon tribe to get solution of quadratic equation and square root of </a:t>
            </a:r>
            <a:r>
              <a:rPr lang="en-GB" i="1" dirty="0">
                <a:latin typeface="Century Gothic"/>
                <a:cs typeface="Century Gothic"/>
              </a:rPr>
              <a:t>n</a:t>
            </a:r>
            <a:r>
              <a:rPr lang="en-GB" dirty="0">
                <a:latin typeface="Century Gothic"/>
                <a:cs typeface="Century Gothic"/>
              </a:rPr>
              <a:t> integer. </a:t>
            </a:r>
            <a:endParaRPr lang="en-GB" dirty="0" smtClean="0">
              <a:latin typeface="Century Gothic"/>
              <a:cs typeface="Century Gothic"/>
            </a:endParaRPr>
          </a:p>
          <a:p>
            <a:pPr algn="just"/>
            <a:endParaRPr lang="en-GB" dirty="0" smtClean="0">
              <a:latin typeface="Century Gothic"/>
              <a:cs typeface="Century Gothic"/>
            </a:endParaRPr>
          </a:p>
          <a:p>
            <a:pPr marL="342900" indent="-342900" algn="just">
              <a:buFont typeface="Arial"/>
              <a:buChar char="•"/>
            </a:pPr>
            <a:r>
              <a:rPr lang="en-GB" dirty="0" smtClean="0">
                <a:latin typeface="Century Gothic"/>
                <a:cs typeface="Century Gothic"/>
              </a:rPr>
              <a:t>Computational </a:t>
            </a:r>
            <a:r>
              <a:rPr lang="en-GB" dirty="0">
                <a:latin typeface="Century Gothic"/>
                <a:cs typeface="Century Gothic"/>
              </a:rPr>
              <a:t>Mathematics involves calculation of numerical solution for problems that can be expressed in mathematical form</a:t>
            </a:r>
            <a:r>
              <a:rPr lang="en-GB" dirty="0" smtClean="0">
                <a:latin typeface="Century Gothic"/>
                <a:cs typeface="Century Gothic"/>
              </a:rPr>
              <a:t>.</a:t>
            </a:r>
          </a:p>
          <a:p>
            <a:pPr algn="just"/>
            <a:endParaRPr lang="en-GB" dirty="0" smtClean="0">
              <a:latin typeface="Century Gothic"/>
              <a:cs typeface="Century Gothic"/>
            </a:endParaRPr>
          </a:p>
          <a:p>
            <a:pPr marL="342900" indent="-342900" algn="just">
              <a:buFont typeface="Arial"/>
              <a:buChar char="•"/>
            </a:pPr>
            <a:r>
              <a:rPr lang="en-GB" dirty="0" smtClean="0">
                <a:latin typeface="Century Gothic"/>
                <a:cs typeface="Century Gothic"/>
              </a:rPr>
              <a:t>This </a:t>
            </a:r>
            <a:r>
              <a:rPr lang="en-GB" dirty="0">
                <a:latin typeface="Century Gothic"/>
                <a:cs typeface="Century Gothic"/>
              </a:rPr>
              <a:t>kind of problems that involved various fields usually can only be solved using </a:t>
            </a:r>
            <a:r>
              <a:rPr lang="en-GB" b="1" dirty="0">
                <a:solidFill>
                  <a:srgbClr val="0000FF"/>
                </a:solidFill>
                <a:latin typeface="Century Gothic"/>
                <a:cs typeface="Century Gothic"/>
              </a:rPr>
              <a:t>numerical method</a:t>
            </a:r>
            <a:r>
              <a:rPr lang="en-GB" dirty="0">
                <a:latin typeface="Century Gothic"/>
                <a:cs typeface="Century Gothic"/>
              </a:rPr>
              <a:t>. </a:t>
            </a:r>
            <a:endParaRPr lang="en-GB" dirty="0" smtClean="0">
              <a:latin typeface="Century Gothic"/>
              <a:cs typeface="Century Gothic"/>
            </a:endParaRPr>
          </a:p>
          <a:p>
            <a:pPr algn="just"/>
            <a:endParaRPr lang="en-GB" dirty="0" smtClean="0">
              <a:latin typeface="Century Gothic"/>
              <a:cs typeface="Century Gothic"/>
            </a:endParaRPr>
          </a:p>
          <a:p>
            <a:pPr marL="342900" indent="-342900" algn="just">
              <a:buFont typeface="Arial"/>
              <a:buChar char="•"/>
            </a:pPr>
            <a:r>
              <a:rPr lang="da-DK" dirty="0" err="1" smtClean="0">
                <a:latin typeface="Century Gothic"/>
                <a:cs typeface="Century Gothic"/>
              </a:rPr>
              <a:t>Nevertheless</a:t>
            </a:r>
            <a:r>
              <a:rPr lang="da-DK" dirty="0">
                <a:latin typeface="Century Gothic"/>
                <a:cs typeface="Century Gothic"/>
              </a:rPr>
              <a:t>, </a:t>
            </a:r>
            <a:r>
              <a:rPr lang="en-GB" dirty="0">
                <a:latin typeface="Century Gothic"/>
                <a:cs typeface="Century Gothic"/>
              </a:rPr>
              <a:t>Computational Mathematics </a:t>
            </a:r>
            <a:r>
              <a:rPr lang="da-DK" dirty="0" err="1">
                <a:latin typeface="Century Gothic"/>
                <a:cs typeface="Century Gothic"/>
              </a:rPr>
              <a:t>involves</a:t>
            </a:r>
            <a:r>
              <a:rPr lang="da-DK" dirty="0">
                <a:latin typeface="Century Gothic"/>
                <a:cs typeface="Century Gothic"/>
              </a:rPr>
              <a:t> more </a:t>
            </a:r>
            <a:r>
              <a:rPr lang="da-DK" dirty="0" err="1">
                <a:latin typeface="Century Gothic"/>
                <a:cs typeface="Century Gothic"/>
              </a:rPr>
              <a:t>complex</a:t>
            </a:r>
            <a:r>
              <a:rPr lang="da-DK" dirty="0">
                <a:latin typeface="Century Gothic"/>
                <a:cs typeface="Century Gothic"/>
              </a:rPr>
              <a:t> </a:t>
            </a:r>
            <a:r>
              <a:rPr lang="da-DK" dirty="0" err="1">
                <a:latin typeface="Century Gothic"/>
                <a:cs typeface="Century Gothic"/>
              </a:rPr>
              <a:t>calculation</a:t>
            </a:r>
            <a:r>
              <a:rPr lang="da-DK" dirty="0">
                <a:latin typeface="Century Gothic"/>
                <a:cs typeface="Century Gothic"/>
              </a:rPr>
              <a:t> to </a:t>
            </a:r>
            <a:r>
              <a:rPr lang="da-DK" dirty="0" err="1">
                <a:latin typeface="Century Gothic"/>
                <a:cs typeface="Century Gothic"/>
              </a:rPr>
              <a:t>get</a:t>
            </a:r>
            <a:r>
              <a:rPr lang="da-DK" dirty="0">
                <a:latin typeface="Century Gothic"/>
                <a:cs typeface="Century Gothic"/>
              </a:rPr>
              <a:t> more </a:t>
            </a:r>
            <a:r>
              <a:rPr lang="da-DK" dirty="0" err="1">
                <a:latin typeface="Century Gothic"/>
                <a:cs typeface="Century Gothic"/>
              </a:rPr>
              <a:t>accurate</a:t>
            </a:r>
            <a:r>
              <a:rPr lang="da-DK" dirty="0">
                <a:latin typeface="Century Gothic"/>
                <a:cs typeface="Century Gothic"/>
              </a:rPr>
              <a:t> </a:t>
            </a:r>
            <a:r>
              <a:rPr lang="da-DK" dirty="0" err="1">
                <a:latin typeface="Century Gothic"/>
                <a:cs typeface="Century Gothic"/>
              </a:rPr>
              <a:t>answer</a:t>
            </a:r>
            <a:r>
              <a:rPr lang="da-DK" dirty="0">
                <a:latin typeface="Century Gothic"/>
                <a:cs typeface="Century Gothic"/>
              </a:rPr>
              <a:t> </a:t>
            </a:r>
            <a:r>
              <a:rPr lang="da-DK" dirty="0" err="1">
                <a:latin typeface="Century Gothic"/>
                <a:cs typeface="Century Gothic"/>
              </a:rPr>
              <a:t>compared</a:t>
            </a:r>
            <a:r>
              <a:rPr lang="da-DK" dirty="0">
                <a:latin typeface="Century Gothic"/>
                <a:cs typeface="Century Gothic"/>
              </a:rPr>
              <a:t> to original </a:t>
            </a:r>
            <a:r>
              <a:rPr lang="da-DK" dirty="0" err="1">
                <a:latin typeface="Century Gothic"/>
                <a:cs typeface="Century Gothic"/>
              </a:rPr>
              <a:t>mathematical</a:t>
            </a:r>
            <a:r>
              <a:rPr lang="da-DK" dirty="0">
                <a:latin typeface="Century Gothic"/>
                <a:cs typeface="Century Gothic"/>
              </a:rPr>
              <a:t> </a:t>
            </a:r>
            <a:r>
              <a:rPr lang="da-DK" dirty="0" err="1">
                <a:latin typeface="Century Gothic"/>
                <a:cs typeface="Century Gothic"/>
              </a:rPr>
              <a:t>method</a:t>
            </a:r>
            <a:r>
              <a:rPr lang="da-DK" dirty="0">
                <a:latin typeface="Century Gothic"/>
                <a:cs typeface="Century Gothic"/>
              </a:rPr>
              <a:t> </a:t>
            </a:r>
            <a:r>
              <a:rPr lang="da-DK" dirty="0" err="1">
                <a:latin typeface="Century Gothic"/>
                <a:cs typeface="Century Gothic"/>
              </a:rPr>
              <a:t>that</a:t>
            </a:r>
            <a:r>
              <a:rPr lang="da-DK" dirty="0">
                <a:latin typeface="Century Gothic"/>
                <a:cs typeface="Century Gothic"/>
              </a:rPr>
              <a:t> </a:t>
            </a:r>
            <a:r>
              <a:rPr lang="da-DK" dirty="0" err="1">
                <a:latin typeface="Century Gothic"/>
                <a:cs typeface="Century Gothic"/>
              </a:rPr>
              <a:t>use</a:t>
            </a:r>
            <a:r>
              <a:rPr lang="da-DK" dirty="0">
                <a:latin typeface="Century Gothic"/>
                <a:cs typeface="Century Gothic"/>
              </a:rPr>
              <a:t> </a:t>
            </a:r>
            <a:r>
              <a:rPr lang="da-DK" dirty="0" err="1">
                <a:latin typeface="Century Gothic"/>
                <a:cs typeface="Century Gothic"/>
              </a:rPr>
              <a:t>easier</a:t>
            </a:r>
            <a:r>
              <a:rPr lang="da-DK" dirty="0">
                <a:latin typeface="Century Gothic"/>
                <a:cs typeface="Century Gothic"/>
              </a:rPr>
              <a:t> </a:t>
            </a:r>
            <a:r>
              <a:rPr lang="da-DK" dirty="0" err="1" smtClean="0">
                <a:latin typeface="Century Gothic"/>
                <a:cs typeface="Century Gothic"/>
              </a:rPr>
              <a:t>method</a:t>
            </a:r>
            <a:r>
              <a:rPr lang="da-DK" dirty="0">
                <a:latin typeface="Century Gothic"/>
                <a:cs typeface="Century Gothic"/>
              </a:rPr>
              <a:t>,</a:t>
            </a:r>
            <a:r>
              <a:rPr lang="da-DK" dirty="0" smtClean="0">
                <a:latin typeface="Century Gothic"/>
                <a:cs typeface="Century Gothic"/>
              </a:rPr>
              <a:t> </a:t>
            </a:r>
            <a:r>
              <a:rPr lang="da-DK" dirty="0">
                <a:latin typeface="Century Gothic"/>
                <a:cs typeface="Century Gothic"/>
              </a:rPr>
              <a:t>and </a:t>
            </a:r>
            <a:r>
              <a:rPr lang="da-DK" dirty="0" err="1">
                <a:latin typeface="Century Gothic"/>
                <a:cs typeface="Century Gothic"/>
              </a:rPr>
              <a:t>also</a:t>
            </a:r>
            <a:r>
              <a:rPr lang="da-DK" dirty="0">
                <a:latin typeface="Century Gothic"/>
                <a:cs typeface="Century Gothic"/>
              </a:rPr>
              <a:t> give more </a:t>
            </a:r>
            <a:r>
              <a:rPr lang="da-DK" dirty="0" err="1">
                <a:latin typeface="Century Gothic"/>
                <a:cs typeface="Century Gothic"/>
              </a:rPr>
              <a:t>exact</a:t>
            </a:r>
            <a:r>
              <a:rPr lang="da-DK" dirty="0">
                <a:latin typeface="Century Gothic"/>
                <a:cs typeface="Century Gothic"/>
              </a:rPr>
              <a:t> solution. </a:t>
            </a:r>
            <a:endParaRPr lang="da-DK" dirty="0" smtClean="0">
              <a:latin typeface="Century Gothic"/>
              <a:cs typeface="Century Gothic"/>
            </a:endParaRPr>
          </a:p>
          <a:p>
            <a:pPr algn="just"/>
            <a:endParaRPr lang="da-DK" dirty="0" smtClean="0">
              <a:latin typeface="Century Gothic"/>
              <a:cs typeface="Century Gothic"/>
            </a:endParaRPr>
          </a:p>
          <a:p>
            <a:pPr marL="342900" indent="-342900" algn="just">
              <a:buFont typeface="Arial"/>
              <a:buChar char="•"/>
            </a:pPr>
            <a:r>
              <a:rPr lang="da-DK" dirty="0" smtClean="0">
                <a:latin typeface="Century Gothic"/>
                <a:cs typeface="Century Gothic"/>
              </a:rPr>
              <a:t>Problem </a:t>
            </a:r>
            <a:r>
              <a:rPr lang="da-DK" dirty="0" err="1">
                <a:latin typeface="Century Gothic"/>
                <a:cs typeface="Century Gothic"/>
              </a:rPr>
              <a:t>solving</a:t>
            </a:r>
            <a:r>
              <a:rPr lang="da-DK" dirty="0">
                <a:latin typeface="Century Gothic"/>
                <a:cs typeface="Century Gothic"/>
              </a:rPr>
              <a:t> for original </a:t>
            </a:r>
            <a:r>
              <a:rPr lang="da-DK" dirty="0" err="1">
                <a:latin typeface="Century Gothic"/>
                <a:cs typeface="Century Gothic"/>
              </a:rPr>
              <a:t>mathematical</a:t>
            </a:r>
            <a:r>
              <a:rPr lang="da-DK" dirty="0">
                <a:latin typeface="Century Gothic"/>
                <a:cs typeface="Century Gothic"/>
              </a:rPr>
              <a:t> is </a:t>
            </a:r>
            <a:r>
              <a:rPr lang="da-DK" dirty="0" err="1">
                <a:latin typeface="Century Gothic"/>
                <a:cs typeface="Century Gothic"/>
              </a:rPr>
              <a:t>performed</a:t>
            </a:r>
            <a:r>
              <a:rPr lang="da-DK" dirty="0">
                <a:latin typeface="Century Gothic"/>
                <a:cs typeface="Century Gothic"/>
              </a:rPr>
              <a:t> </a:t>
            </a:r>
            <a:r>
              <a:rPr lang="da-DK" dirty="0" err="1">
                <a:latin typeface="Century Gothic"/>
                <a:cs typeface="Century Gothic"/>
              </a:rPr>
              <a:t>analytically</a:t>
            </a:r>
            <a:r>
              <a:rPr lang="da-DK" dirty="0">
                <a:latin typeface="Century Gothic"/>
                <a:cs typeface="Century Gothic"/>
              </a:rPr>
              <a:t> and limit </a:t>
            </a:r>
            <a:r>
              <a:rPr lang="da-DK" dirty="0" err="1">
                <a:latin typeface="Century Gothic"/>
                <a:cs typeface="Century Gothic"/>
              </a:rPr>
              <a:t>only</a:t>
            </a:r>
            <a:r>
              <a:rPr lang="da-DK" dirty="0">
                <a:latin typeface="Century Gothic"/>
                <a:cs typeface="Century Gothic"/>
              </a:rPr>
              <a:t> to </a:t>
            </a:r>
            <a:r>
              <a:rPr lang="da-DK" dirty="0" err="1">
                <a:latin typeface="Century Gothic"/>
                <a:cs typeface="Century Gothic"/>
              </a:rPr>
              <a:t>certain</a:t>
            </a:r>
            <a:r>
              <a:rPr lang="da-DK" dirty="0">
                <a:latin typeface="Century Gothic"/>
                <a:cs typeface="Century Gothic"/>
              </a:rPr>
              <a:t> problems </a:t>
            </a:r>
            <a:r>
              <a:rPr lang="da-DK" dirty="0" err="1">
                <a:latin typeface="Century Gothic"/>
                <a:cs typeface="Century Gothic"/>
              </a:rPr>
              <a:t>only</a:t>
            </a:r>
            <a:r>
              <a:rPr lang="da-DK" dirty="0">
                <a:latin typeface="Century Gothic"/>
                <a:cs typeface="Century Gothic"/>
              </a:rPr>
              <a:t>.</a:t>
            </a:r>
            <a:endParaRPr lang="en-US" dirty="0">
              <a:latin typeface="Century Gothic"/>
              <a:cs typeface="Century Gothic"/>
            </a:endParaRPr>
          </a:p>
        </p:txBody>
      </p:sp>
      <p:sp>
        <p:nvSpPr>
          <p:cNvPr id="5" name="Title 1"/>
          <p:cNvSpPr txBox="1">
            <a:spLocks/>
          </p:cNvSpPr>
          <p:nvPr/>
        </p:nvSpPr>
        <p:spPr>
          <a:xfrm>
            <a:off x="2339752" y="260648"/>
            <a:ext cx="6120680" cy="685800"/>
          </a:xfrm>
          <a:prstGeom prst="rect">
            <a:avLst/>
          </a:prstGeom>
        </p:spPr>
        <p:style>
          <a:lnRef idx="2">
            <a:schemeClr val="accent2"/>
          </a:lnRef>
          <a:fillRef idx="1">
            <a:schemeClr val="lt1"/>
          </a:fillRef>
          <a:effectRef idx="0">
            <a:schemeClr val="accent2"/>
          </a:effectRef>
          <a:fontRef idx="minor">
            <a:schemeClr val="dk1"/>
          </a:fontRef>
        </p:style>
        <p:txBody>
          <a:bodyPr/>
          <a:lstStyle/>
          <a:p>
            <a:pPr algn="ctr">
              <a:defRPr/>
            </a:pPr>
            <a:r>
              <a:rPr lang="en-US" sz="3600" b="0" kern="0" dirty="0">
                <a:solidFill>
                  <a:srgbClr val="000000"/>
                </a:solidFill>
                <a:latin typeface="+mj-lt"/>
                <a:ea typeface="+mj-ea"/>
                <a:cs typeface="+mj-cs"/>
              </a:rPr>
              <a:t>Introduction</a:t>
            </a:r>
          </a:p>
        </p:txBody>
      </p:sp>
      <p:sp>
        <p:nvSpPr>
          <p:cNvPr id="2" name="Slide Number Placeholder 1"/>
          <p:cNvSpPr>
            <a:spLocks noGrp="1"/>
          </p:cNvSpPr>
          <p:nvPr>
            <p:ph type="sldNum" sz="quarter" idx="10"/>
          </p:nvPr>
        </p:nvSpPr>
        <p:spPr/>
        <p:txBody>
          <a:bodyPr/>
          <a:lstStyle/>
          <a:p>
            <a:pPr>
              <a:defRPr/>
            </a:pPr>
            <a:fld id="{DF7E4A18-3A59-824C-AC98-295202AE0169}" type="slidenum">
              <a:rPr lang="en-US" smtClean="0"/>
              <a:pPr>
                <a:defRPr/>
              </a:pPr>
              <a:t>2</a:t>
            </a:fld>
            <a:endParaRPr lang="en-US"/>
          </a:p>
        </p:txBody>
      </p:sp>
    </p:spTree>
    <p:extLst>
      <p:ext uri="{BB962C8B-B14F-4D97-AF65-F5344CB8AC3E}">
        <p14:creationId xmlns:p14="http://schemas.microsoft.com/office/powerpoint/2010/main" xmlns="" val="23493438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1979712" y="274638"/>
            <a:ext cx="6707088" cy="778098"/>
          </a:xfrm>
        </p:spPr>
        <p:style>
          <a:lnRef idx="2">
            <a:schemeClr val="accent2"/>
          </a:lnRef>
          <a:fillRef idx="1">
            <a:schemeClr val="lt1"/>
          </a:fillRef>
          <a:effectRef idx="0">
            <a:schemeClr val="accent2"/>
          </a:effectRef>
          <a:fontRef idx="minor">
            <a:schemeClr val="dk1"/>
          </a:fontRef>
        </p:style>
        <p:txBody>
          <a:bodyPr/>
          <a:lstStyle/>
          <a:p>
            <a:r>
              <a:rPr lang="da-DK" sz="2400" dirty="0" smtClean="0">
                <a:latin typeface="Arial" charset="0"/>
              </a:rPr>
              <a:t>Problem </a:t>
            </a:r>
            <a:r>
              <a:rPr lang="da-DK" sz="2400" dirty="0" err="1">
                <a:latin typeface="Arial" charset="0"/>
              </a:rPr>
              <a:t>Solving</a:t>
            </a:r>
            <a:r>
              <a:rPr lang="da-DK" sz="2400" dirty="0">
                <a:latin typeface="Arial" charset="0"/>
              </a:rPr>
              <a:t> </a:t>
            </a:r>
            <a:r>
              <a:rPr lang="da-DK" sz="2400" dirty="0" smtClean="0">
                <a:latin typeface="Arial" charset="0"/>
              </a:rPr>
              <a:t>in </a:t>
            </a:r>
            <a:r>
              <a:rPr lang="da-DK" sz="2400" dirty="0" err="1" smtClean="0">
                <a:latin typeface="Arial" charset="0"/>
              </a:rPr>
              <a:t>Computational</a:t>
            </a:r>
            <a:r>
              <a:rPr lang="da-DK" sz="2400" dirty="0" smtClean="0">
                <a:latin typeface="Arial" charset="0"/>
              </a:rPr>
              <a:t> </a:t>
            </a:r>
            <a:r>
              <a:rPr lang="da-DK" sz="2400" dirty="0" err="1" smtClean="0">
                <a:latin typeface="Arial" charset="0"/>
              </a:rPr>
              <a:t>Mathematics</a:t>
            </a:r>
            <a:endParaRPr lang="en-US" sz="2400" dirty="0">
              <a:latin typeface="Arial" charset="0"/>
            </a:endParaRPr>
          </a:p>
        </p:txBody>
      </p:sp>
      <p:sp>
        <p:nvSpPr>
          <p:cNvPr id="4099" name="Slide Number Placeholder 3"/>
          <p:cNvSpPr>
            <a:spLocks noGrp="1"/>
          </p:cNvSpPr>
          <p:nvPr>
            <p:ph type="sldNum" sz="quarter" idx="4294967295"/>
          </p:nvPr>
        </p:nvSpPr>
        <p:spPr>
          <a:xfrm>
            <a:off x="8460432" y="6553200"/>
            <a:ext cx="432048" cy="30480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3BE4C7D2-8A4F-1E42-823D-ABA617A2B2F7}" type="slidenum">
              <a:rPr lang="en-US" sz="1000">
                <a:solidFill>
                  <a:schemeClr val="bg1"/>
                </a:solidFill>
              </a:rPr>
              <a:pPr/>
              <a:t>3</a:t>
            </a:fld>
            <a:endParaRPr lang="en-US" sz="1000">
              <a:solidFill>
                <a:schemeClr val="bg1"/>
              </a:solidFill>
            </a:endParaRPr>
          </a:p>
        </p:txBody>
      </p:sp>
      <p:sp>
        <p:nvSpPr>
          <p:cNvPr id="4100" name="Rectangle 1"/>
          <p:cNvSpPr>
            <a:spLocks noChangeArrowheads="1"/>
          </p:cNvSpPr>
          <p:nvPr/>
        </p:nvSpPr>
        <p:spPr bwMode="auto">
          <a:xfrm>
            <a:off x="827584" y="2204864"/>
            <a:ext cx="7467600" cy="22467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nchor="ctr">
            <a:spAutoFit/>
          </a:bodyPr>
          <a:lstStyle/>
          <a:p>
            <a:pPr algn="just"/>
            <a:r>
              <a:rPr lang="da-DK" sz="2800" b="0" dirty="0">
                <a:latin typeface="Times New Roman" charset="0"/>
                <a:cs typeface="Times New Roman" charset="0"/>
              </a:rPr>
              <a:t>Problems in </a:t>
            </a:r>
            <a:r>
              <a:rPr lang="da-DK" sz="2800" b="0" dirty="0" err="1">
                <a:latin typeface="Times New Roman" charset="0"/>
                <a:cs typeface="Times New Roman" charset="0"/>
              </a:rPr>
              <a:t>mathematic</a:t>
            </a:r>
            <a:r>
              <a:rPr lang="da-DK" sz="2800" b="0" dirty="0">
                <a:latin typeface="Times New Roman" charset="0"/>
                <a:cs typeface="Times New Roman" charset="0"/>
              </a:rPr>
              <a:t> </a:t>
            </a:r>
            <a:r>
              <a:rPr lang="da-DK" sz="2800" b="0" dirty="0" err="1">
                <a:latin typeface="Times New Roman" charset="0"/>
                <a:cs typeface="Times New Roman" charset="0"/>
              </a:rPr>
              <a:t>such</a:t>
            </a:r>
            <a:r>
              <a:rPr lang="da-DK" sz="2800" b="0" dirty="0">
                <a:latin typeface="Times New Roman" charset="0"/>
                <a:cs typeface="Times New Roman" charset="0"/>
              </a:rPr>
              <a:t> as </a:t>
            </a:r>
            <a:r>
              <a:rPr lang="da-DK" sz="2800" b="0" dirty="0" err="1">
                <a:latin typeface="Times New Roman" charset="0"/>
                <a:cs typeface="Times New Roman" charset="0"/>
              </a:rPr>
              <a:t>complex</a:t>
            </a:r>
            <a:r>
              <a:rPr lang="da-DK" sz="2800" b="0" dirty="0">
                <a:latin typeface="Times New Roman" charset="0"/>
                <a:cs typeface="Times New Roman" charset="0"/>
              </a:rPr>
              <a:t> integration,  </a:t>
            </a:r>
            <a:r>
              <a:rPr lang="da-DK" sz="2800" b="0" dirty="0" err="1">
                <a:latin typeface="Times New Roman" charset="0"/>
                <a:cs typeface="Times New Roman" charset="0"/>
              </a:rPr>
              <a:t>calculation</a:t>
            </a:r>
            <a:r>
              <a:rPr lang="da-DK" sz="2800" b="0" dirty="0">
                <a:latin typeface="Times New Roman" charset="0"/>
                <a:cs typeface="Times New Roman" charset="0"/>
              </a:rPr>
              <a:t> </a:t>
            </a:r>
            <a:r>
              <a:rPr lang="da-DK" sz="2800" b="0" dirty="0" err="1">
                <a:latin typeface="Times New Roman" charset="0"/>
                <a:cs typeface="Times New Roman" charset="0"/>
              </a:rPr>
              <a:t>certain</a:t>
            </a:r>
            <a:r>
              <a:rPr lang="da-DK" sz="2800" b="0" dirty="0">
                <a:latin typeface="Times New Roman" charset="0"/>
                <a:cs typeface="Times New Roman" charset="0"/>
              </a:rPr>
              <a:t> </a:t>
            </a:r>
            <a:r>
              <a:rPr lang="da-DK" sz="2800" b="0" dirty="0" err="1">
                <a:latin typeface="Times New Roman" charset="0"/>
                <a:cs typeface="Times New Roman" charset="0"/>
              </a:rPr>
              <a:t>value</a:t>
            </a:r>
            <a:r>
              <a:rPr lang="da-DK" sz="2800" b="0" dirty="0">
                <a:latin typeface="Times New Roman" charset="0"/>
                <a:cs typeface="Times New Roman" charset="0"/>
              </a:rPr>
              <a:t> </a:t>
            </a:r>
            <a:r>
              <a:rPr lang="da-DK" sz="2800" b="0" dirty="0" err="1">
                <a:latin typeface="Times New Roman" charset="0"/>
                <a:cs typeface="Times New Roman" charset="0"/>
              </a:rPr>
              <a:t>that</a:t>
            </a:r>
            <a:r>
              <a:rPr lang="da-DK" sz="2800" b="0" dirty="0">
                <a:latin typeface="Times New Roman" charset="0"/>
                <a:cs typeface="Times New Roman" charset="0"/>
              </a:rPr>
              <a:t> is not </a:t>
            </a:r>
            <a:r>
              <a:rPr lang="da-DK" sz="2800" b="0" dirty="0" err="1">
                <a:latin typeface="Times New Roman" charset="0"/>
                <a:cs typeface="Times New Roman" charset="0"/>
              </a:rPr>
              <a:t>provided</a:t>
            </a:r>
            <a:r>
              <a:rPr lang="da-DK" sz="2800" b="0" dirty="0">
                <a:latin typeface="Times New Roman" charset="0"/>
                <a:cs typeface="Times New Roman" charset="0"/>
              </a:rPr>
              <a:t> in the data series in a </a:t>
            </a:r>
            <a:r>
              <a:rPr lang="da-DK" sz="2800" b="0" dirty="0" err="1">
                <a:latin typeface="Times New Roman" charset="0"/>
                <a:cs typeface="Times New Roman" charset="0"/>
              </a:rPr>
              <a:t>table</a:t>
            </a:r>
            <a:r>
              <a:rPr lang="da-DK" sz="2800" b="0" dirty="0">
                <a:latin typeface="Times New Roman" charset="0"/>
                <a:cs typeface="Times New Roman" charset="0"/>
              </a:rPr>
              <a:t> and linear systems </a:t>
            </a:r>
            <a:r>
              <a:rPr lang="da-DK" sz="2800" b="0" dirty="0" err="1">
                <a:latin typeface="Times New Roman" charset="0"/>
                <a:cs typeface="Times New Roman" charset="0"/>
              </a:rPr>
              <a:t>require</a:t>
            </a:r>
            <a:r>
              <a:rPr lang="da-DK" sz="2800" b="0" dirty="0">
                <a:latin typeface="Times New Roman" charset="0"/>
                <a:cs typeface="Times New Roman" charset="0"/>
              </a:rPr>
              <a:t> a solution </a:t>
            </a:r>
            <a:r>
              <a:rPr lang="da-DK" sz="2800" b="0" dirty="0" err="1">
                <a:latin typeface="Times New Roman" charset="0"/>
                <a:cs typeface="Times New Roman" charset="0"/>
              </a:rPr>
              <a:t>using</a:t>
            </a:r>
            <a:r>
              <a:rPr lang="da-DK" sz="2800" b="0" dirty="0">
                <a:latin typeface="Times New Roman" charset="0"/>
                <a:cs typeface="Times New Roman" charset="0"/>
              </a:rPr>
              <a:t> </a:t>
            </a:r>
            <a:r>
              <a:rPr lang="da-DK" sz="2800" b="0" dirty="0" err="1">
                <a:latin typeface="Times New Roman" charset="0"/>
                <a:cs typeface="Times New Roman" charset="0"/>
              </a:rPr>
              <a:t>numerical</a:t>
            </a:r>
            <a:r>
              <a:rPr lang="da-DK" sz="2800" b="0" dirty="0">
                <a:latin typeface="Times New Roman" charset="0"/>
                <a:cs typeface="Times New Roman" charset="0"/>
              </a:rPr>
              <a:t> </a:t>
            </a:r>
            <a:r>
              <a:rPr lang="da-DK" sz="2800" b="0" dirty="0" err="1">
                <a:latin typeface="Times New Roman" charset="0"/>
                <a:cs typeface="Times New Roman" charset="0"/>
              </a:rPr>
              <a:t>method</a:t>
            </a:r>
            <a:r>
              <a:rPr lang="da-DK" sz="2800" b="0" dirty="0">
                <a:latin typeface="Times New Roman" charset="0"/>
                <a:cs typeface="Times New Roman" charset="0"/>
              </a:rPr>
              <a:t>.</a:t>
            </a:r>
          </a:p>
        </p:txBody>
      </p:sp>
    </p:spTree>
    <p:extLst>
      <p:ext uri="{BB962C8B-B14F-4D97-AF65-F5344CB8AC3E}">
        <p14:creationId xmlns:p14="http://schemas.microsoft.com/office/powerpoint/2010/main" xmlns="" val="26533759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3" name="Object 5"/>
          <p:cNvGraphicFramePr>
            <a:graphicFrameLocks noChangeAspect="1"/>
          </p:cNvGraphicFramePr>
          <p:nvPr>
            <p:extLst>
              <p:ext uri="{D42A27DB-BD31-4B8C-83A1-F6EECF244321}">
                <p14:modId xmlns:p14="http://schemas.microsoft.com/office/powerpoint/2010/main" xmlns="" val="2856272805"/>
              </p:ext>
            </p:extLst>
          </p:nvPr>
        </p:nvGraphicFramePr>
        <p:xfrm>
          <a:off x="1979712" y="2204864"/>
          <a:ext cx="990600" cy="666750"/>
        </p:xfrm>
        <a:graphic>
          <a:graphicData uri="http://schemas.openxmlformats.org/presentationml/2006/ole">
            <p:oleObj spid="_x0000_s27718" name="Equation" r:id="rId3" imgW="495085" imgH="330057" progId="Equation.3">
              <p:embed/>
            </p:oleObj>
          </a:graphicData>
        </a:graphic>
      </p:graphicFrame>
      <p:graphicFrame>
        <p:nvGraphicFramePr>
          <p:cNvPr id="5124" name="Object 4"/>
          <p:cNvGraphicFramePr>
            <a:graphicFrameLocks noChangeAspect="1"/>
          </p:cNvGraphicFramePr>
          <p:nvPr>
            <p:extLst>
              <p:ext uri="{D42A27DB-BD31-4B8C-83A1-F6EECF244321}">
                <p14:modId xmlns:p14="http://schemas.microsoft.com/office/powerpoint/2010/main" xmlns="" val="1971192636"/>
              </p:ext>
            </p:extLst>
          </p:nvPr>
        </p:nvGraphicFramePr>
        <p:xfrm>
          <a:off x="2987824" y="2924944"/>
          <a:ext cx="1752600" cy="898529"/>
        </p:xfrm>
        <a:graphic>
          <a:graphicData uri="http://schemas.openxmlformats.org/presentationml/2006/ole">
            <p:oleObj spid="_x0000_s27719" name="Equation" r:id="rId4" imgW="748975" imgH="380835" progId="Equation.3">
              <p:embed/>
            </p:oleObj>
          </a:graphicData>
        </a:graphic>
      </p:graphicFrame>
      <p:sp>
        <p:nvSpPr>
          <p:cNvPr id="5125" name="Rectangle 6"/>
          <p:cNvSpPr>
            <a:spLocks noChangeArrowheads="1"/>
          </p:cNvSpPr>
          <p:nvPr/>
        </p:nvSpPr>
        <p:spPr bwMode="auto">
          <a:xfrm>
            <a:off x="304800" y="1824038"/>
            <a:ext cx="4833938" cy="923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pPr algn="just"/>
            <a:endParaRPr lang="en-US" sz="1800" dirty="0">
              <a:latin typeface="Century Gothic"/>
              <a:cs typeface="Century Gothic"/>
            </a:endParaRPr>
          </a:p>
          <a:p>
            <a:pPr algn="just"/>
            <a:endParaRPr lang="en-US" sz="1800" dirty="0">
              <a:latin typeface="Century Gothic"/>
              <a:cs typeface="Century Gothic"/>
            </a:endParaRPr>
          </a:p>
          <a:p>
            <a:pPr algn="just"/>
            <a:r>
              <a:rPr lang="da-DK" sz="1800" dirty="0">
                <a:latin typeface="Century Gothic"/>
                <a:cs typeface="Century Gothic"/>
              </a:rPr>
              <a:t>Integration of </a:t>
            </a:r>
          </a:p>
        </p:txBody>
      </p:sp>
      <p:sp>
        <p:nvSpPr>
          <p:cNvPr id="5126" name="Rectangle 7"/>
          <p:cNvSpPr>
            <a:spLocks noChangeArrowheads="1"/>
          </p:cNvSpPr>
          <p:nvPr/>
        </p:nvSpPr>
        <p:spPr bwMode="auto">
          <a:xfrm>
            <a:off x="2667000" y="2349157"/>
            <a:ext cx="4857328"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nchor="ctr">
            <a:spAutoFit/>
          </a:bodyPr>
          <a:lstStyle/>
          <a:p>
            <a:pPr algn="just"/>
            <a:r>
              <a:rPr lang="da-DK" sz="1800" dirty="0">
                <a:latin typeface="Century Gothic"/>
                <a:cs typeface="Century Gothic"/>
              </a:rPr>
              <a:t> </a:t>
            </a:r>
            <a:r>
              <a:rPr lang="da-DK" sz="1800" dirty="0" smtClean="0">
                <a:latin typeface="Century Gothic"/>
                <a:cs typeface="Century Gothic"/>
              </a:rPr>
              <a:t>    is </a:t>
            </a:r>
            <a:r>
              <a:rPr lang="da-DK" sz="1800" dirty="0" err="1">
                <a:latin typeface="Century Gothic"/>
                <a:cs typeface="Century Gothic"/>
              </a:rPr>
              <a:t>easy</a:t>
            </a:r>
            <a:r>
              <a:rPr lang="da-DK" sz="1800" dirty="0">
                <a:latin typeface="Century Gothic"/>
                <a:cs typeface="Century Gothic"/>
              </a:rPr>
              <a:t> to </a:t>
            </a:r>
            <a:r>
              <a:rPr lang="da-DK" sz="1800" dirty="0" err="1">
                <a:latin typeface="Century Gothic"/>
                <a:cs typeface="Century Gothic"/>
              </a:rPr>
              <a:t>evaluate</a:t>
            </a:r>
            <a:r>
              <a:rPr lang="da-DK" sz="1800" dirty="0">
                <a:latin typeface="Century Gothic"/>
                <a:cs typeface="Century Gothic"/>
              </a:rPr>
              <a:t> but integration of  </a:t>
            </a:r>
          </a:p>
        </p:txBody>
      </p:sp>
      <p:sp>
        <p:nvSpPr>
          <p:cNvPr id="5127" name="Rectangle 8"/>
          <p:cNvSpPr>
            <a:spLocks noChangeArrowheads="1"/>
          </p:cNvSpPr>
          <p:nvPr/>
        </p:nvSpPr>
        <p:spPr bwMode="auto">
          <a:xfrm>
            <a:off x="395536" y="4139788"/>
            <a:ext cx="8352928"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nchor="ctr">
            <a:spAutoFit/>
          </a:bodyPr>
          <a:lstStyle/>
          <a:p>
            <a:pPr algn="just"/>
            <a:r>
              <a:rPr lang="da-DK" sz="1800" dirty="0">
                <a:latin typeface="Century Gothic"/>
                <a:cs typeface="Century Gothic"/>
              </a:rPr>
              <a:t> is </a:t>
            </a:r>
            <a:r>
              <a:rPr lang="da-DK" sz="1800" dirty="0" err="1">
                <a:latin typeface="Century Gothic"/>
                <a:cs typeface="Century Gothic"/>
              </a:rPr>
              <a:t>difficult</a:t>
            </a:r>
            <a:r>
              <a:rPr lang="da-DK" sz="1800" dirty="0">
                <a:latin typeface="Century Gothic"/>
                <a:cs typeface="Century Gothic"/>
              </a:rPr>
              <a:t> to </a:t>
            </a:r>
            <a:r>
              <a:rPr lang="da-DK" sz="1800" dirty="0" err="1">
                <a:latin typeface="Century Gothic"/>
                <a:cs typeface="Century Gothic"/>
              </a:rPr>
              <a:t>evaluate</a:t>
            </a:r>
            <a:r>
              <a:rPr lang="da-DK" sz="1800" dirty="0">
                <a:latin typeface="Century Gothic"/>
                <a:cs typeface="Century Gothic"/>
              </a:rPr>
              <a:t> and </a:t>
            </a:r>
            <a:r>
              <a:rPr lang="da-DK" sz="1800" dirty="0" err="1">
                <a:latin typeface="Century Gothic"/>
                <a:cs typeface="Century Gothic"/>
              </a:rPr>
              <a:t>require</a:t>
            </a:r>
            <a:r>
              <a:rPr lang="da-DK" sz="1800" dirty="0">
                <a:latin typeface="Century Gothic"/>
                <a:cs typeface="Century Gothic"/>
              </a:rPr>
              <a:t> </a:t>
            </a:r>
            <a:r>
              <a:rPr lang="da-DK" sz="1800" dirty="0" err="1">
                <a:latin typeface="Century Gothic"/>
                <a:cs typeface="Century Gothic"/>
              </a:rPr>
              <a:t>numerical</a:t>
            </a:r>
            <a:r>
              <a:rPr lang="da-DK" sz="1800" dirty="0">
                <a:latin typeface="Century Gothic"/>
                <a:cs typeface="Century Gothic"/>
              </a:rPr>
              <a:t> </a:t>
            </a:r>
            <a:r>
              <a:rPr lang="da-DK" sz="1800" dirty="0" err="1">
                <a:latin typeface="Century Gothic"/>
                <a:cs typeface="Century Gothic"/>
              </a:rPr>
              <a:t>method</a:t>
            </a:r>
            <a:r>
              <a:rPr lang="da-DK" sz="1800" dirty="0">
                <a:latin typeface="Century Gothic"/>
                <a:cs typeface="Century Gothic"/>
              </a:rPr>
              <a:t>.</a:t>
            </a:r>
          </a:p>
        </p:txBody>
      </p:sp>
      <p:sp>
        <p:nvSpPr>
          <p:cNvPr id="15" name="Title 1"/>
          <p:cNvSpPr txBox="1">
            <a:spLocks/>
          </p:cNvSpPr>
          <p:nvPr/>
        </p:nvSpPr>
        <p:spPr>
          <a:xfrm>
            <a:off x="2555776" y="332656"/>
            <a:ext cx="5181600" cy="685800"/>
          </a:xfrm>
          <a:prstGeom prst="rect">
            <a:avLst/>
          </a:prstGeom>
        </p:spPr>
        <p:style>
          <a:lnRef idx="2">
            <a:schemeClr val="accent3"/>
          </a:lnRef>
          <a:fillRef idx="1">
            <a:schemeClr val="lt1"/>
          </a:fillRef>
          <a:effectRef idx="0">
            <a:schemeClr val="accent3"/>
          </a:effectRef>
          <a:fontRef idx="minor">
            <a:schemeClr val="dk1"/>
          </a:fontRef>
        </p:style>
        <p:txBody>
          <a:bodyPr/>
          <a:lstStyle/>
          <a:p>
            <a:pPr algn="ctr">
              <a:defRPr/>
            </a:pPr>
            <a:r>
              <a:rPr lang="en-US" sz="2800" b="0" kern="0" dirty="0">
                <a:solidFill>
                  <a:srgbClr val="000000"/>
                </a:solidFill>
                <a:latin typeface="+mj-lt"/>
                <a:ea typeface="+mj-ea"/>
                <a:cs typeface="+mj-cs"/>
              </a:rPr>
              <a:t>Example </a:t>
            </a:r>
            <a:r>
              <a:rPr lang="en-US" sz="2800" b="0" kern="0" dirty="0" smtClean="0">
                <a:solidFill>
                  <a:srgbClr val="000000"/>
                </a:solidFill>
                <a:latin typeface="+mj-lt"/>
                <a:ea typeface="+mj-ea"/>
                <a:cs typeface="+mj-cs"/>
              </a:rPr>
              <a:t>1</a:t>
            </a:r>
            <a:endParaRPr lang="en-US" sz="2800" b="0" kern="0" dirty="0">
              <a:solidFill>
                <a:srgbClr val="000000"/>
              </a:solidFill>
              <a:latin typeface="+mj-lt"/>
              <a:ea typeface="+mj-ea"/>
              <a:cs typeface="+mj-cs"/>
            </a:endParaRPr>
          </a:p>
        </p:txBody>
      </p:sp>
      <p:sp>
        <p:nvSpPr>
          <p:cNvPr id="2" name="Slide Number Placeholder 1"/>
          <p:cNvSpPr>
            <a:spLocks noGrp="1"/>
          </p:cNvSpPr>
          <p:nvPr>
            <p:ph type="sldNum" sz="quarter" idx="10"/>
          </p:nvPr>
        </p:nvSpPr>
        <p:spPr/>
        <p:txBody>
          <a:bodyPr/>
          <a:lstStyle/>
          <a:p>
            <a:pPr>
              <a:defRPr/>
            </a:pPr>
            <a:fld id="{DF7E4A18-3A59-824C-AC98-295202AE0169}" type="slidenum">
              <a:rPr lang="en-US" smtClean="0"/>
              <a:pPr>
                <a:defRPr/>
              </a:pPr>
              <a:t>4</a:t>
            </a:fld>
            <a:endParaRPr lang="en-US"/>
          </a:p>
        </p:txBody>
      </p:sp>
    </p:spTree>
    <p:extLst>
      <p:ext uri="{BB962C8B-B14F-4D97-AF65-F5344CB8AC3E}">
        <p14:creationId xmlns:p14="http://schemas.microsoft.com/office/powerpoint/2010/main" xmlns="" val="1171295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4"/>
          <p:cNvSpPr>
            <a:spLocks noGrp="1"/>
          </p:cNvSpPr>
          <p:nvPr>
            <p:ph type="sldNum" sz="quarter" idx="4294967295"/>
          </p:nvPr>
        </p:nvSpPr>
        <p:spPr>
          <a:xfrm>
            <a:off x="8594104" y="6553200"/>
            <a:ext cx="370384" cy="30480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5A7D8917-A9A6-C344-9CA9-EF25018CBA31}" type="slidenum">
              <a:rPr lang="en-US" sz="1000">
                <a:solidFill>
                  <a:schemeClr val="bg1"/>
                </a:solidFill>
              </a:rPr>
              <a:pPr/>
              <a:t>5</a:t>
            </a:fld>
            <a:endParaRPr lang="en-US" sz="1000">
              <a:solidFill>
                <a:schemeClr val="bg1"/>
              </a:solidFill>
            </a:endParaRPr>
          </a:p>
        </p:txBody>
      </p:sp>
      <p:sp>
        <p:nvSpPr>
          <p:cNvPr id="6147" name="Rectangle 1"/>
          <p:cNvSpPr>
            <a:spLocks noChangeArrowheads="1"/>
          </p:cNvSpPr>
          <p:nvPr/>
        </p:nvSpPr>
        <p:spPr bwMode="auto">
          <a:xfrm>
            <a:off x="228600" y="1773238"/>
            <a:ext cx="8591872" cy="8207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nchor="ctr">
            <a:spAutoFit/>
          </a:bodyPr>
          <a:lstStyle/>
          <a:p>
            <a:pPr algn="just">
              <a:lnSpc>
                <a:spcPct val="120000"/>
              </a:lnSpc>
            </a:pPr>
            <a:r>
              <a:rPr lang="da-DK" sz="2000" dirty="0">
                <a:latin typeface="Century Gothic"/>
                <a:cs typeface="Century Gothic"/>
              </a:rPr>
              <a:t>An </a:t>
            </a:r>
            <a:r>
              <a:rPr lang="da-DK" sz="2000" dirty="0" err="1">
                <a:latin typeface="Century Gothic"/>
                <a:cs typeface="Century Gothic"/>
              </a:rPr>
              <a:t>experiment</a:t>
            </a:r>
            <a:r>
              <a:rPr lang="da-DK" sz="2000" dirty="0">
                <a:latin typeface="Century Gothic"/>
                <a:cs typeface="Century Gothic"/>
              </a:rPr>
              <a:t> is </a:t>
            </a:r>
            <a:r>
              <a:rPr lang="da-DK" sz="2000" dirty="0" err="1">
                <a:latin typeface="Century Gothic"/>
                <a:cs typeface="Century Gothic"/>
              </a:rPr>
              <a:t>conducted</a:t>
            </a:r>
            <a:r>
              <a:rPr lang="da-DK" sz="2000" dirty="0">
                <a:latin typeface="Century Gothic"/>
                <a:cs typeface="Century Gothic"/>
              </a:rPr>
              <a:t> to </a:t>
            </a:r>
            <a:r>
              <a:rPr lang="da-DK" sz="2000" dirty="0" err="1">
                <a:latin typeface="Century Gothic"/>
                <a:cs typeface="Century Gothic"/>
              </a:rPr>
              <a:t>determine</a:t>
            </a:r>
            <a:r>
              <a:rPr lang="da-DK" sz="2000" dirty="0">
                <a:latin typeface="Century Gothic"/>
                <a:cs typeface="Century Gothic"/>
              </a:rPr>
              <a:t> </a:t>
            </a:r>
            <a:r>
              <a:rPr lang="da-DK" sz="2000" dirty="0" err="1">
                <a:latin typeface="Century Gothic"/>
                <a:cs typeface="Century Gothic"/>
              </a:rPr>
              <a:t>velocity</a:t>
            </a:r>
            <a:r>
              <a:rPr lang="da-DK" sz="2000" dirty="0">
                <a:latin typeface="Century Gothic"/>
                <a:cs typeface="Century Gothic"/>
              </a:rPr>
              <a:t> of an </a:t>
            </a:r>
            <a:r>
              <a:rPr lang="da-DK" sz="2000" dirty="0" err="1">
                <a:latin typeface="Century Gothic"/>
                <a:cs typeface="Century Gothic"/>
              </a:rPr>
              <a:t>object</a:t>
            </a:r>
            <a:r>
              <a:rPr lang="da-DK" sz="2000" dirty="0">
                <a:latin typeface="Century Gothic"/>
                <a:cs typeface="Century Gothic"/>
              </a:rPr>
              <a:t> in a </a:t>
            </a:r>
            <a:r>
              <a:rPr lang="da-DK" sz="2000" dirty="0" err="1">
                <a:latin typeface="Century Gothic"/>
                <a:cs typeface="Century Gothic"/>
              </a:rPr>
              <a:t>certain</a:t>
            </a:r>
            <a:r>
              <a:rPr lang="da-DK" sz="2000" dirty="0">
                <a:latin typeface="Century Gothic"/>
                <a:cs typeface="Century Gothic"/>
              </a:rPr>
              <a:t> interval. </a:t>
            </a:r>
            <a:r>
              <a:rPr lang="da-DK" sz="2000" dirty="0" smtClean="0">
                <a:latin typeface="Century Gothic"/>
                <a:cs typeface="Century Gothic"/>
              </a:rPr>
              <a:t>The </a:t>
            </a:r>
            <a:r>
              <a:rPr lang="da-DK" sz="2000" dirty="0" err="1">
                <a:latin typeface="Century Gothic"/>
                <a:cs typeface="Century Gothic"/>
              </a:rPr>
              <a:t>experimental</a:t>
            </a:r>
            <a:r>
              <a:rPr lang="da-DK" sz="2000" dirty="0">
                <a:latin typeface="Century Gothic"/>
                <a:cs typeface="Century Gothic"/>
              </a:rPr>
              <a:t> </a:t>
            </a:r>
            <a:r>
              <a:rPr lang="da-DK" sz="2000" dirty="0" err="1">
                <a:latin typeface="Century Gothic"/>
                <a:cs typeface="Century Gothic"/>
              </a:rPr>
              <a:t>results</a:t>
            </a:r>
            <a:r>
              <a:rPr lang="da-DK" sz="2000" dirty="0">
                <a:latin typeface="Century Gothic"/>
                <a:cs typeface="Century Gothic"/>
              </a:rPr>
              <a:t> is given in </a:t>
            </a:r>
            <a:r>
              <a:rPr lang="da-DK" sz="2000" dirty="0" err="1">
                <a:latin typeface="Century Gothic"/>
                <a:cs typeface="Century Gothic"/>
              </a:rPr>
              <a:t>Table</a:t>
            </a:r>
            <a:r>
              <a:rPr lang="da-DK" sz="2000" dirty="0">
                <a:latin typeface="Century Gothic"/>
                <a:cs typeface="Century Gothic"/>
              </a:rPr>
              <a:t> </a:t>
            </a:r>
            <a:r>
              <a:rPr lang="da-DK" sz="2000" dirty="0" smtClean="0">
                <a:latin typeface="Century Gothic"/>
                <a:cs typeface="Century Gothic"/>
              </a:rPr>
              <a:t>1.</a:t>
            </a:r>
            <a:endParaRPr lang="da-DK" sz="2000" dirty="0">
              <a:latin typeface="Century Gothic"/>
              <a:cs typeface="Century Gothic"/>
            </a:endParaRPr>
          </a:p>
        </p:txBody>
      </p:sp>
      <p:graphicFrame>
        <p:nvGraphicFramePr>
          <p:cNvPr id="7" name="Table 6"/>
          <p:cNvGraphicFramePr>
            <a:graphicFrameLocks noGrp="1"/>
          </p:cNvGraphicFramePr>
          <p:nvPr>
            <p:extLst>
              <p:ext uri="{D42A27DB-BD31-4B8C-83A1-F6EECF244321}">
                <p14:modId xmlns:p14="http://schemas.microsoft.com/office/powerpoint/2010/main" xmlns="" val="1934009338"/>
              </p:ext>
            </p:extLst>
          </p:nvPr>
        </p:nvGraphicFramePr>
        <p:xfrm>
          <a:off x="1066800" y="2971800"/>
          <a:ext cx="6248401" cy="990600"/>
        </p:xfrm>
        <a:graphic>
          <a:graphicData uri="http://schemas.openxmlformats.org/drawingml/2006/table">
            <a:tbl>
              <a:tblPr/>
              <a:tblGrid>
                <a:gridCol w="1874081"/>
                <a:gridCol w="1093031"/>
                <a:gridCol w="1094129"/>
                <a:gridCol w="1093031"/>
                <a:gridCol w="1094129"/>
              </a:tblGrid>
              <a:tr h="330200">
                <a:tc gridSpan="5">
                  <a:txBody>
                    <a:bodyPr/>
                    <a:lstStyle/>
                    <a:p>
                      <a:pPr marL="0" marR="0" algn="ctr">
                        <a:spcBef>
                          <a:spcPts val="0"/>
                        </a:spcBef>
                        <a:spcAft>
                          <a:spcPts val="0"/>
                        </a:spcAft>
                      </a:pPr>
                      <a:r>
                        <a:rPr lang="da-DK" sz="1800" dirty="0" err="1">
                          <a:latin typeface="Times New Roman"/>
                          <a:ea typeface="MS Mincho"/>
                          <a:cs typeface="Times New Roman"/>
                        </a:rPr>
                        <a:t>Table</a:t>
                      </a:r>
                      <a:r>
                        <a:rPr lang="da-DK" sz="1800" dirty="0">
                          <a:latin typeface="Times New Roman"/>
                          <a:ea typeface="MS Mincho"/>
                          <a:cs typeface="Times New Roman"/>
                        </a:rPr>
                        <a:t> </a:t>
                      </a:r>
                      <a:r>
                        <a:rPr lang="da-DK" sz="1800" dirty="0" smtClean="0">
                          <a:latin typeface="Times New Roman"/>
                          <a:ea typeface="MS Mincho"/>
                          <a:cs typeface="Times New Roman"/>
                        </a:rPr>
                        <a:t>1</a:t>
                      </a:r>
                      <a:endParaRPr lang="en-US" sz="1800" dirty="0">
                        <a:latin typeface="Times New Roman"/>
                        <a:ea typeface="MS Mincho"/>
                        <a:cs typeface="Times New Roman"/>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30200">
                <a:tc>
                  <a:txBody>
                    <a:bodyPr/>
                    <a:lstStyle/>
                    <a:p>
                      <a:pPr marL="0" marR="0" algn="just">
                        <a:spcBef>
                          <a:spcPts val="0"/>
                        </a:spcBef>
                        <a:spcAft>
                          <a:spcPts val="0"/>
                        </a:spcAft>
                      </a:pPr>
                      <a:r>
                        <a:rPr lang="da-DK" sz="1800" dirty="0">
                          <a:latin typeface="Times New Roman"/>
                          <a:ea typeface="MS Mincho"/>
                          <a:cs typeface="Times New Roman"/>
                        </a:rPr>
                        <a:t>Time, </a:t>
                      </a:r>
                      <a:r>
                        <a:rPr lang="da-DK" sz="1800" i="1" dirty="0">
                          <a:latin typeface="Times New Roman"/>
                          <a:ea typeface="MS Mincho"/>
                          <a:cs typeface="Times New Roman"/>
                        </a:rPr>
                        <a:t>t</a:t>
                      </a:r>
                      <a:r>
                        <a:rPr lang="da-DK" sz="1800" dirty="0">
                          <a:latin typeface="Times New Roman"/>
                          <a:ea typeface="MS Mincho"/>
                          <a:cs typeface="Times New Roman"/>
                        </a:rPr>
                        <a:t> (s)</a:t>
                      </a:r>
                      <a:endParaRPr lang="en-US" sz="1800" dirty="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da-DK" sz="1800">
                          <a:latin typeface="Times New Roman"/>
                          <a:ea typeface="MS Mincho"/>
                          <a:cs typeface="Times New Roman"/>
                        </a:rPr>
                        <a:t>0.0</a:t>
                      </a:r>
                      <a:endParaRPr lang="en-US" sz="1800">
                        <a:latin typeface="Times New Roman"/>
                        <a:ea typeface="MS Mincho"/>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da-DK" sz="1800" dirty="0">
                          <a:latin typeface="Times New Roman"/>
                          <a:ea typeface="MS Mincho"/>
                          <a:cs typeface="Times New Roman"/>
                        </a:rPr>
                        <a:t>1.0</a:t>
                      </a:r>
                      <a:endParaRPr lang="en-US" sz="1800" dirty="0">
                        <a:latin typeface="Times New Roman"/>
                        <a:ea typeface="MS Mincho"/>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da-DK" sz="1800">
                          <a:latin typeface="Times New Roman"/>
                          <a:ea typeface="MS Mincho"/>
                          <a:cs typeface="Times New Roman"/>
                        </a:rPr>
                        <a:t>2.0</a:t>
                      </a:r>
                      <a:endParaRPr lang="en-US" sz="1800">
                        <a:latin typeface="Times New Roman"/>
                        <a:ea typeface="MS Mincho"/>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da-DK" sz="1800">
                          <a:latin typeface="Times New Roman"/>
                          <a:ea typeface="MS Mincho"/>
                          <a:cs typeface="Times New Roman"/>
                        </a:rPr>
                        <a:t>3.0</a:t>
                      </a:r>
                      <a:endParaRPr lang="en-US" sz="1800">
                        <a:latin typeface="Times New Roman"/>
                        <a:ea typeface="MS Mincho"/>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0200">
                <a:tc>
                  <a:txBody>
                    <a:bodyPr/>
                    <a:lstStyle/>
                    <a:p>
                      <a:pPr marL="0" marR="0" algn="just">
                        <a:spcBef>
                          <a:spcPts val="0"/>
                        </a:spcBef>
                        <a:spcAft>
                          <a:spcPts val="0"/>
                        </a:spcAft>
                      </a:pPr>
                      <a:r>
                        <a:rPr lang="da-DK" sz="1800">
                          <a:latin typeface="Times New Roman"/>
                          <a:ea typeface="MS Mincho"/>
                          <a:cs typeface="Times New Roman"/>
                        </a:rPr>
                        <a:t>Velocity, </a:t>
                      </a:r>
                      <a:r>
                        <a:rPr lang="da-DK" sz="1800" i="1">
                          <a:latin typeface="Times New Roman"/>
                          <a:ea typeface="MS Mincho"/>
                          <a:cs typeface="Times New Roman"/>
                        </a:rPr>
                        <a:t>v </a:t>
                      </a:r>
                      <a:r>
                        <a:rPr lang="da-DK" sz="1800">
                          <a:latin typeface="Times New Roman"/>
                          <a:ea typeface="MS Mincho"/>
                          <a:cs typeface="Times New Roman"/>
                        </a:rPr>
                        <a:t>(m/s)</a:t>
                      </a:r>
                      <a:endParaRPr lang="en-US" sz="1800">
                        <a:latin typeface="Times New Roman"/>
                        <a:ea typeface="MS Mincho"/>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da-DK" sz="1800">
                          <a:latin typeface="Times New Roman"/>
                          <a:ea typeface="MS Mincho"/>
                          <a:cs typeface="Times New Roman"/>
                        </a:rPr>
                        <a:t>0</a:t>
                      </a:r>
                      <a:endParaRPr lang="en-US" sz="1800">
                        <a:latin typeface="Times New Roman"/>
                        <a:ea typeface="MS Mincho"/>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da-DK" sz="1800">
                          <a:latin typeface="Times New Roman"/>
                          <a:ea typeface="MS Mincho"/>
                          <a:cs typeface="Times New Roman"/>
                        </a:rPr>
                        <a:t>0.5</a:t>
                      </a:r>
                      <a:endParaRPr lang="en-US" sz="1800">
                        <a:latin typeface="Times New Roman"/>
                        <a:ea typeface="MS Mincho"/>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da-DK" sz="1800">
                          <a:latin typeface="Times New Roman"/>
                          <a:ea typeface="MS Mincho"/>
                          <a:cs typeface="Times New Roman"/>
                        </a:rPr>
                        <a:t>1.0</a:t>
                      </a:r>
                      <a:endParaRPr lang="en-US" sz="1800">
                        <a:latin typeface="Times New Roman"/>
                        <a:ea typeface="MS Mincho"/>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da-DK" sz="1800" dirty="0">
                          <a:latin typeface="Times New Roman"/>
                          <a:ea typeface="MS Mincho"/>
                          <a:cs typeface="Times New Roman"/>
                        </a:rPr>
                        <a:t>1.5</a:t>
                      </a:r>
                      <a:endParaRPr lang="en-US" sz="1800" dirty="0">
                        <a:latin typeface="Times New Roman"/>
                        <a:ea typeface="MS Mincho"/>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6169" name="Rectangle 3"/>
          <p:cNvSpPr>
            <a:spLocks noChangeArrowheads="1"/>
          </p:cNvSpPr>
          <p:nvPr/>
        </p:nvSpPr>
        <p:spPr bwMode="auto">
          <a:xfrm>
            <a:off x="381000" y="4399364"/>
            <a:ext cx="8153400" cy="1323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pPr algn="just"/>
            <a:r>
              <a:rPr lang="da-DK" sz="2000" dirty="0" smtClean="0">
                <a:solidFill>
                  <a:srgbClr val="000000"/>
                </a:solidFill>
                <a:latin typeface="Century Gothic"/>
                <a:cs typeface="Century Gothic"/>
              </a:rPr>
              <a:t>To find the </a:t>
            </a:r>
            <a:r>
              <a:rPr lang="da-DK" sz="2000" dirty="0" err="1" smtClean="0">
                <a:solidFill>
                  <a:srgbClr val="000000"/>
                </a:solidFill>
                <a:latin typeface="Century Gothic"/>
                <a:cs typeface="Century Gothic"/>
              </a:rPr>
              <a:t>velocity</a:t>
            </a:r>
            <a:r>
              <a:rPr lang="da-DK" sz="2000" dirty="0" smtClean="0">
                <a:solidFill>
                  <a:srgbClr val="000000"/>
                </a:solidFill>
                <a:latin typeface="Century Gothic"/>
                <a:cs typeface="Century Gothic"/>
              </a:rPr>
              <a:t> </a:t>
            </a:r>
            <a:r>
              <a:rPr lang="da-DK" sz="2000" dirty="0">
                <a:solidFill>
                  <a:srgbClr val="000000"/>
                </a:solidFill>
                <a:latin typeface="Century Gothic"/>
                <a:cs typeface="Century Gothic"/>
              </a:rPr>
              <a:t>at </a:t>
            </a:r>
            <a:r>
              <a:rPr lang="da-DK" sz="2000" i="1" dirty="0">
                <a:solidFill>
                  <a:srgbClr val="000000"/>
                </a:solidFill>
                <a:latin typeface="Times New Roman"/>
                <a:cs typeface="Times New Roman"/>
              </a:rPr>
              <a:t>t</a:t>
            </a:r>
            <a:r>
              <a:rPr lang="da-DK" sz="2000" dirty="0">
                <a:solidFill>
                  <a:srgbClr val="000000"/>
                </a:solidFill>
                <a:latin typeface="Century Gothic"/>
                <a:cs typeface="Century Gothic"/>
              </a:rPr>
              <a:t> = 2.7 </a:t>
            </a:r>
            <a:r>
              <a:rPr lang="en-GB" sz="2000" dirty="0">
                <a:latin typeface="Century Gothic"/>
                <a:cs typeface="Century Gothic"/>
              </a:rPr>
              <a:t>is difficult </a:t>
            </a:r>
            <a:r>
              <a:rPr lang="en-GB" sz="2000" dirty="0" smtClean="0">
                <a:latin typeface="Century Gothic"/>
                <a:cs typeface="Century Gothic"/>
              </a:rPr>
              <a:t>because the data not shown in the table. </a:t>
            </a:r>
            <a:endParaRPr lang="en-GB" sz="2000" dirty="0">
              <a:latin typeface="Century Gothic"/>
              <a:cs typeface="Century Gothic"/>
            </a:endParaRPr>
          </a:p>
          <a:p>
            <a:pPr algn="just"/>
            <a:endParaRPr lang="en-GB" sz="2000" dirty="0" smtClean="0">
              <a:latin typeface="Century Gothic"/>
              <a:cs typeface="Century Gothic"/>
            </a:endParaRPr>
          </a:p>
          <a:p>
            <a:pPr algn="just"/>
            <a:r>
              <a:rPr lang="en-GB" sz="2000" dirty="0" smtClean="0">
                <a:latin typeface="Century Gothic"/>
                <a:cs typeface="Century Gothic"/>
              </a:rPr>
              <a:t>Therefore</a:t>
            </a:r>
            <a:r>
              <a:rPr lang="en-GB" sz="2000" dirty="0">
                <a:latin typeface="Century Gothic"/>
                <a:cs typeface="Century Gothic"/>
              </a:rPr>
              <a:t>, numerical method is required to solve the problem.</a:t>
            </a:r>
            <a:endParaRPr lang="da-DK" sz="2000" dirty="0">
              <a:latin typeface="Century Gothic"/>
              <a:cs typeface="Century Gothic"/>
            </a:endParaRPr>
          </a:p>
        </p:txBody>
      </p:sp>
      <p:sp>
        <p:nvSpPr>
          <p:cNvPr id="14" name="Title 1"/>
          <p:cNvSpPr txBox="1">
            <a:spLocks/>
          </p:cNvSpPr>
          <p:nvPr/>
        </p:nvSpPr>
        <p:spPr bwMode="auto">
          <a:xfrm>
            <a:off x="2627784" y="332656"/>
            <a:ext cx="5181600" cy="685800"/>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anchor="ctr"/>
          <a:lstStyle/>
          <a:p>
            <a:pPr algn="ctr">
              <a:defRPr/>
            </a:pPr>
            <a:r>
              <a:rPr lang="en-US" sz="2800" b="0" kern="0" dirty="0">
                <a:solidFill>
                  <a:srgbClr val="000000"/>
                </a:solidFill>
                <a:latin typeface="+mj-lt"/>
                <a:ea typeface="+mj-ea"/>
                <a:cs typeface="+mj-cs"/>
              </a:rPr>
              <a:t>Example </a:t>
            </a:r>
            <a:r>
              <a:rPr lang="en-US" sz="2800" b="0" kern="0" dirty="0" smtClean="0">
                <a:solidFill>
                  <a:srgbClr val="000000"/>
                </a:solidFill>
                <a:latin typeface="+mj-lt"/>
                <a:ea typeface="+mj-ea"/>
                <a:cs typeface="+mj-cs"/>
              </a:rPr>
              <a:t>2</a:t>
            </a:r>
            <a:endParaRPr lang="en-US" sz="2800" b="0" kern="0" dirty="0">
              <a:solidFill>
                <a:srgbClr val="000000"/>
              </a:solidFill>
              <a:latin typeface="+mj-lt"/>
              <a:ea typeface="+mj-ea"/>
              <a:cs typeface="+mj-cs"/>
            </a:endParaRPr>
          </a:p>
        </p:txBody>
      </p:sp>
    </p:spTree>
    <p:extLst>
      <p:ext uri="{BB962C8B-B14F-4D97-AF65-F5344CB8AC3E}">
        <p14:creationId xmlns:p14="http://schemas.microsoft.com/office/powerpoint/2010/main" xmlns="" val="3611570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2339752" y="274638"/>
            <a:ext cx="6347048" cy="778098"/>
          </a:xfrm>
        </p:spPr>
        <p:style>
          <a:lnRef idx="2">
            <a:schemeClr val="accent3"/>
          </a:lnRef>
          <a:fillRef idx="1">
            <a:schemeClr val="lt1"/>
          </a:fillRef>
          <a:effectRef idx="0">
            <a:schemeClr val="accent3"/>
          </a:effectRef>
          <a:fontRef idx="minor">
            <a:schemeClr val="dk1"/>
          </a:fontRef>
        </p:style>
        <p:txBody>
          <a:bodyPr/>
          <a:lstStyle/>
          <a:p>
            <a:r>
              <a:rPr lang="en-US" sz="3200" dirty="0">
                <a:latin typeface="Arial" charset="0"/>
              </a:rPr>
              <a:t>Example </a:t>
            </a:r>
            <a:r>
              <a:rPr lang="en-US" sz="3200" dirty="0" smtClean="0">
                <a:latin typeface="Arial" charset="0"/>
              </a:rPr>
              <a:t>3</a:t>
            </a:r>
            <a:endParaRPr lang="en-US" sz="3200" dirty="0">
              <a:latin typeface="Arial" charset="0"/>
            </a:endParaRPr>
          </a:p>
        </p:txBody>
      </p:sp>
      <p:sp>
        <p:nvSpPr>
          <p:cNvPr id="7171" name="Slide Number Placeholder 3"/>
          <p:cNvSpPr>
            <a:spLocks noGrp="1"/>
          </p:cNvSpPr>
          <p:nvPr>
            <p:ph type="sldNum" sz="quarter" idx="4294967295"/>
          </p:nvPr>
        </p:nvSpPr>
        <p:spPr>
          <a:xfrm>
            <a:off x="8666112" y="6553200"/>
            <a:ext cx="298376" cy="30480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7C06F56F-7DD3-A343-A932-D72B17F4253E}" type="slidenum">
              <a:rPr lang="en-US" sz="1000">
                <a:solidFill>
                  <a:schemeClr val="bg1"/>
                </a:solidFill>
              </a:rPr>
              <a:pPr/>
              <a:t>6</a:t>
            </a:fld>
            <a:endParaRPr lang="en-US" sz="1000">
              <a:solidFill>
                <a:schemeClr val="bg1"/>
              </a:solidFill>
            </a:endParaRPr>
          </a:p>
        </p:txBody>
      </p:sp>
      <p:sp>
        <p:nvSpPr>
          <p:cNvPr id="7172" name="Rectangle 1"/>
          <p:cNvSpPr>
            <a:spLocks noChangeArrowheads="1"/>
          </p:cNvSpPr>
          <p:nvPr/>
        </p:nvSpPr>
        <p:spPr bwMode="auto">
          <a:xfrm>
            <a:off x="323528" y="1340768"/>
            <a:ext cx="8496944"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nchor="ctr">
            <a:spAutoFit/>
          </a:bodyPr>
          <a:lstStyle/>
          <a:p>
            <a:pPr marL="285750" indent="-285750" algn="just">
              <a:buFont typeface="Arial"/>
              <a:buChar char="•"/>
            </a:pPr>
            <a:r>
              <a:rPr lang="da-DK" sz="1800" dirty="0">
                <a:latin typeface="Century Gothic"/>
                <a:cs typeface="Century Gothic"/>
              </a:rPr>
              <a:t>The </a:t>
            </a:r>
            <a:r>
              <a:rPr lang="da-DK" sz="1800" dirty="0" err="1">
                <a:latin typeface="Century Gothic"/>
                <a:cs typeface="Century Gothic"/>
              </a:rPr>
              <a:t>following</a:t>
            </a:r>
            <a:r>
              <a:rPr lang="da-DK" sz="1800" dirty="0">
                <a:latin typeface="Century Gothic"/>
                <a:cs typeface="Century Gothic"/>
              </a:rPr>
              <a:t> linear system </a:t>
            </a:r>
            <a:r>
              <a:rPr lang="da-DK" sz="1800" dirty="0" err="1">
                <a:latin typeface="Century Gothic"/>
                <a:cs typeface="Century Gothic"/>
              </a:rPr>
              <a:t>can</a:t>
            </a:r>
            <a:r>
              <a:rPr lang="da-DK" sz="1800" dirty="0">
                <a:latin typeface="Century Gothic"/>
                <a:cs typeface="Century Gothic"/>
              </a:rPr>
              <a:t> </a:t>
            </a:r>
            <a:r>
              <a:rPr lang="da-DK" sz="1800" dirty="0" err="1">
                <a:latin typeface="Century Gothic"/>
                <a:cs typeface="Century Gothic"/>
              </a:rPr>
              <a:t>be</a:t>
            </a:r>
            <a:r>
              <a:rPr lang="da-DK" sz="1800" dirty="0">
                <a:latin typeface="Century Gothic"/>
                <a:cs typeface="Century Gothic"/>
              </a:rPr>
              <a:t> </a:t>
            </a:r>
            <a:r>
              <a:rPr lang="da-DK" sz="1800" dirty="0" err="1">
                <a:latin typeface="Century Gothic"/>
                <a:cs typeface="Century Gothic"/>
              </a:rPr>
              <a:t>solved</a:t>
            </a:r>
            <a:r>
              <a:rPr lang="da-DK" sz="1800" dirty="0">
                <a:latin typeface="Century Gothic"/>
                <a:cs typeface="Century Gothic"/>
              </a:rPr>
              <a:t> </a:t>
            </a:r>
            <a:r>
              <a:rPr lang="da-DK" sz="1800" dirty="0" err="1">
                <a:latin typeface="Century Gothic"/>
                <a:cs typeface="Century Gothic"/>
              </a:rPr>
              <a:t>using</a:t>
            </a:r>
            <a:r>
              <a:rPr lang="da-DK" sz="1800" dirty="0">
                <a:latin typeface="Century Gothic"/>
                <a:cs typeface="Century Gothic"/>
              </a:rPr>
              <a:t> linear system solution </a:t>
            </a:r>
            <a:r>
              <a:rPr lang="da-DK" sz="1800" dirty="0" err="1">
                <a:latin typeface="Century Gothic"/>
                <a:cs typeface="Century Gothic"/>
              </a:rPr>
              <a:t>technique</a:t>
            </a:r>
            <a:r>
              <a:rPr lang="da-DK" sz="1800" dirty="0">
                <a:latin typeface="Century Gothic"/>
                <a:cs typeface="Century Gothic"/>
              </a:rPr>
              <a:t>.</a:t>
            </a:r>
          </a:p>
        </p:txBody>
      </p:sp>
      <p:sp>
        <p:nvSpPr>
          <p:cNvPr id="7173" name="Rectangle 2"/>
          <p:cNvSpPr>
            <a:spLocks noChangeArrowheads="1"/>
          </p:cNvSpPr>
          <p:nvPr/>
        </p:nvSpPr>
        <p:spPr bwMode="auto">
          <a:xfrm>
            <a:off x="323528" y="3046248"/>
            <a:ext cx="8424936" cy="34070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nchor="ctr">
            <a:spAutoFit/>
          </a:bodyPr>
          <a:lstStyle/>
          <a:p>
            <a:pPr marL="285750" indent="-285750" algn="just">
              <a:lnSpc>
                <a:spcPct val="120000"/>
              </a:lnSpc>
              <a:buFont typeface="Arial"/>
              <a:buChar char="•"/>
            </a:pPr>
            <a:r>
              <a:rPr lang="da-DK" sz="1800" dirty="0">
                <a:latin typeface="Century Gothic"/>
                <a:cs typeface="Century Gothic"/>
              </a:rPr>
              <a:t>Most </a:t>
            </a:r>
            <a:r>
              <a:rPr lang="da-DK" sz="1800" dirty="0" err="1">
                <a:latin typeface="Century Gothic"/>
                <a:cs typeface="Century Gothic"/>
              </a:rPr>
              <a:t>mathematical</a:t>
            </a:r>
            <a:r>
              <a:rPr lang="da-DK" sz="1800" dirty="0">
                <a:latin typeface="Century Gothic"/>
                <a:cs typeface="Century Gothic"/>
              </a:rPr>
              <a:t> problem in real </a:t>
            </a:r>
            <a:r>
              <a:rPr lang="da-DK" sz="1800" dirty="0" err="1">
                <a:latin typeface="Century Gothic"/>
                <a:cs typeface="Century Gothic"/>
              </a:rPr>
              <a:t>world</a:t>
            </a:r>
            <a:r>
              <a:rPr lang="da-DK" sz="1800" dirty="0">
                <a:latin typeface="Century Gothic"/>
                <a:cs typeface="Century Gothic"/>
              </a:rPr>
              <a:t> </a:t>
            </a:r>
            <a:r>
              <a:rPr lang="da-DK" sz="1800" dirty="0" err="1">
                <a:latin typeface="Century Gothic"/>
                <a:cs typeface="Century Gothic"/>
              </a:rPr>
              <a:t>involves</a:t>
            </a:r>
            <a:r>
              <a:rPr lang="da-DK" sz="1800" dirty="0">
                <a:latin typeface="Century Gothic"/>
                <a:cs typeface="Century Gothic"/>
              </a:rPr>
              <a:t> more </a:t>
            </a:r>
            <a:r>
              <a:rPr lang="da-DK" sz="1800" dirty="0" err="1">
                <a:latin typeface="Century Gothic"/>
                <a:cs typeface="Century Gothic"/>
              </a:rPr>
              <a:t>that</a:t>
            </a:r>
            <a:r>
              <a:rPr lang="da-DK" sz="1800" dirty="0">
                <a:latin typeface="Century Gothic"/>
                <a:cs typeface="Century Gothic"/>
              </a:rPr>
              <a:t> </a:t>
            </a:r>
            <a:r>
              <a:rPr lang="da-DK" sz="1800" dirty="0" err="1">
                <a:latin typeface="Century Gothic"/>
                <a:cs typeface="Century Gothic"/>
              </a:rPr>
              <a:t>three</a:t>
            </a:r>
            <a:r>
              <a:rPr lang="da-DK" sz="1800" dirty="0">
                <a:latin typeface="Century Gothic"/>
                <a:cs typeface="Century Gothic"/>
              </a:rPr>
              <a:t> </a:t>
            </a:r>
            <a:r>
              <a:rPr lang="da-DK" sz="1800" dirty="0" err="1">
                <a:latin typeface="Century Gothic"/>
                <a:cs typeface="Century Gothic"/>
              </a:rPr>
              <a:t>equation</a:t>
            </a:r>
            <a:r>
              <a:rPr lang="da-DK" sz="1800" dirty="0">
                <a:latin typeface="Century Gothic"/>
                <a:cs typeface="Century Gothic"/>
              </a:rPr>
              <a:t>. </a:t>
            </a:r>
            <a:r>
              <a:rPr lang="da-DK" sz="1800" dirty="0" err="1">
                <a:latin typeface="Century Gothic"/>
                <a:cs typeface="Century Gothic"/>
              </a:rPr>
              <a:t>Number</a:t>
            </a:r>
            <a:r>
              <a:rPr lang="da-DK" sz="1800" dirty="0">
                <a:latin typeface="Century Gothic"/>
                <a:cs typeface="Century Gothic"/>
              </a:rPr>
              <a:t> of </a:t>
            </a:r>
            <a:r>
              <a:rPr lang="da-DK" sz="1800" dirty="0" err="1">
                <a:latin typeface="Century Gothic"/>
                <a:cs typeface="Century Gothic"/>
              </a:rPr>
              <a:t>equation</a:t>
            </a:r>
            <a:r>
              <a:rPr lang="da-DK" sz="1800" dirty="0">
                <a:latin typeface="Century Gothic"/>
                <a:cs typeface="Century Gothic"/>
              </a:rPr>
              <a:t> to </a:t>
            </a:r>
            <a:r>
              <a:rPr lang="da-DK" sz="1800" dirty="0" err="1">
                <a:latin typeface="Century Gothic"/>
                <a:cs typeface="Century Gothic"/>
              </a:rPr>
              <a:t>be</a:t>
            </a:r>
            <a:r>
              <a:rPr lang="da-DK" sz="1800" dirty="0">
                <a:latin typeface="Century Gothic"/>
                <a:cs typeface="Century Gothic"/>
              </a:rPr>
              <a:t> </a:t>
            </a:r>
            <a:r>
              <a:rPr lang="da-DK" sz="1800" dirty="0" err="1">
                <a:latin typeface="Century Gothic"/>
                <a:cs typeface="Century Gothic"/>
              </a:rPr>
              <a:t>solved</a:t>
            </a:r>
            <a:r>
              <a:rPr lang="da-DK" sz="1800" dirty="0">
                <a:latin typeface="Century Gothic"/>
                <a:cs typeface="Century Gothic"/>
              </a:rPr>
              <a:t> </a:t>
            </a:r>
            <a:r>
              <a:rPr lang="da-DK" sz="1800" dirty="0" err="1">
                <a:latin typeface="Century Gothic"/>
                <a:cs typeface="Century Gothic"/>
              </a:rPr>
              <a:t>may</a:t>
            </a:r>
            <a:r>
              <a:rPr lang="da-DK" sz="1800" dirty="0">
                <a:latin typeface="Century Gothic"/>
                <a:cs typeface="Century Gothic"/>
              </a:rPr>
              <a:t> </a:t>
            </a:r>
            <a:r>
              <a:rPr lang="da-DK" sz="1800" dirty="0" err="1">
                <a:latin typeface="Century Gothic"/>
                <a:cs typeface="Century Gothic"/>
              </a:rPr>
              <a:t>reach</a:t>
            </a:r>
            <a:r>
              <a:rPr lang="da-DK" sz="1800" dirty="0">
                <a:latin typeface="Century Gothic"/>
                <a:cs typeface="Century Gothic"/>
              </a:rPr>
              <a:t> more </a:t>
            </a:r>
            <a:r>
              <a:rPr lang="da-DK" sz="1800" dirty="0" err="1">
                <a:latin typeface="Century Gothic"/>
                <a:cs typeface="Century Gothic"/>
              </a:rPr>
              <a:t>than</a:t>
            </a:r>
            <a:r>
              <a:rPr lang="da-DK" sz="1800" dirty="0">
                <a:latin typeface="Century Gothic"/>
                <a:cs typeface="Century Gothic"/>
              </a:rPr>
              <a:t> hundred thousand. The </a:t>
            </a:r>
            <a:r>
              <a:rPr lang="da-DK" sz="1800" dirty="0" err="1">
                <a:latin typeface="Century Gothic"/>
                <a:cs typeface="Century Gothic"/>
              </a:rPr>
              <a:t>best</a:t>
            </a:r>
            <a:r>
              <a:rPr lang="da-DK" sz="1800" dirty="0">
                <a:latin typeface="Century Gothic"/>
                <a:cs typeface="Century Gothic"/>
              </a:rPr>
              <a:t> solution to </a:t>
            </a:r>
            <a:r>
              <a:rPr lang="da-DK" sz="1800" dirty="0" err="1">
                <a:latin typeface="Century Gothic"/>
                <a:cs typeface="Century Gothic"/>
              </a:rPr>
              <a:t>solve</a:t>
            </a:r>
            <a:r>
              <a:rPr lang="da-DK" sz="1800" dirty="0">
                <a:latin typeface="Century Gothic"/>
                <a:cs typeface="Century Gothic"/>
              </a:rPr>
              <a:t> the problem is </a:t>
            </a:r>
            <a:r>
              <a:rPr lang="da-DK" sz="1800" dirty="0" err="1">
                <a:latin typeface="Century Gothic"/>
                <a:cs typeface="Century Gothic"/>
              </a:rPr>
              <a:t>using</a:t>
            </a:r>
            <a:r>
              <a:rPr lang="da-DK" sz="1800" dirty="0">
                <a:latin typeface="Century Gothic"/>
                <a:cs typeface="Century Gothic"/>
              </a:rPr>
              <a:t> </a:t>
            </a:r>
            <a:r>
              <a:rPr lang="da-DK" sz="1800" dirty="0" err="1">
                <a:latin typeface="Century Gothic"/>
                <a:cs typeface="Century Gothic"/>
              </a:rPr>
              <a:t>numerical</a:t>
            </a:r>
            <a:r>
              <a:rPr lang="da-DK" sz="1800" dirty="0">
                <a:latin typeface="Century Gothic"/>
                <a:cs typeface="Century Gothic"/>
              </a:rPr>
              <a:t> </a:t>
            </a:r>
            <a:r>
              <a:rPr lang="da-DK" sz="1800" dirty="0" err="1">
                <a:latin typeface="Century Gothic"/>
                <a:cs typeface="Century Gothic"/>
              </a:rPr>
              <a:t>method</a:t>
            </a:r>
            <a:r>
              <a:rPr lang="da-DK" sz="1800" dirty="0">
                <a:latin typeface="Century Gothic"/>
                <a:cs typeface="Century Gothic"/>
              </a:rPr>
              <a:t> with the assistance of computer</a:t>
            </a:r>
            <a:r>
              <a:rPr lang="da-DK" sz="1800" dirty="0" smtClean="0">
                <a:latin typeface="Century Gothic"/>
                <a:cs typeface="Century Gothic"/>
              </a:rPr>
              <a:t>.</a:t>
            </a:r>
          </a:p>
          <a:p>
            <a:pPr algn="just">
              <a:lnSpc>
                <a:spcPct val="120000"/>
              </a:lnSpc>
            </a:pPr>
            <a:endParaRPr lang="en-US" sz="1800" dirty="0">
              <a:latin typeface="Century Gothic"/>
              <a:cs typeface="Century Gothic"/>
            </a:endParaRPr>
          </a:p>
          <a:p>
            <a:pPr marL="285750" indent="-285750" algn="just">
              <a:lnSpc>
                <a:spcPct val="120000"/>
              </a:lnSpc>
              <a:buFont typeface="Arial"/>
              <a:buChar char="•"/>
            </a:pPr>
            <a:r>
              <a:rPr lang="da-DK" sz="1800" dirty="0" err="1">
                <a:latin typeface="Century Gothic"/>
                <a:cs typeface="Century Gothic"/>
              </a:rPr>
              <a:t>Numerical</a:t>
            </a:r>
            <a:r>
              <a:rPr lang="da-DK" sz="1800" dirty="0">
                <a:latin typeface="Century Gothic"/>
                <a:cs typeface="Century Gothic"/>
              </a:rPr>
              <a:t> </a:t>
            </a:r>
            <a:r>
              <a:rPr lang="da-DK" sz="1800" dirty="0" err="1">
                <a:latin typeface="Century Gothic"/>
                <a:cs typeface="Century Gothic"/>
              </a:rPr>
              <a:t>method</a:t>
            </a:r>
            <a:r>
              <a:rPr lang="da-DK" sz="1800" dirty="0">
                <a:latin typeface="Century Gothic"/>
                <a:cs typeface="Century Gothic"/>
              </a:rPr>
              <a:t> is a </a:t>
            </a:r>
            <a:r>
              <a:rPr lang="da-DK" sz="1800" dirty="0" err="1">
                <a:latin typeface="Century Gothic"/>
                <a:cs typeface="Century Gothic"/>
              </a:rPr>
              <a:t>field</a:t>
            </a:r>
            <a:r>
              <a:rPr lang="da-DK" sz="1800" dirty="0">
                <a:latin typeface="Century Gothic"/>
                <a:cs typeface="Century Gothic"/>
              </a:rPr>
              <a:t> </a:t>
            </a:r>
            <a:r>
              <a:rPr lang="da-DK" sz="1800" dirty="0" err="1">
                <a:latin typeface="Century Gothic"/>
                <a:cs typeface="Century Gothic"/>
              </a:rPr>
              <a:t>that</a:t>
            </a:r>
            <a:r>
              <a:rPr lang="da-DK" sz="1800" dirty="0">
                <a:latin typeface="Century Gothic"/>
                <a:cs typeface="Century Gothic"/>
              </a:rPr>
              <a:t> </a:t>
            </a:r>
            <a:r>
              <a:rPr lang="da-DK" sz="1800" dirty="0" err="1">
                <a:latin typeface="Century Gothic"/>
                <a:cs typeface="Century Gothic"/>
              </a:rPr>
              <a:t>involved</a:t>
            </a:r>
            <a:r>
              <a:rPr lang="da-DK" sz="1800" dirty="0">
                <a:latin typeface="Century Gothic"/>
                <a:cs typeface="Century Gothic"/>
              </a:rPr>
              <a:t> </a:t>
            </a:r>
            <a:r>
              <a:rPr lang="da-DK" sz="1800" dirty="0" err="1">
                <a:latin typeface="Century Gothic"/>
                <a:cs typeface="Century Gothic"/>
              </a:rPr>
              <a:t>applied</a:t>
            </a:r>
            <a:r>
              <a:rPr lang="da-DK" sz="1800" dirty="0">
                <a:latin typeface="Century Gothic"/>
                <a:cs typeface="Century Gothic"/>
              </a:rPr>
              <a:t> </a:t>
            </a:r>
            <a:r>
              <a:rPr lang="da-DK" sz="1800" dirty="0" err="1">
                <a:latin typeface="Century Gothic"/>
                <a:cs typeface="Century Gothic"/>
              </a:rPr>
              <a:t>mathematical</a:t>
            </a:r>
            <a:r>
              <a:rPr lang="da-DK" sz="1800" dirty="0">
                <a:latin typeface="Century Gothic"/>
                <a:cs typeface="Century Gothic"/>
              </a:rPr>
              <a:t> in </a:t>
            </a:r>
            <a:r>
              <a:rPr lang="da-DK" sz="1800" dirty="0" err="1">
                <a:latin typeface="Century Gothic"/>
                <a:cs typeface="Century Gothic"/>
              </a:rPr>
              <a:t>representing</a:t>
            </a:r>
            <a:r>
              <a:rPr lang="da-DK" sz="1800" dirty="0">
                <a:latin typeface="Century Gothic"/>
                <a:cs typeface="Century Gothic"/>
              </a:rPr>
              <a:t> and </a:t>
            </a:r>
            <a:r>
              <a:rPr lang="da-DK" sz="1800" dirty="0" err="1">
                <a:latin typeface="Century Gothic"/>
                <a:cs typeface="Century Gothic"/>
              </a:rPr>
              <a:t>solving</a:t>
            </a:r>
            <a:r>
              <a:rPr lang="da-DK" sz="1800" dirty="0">
                <a:latin typeface="Century Gothic"/>
                <a:cs typeface="Century Gothic"/>
              </a:rPr>
              <a:t> </a:t>
            </a:r>
            <a:r>
              <a:rPr lang="da-DK" sz="1800" dirty="0" err="1">
                <a:latin typeface="Century Gothic"/>
                <a:cs typeface="Century Gothic"/>
              </a:rPr>
              <a:t>mathematical</a:t>
            </a:r>
            <a:r>
              <a:rPr lang="da-DK" sz="1800" dirty="0">
                <a:latin typeface="Century Gothic"/>
                <a:cs typeface="Century Gothic"/>
              </a:rPr>
              <a:t> problem. This problem </a:t>
            </a:r>
            <a:r>
              <a:rPr lang="da-DK" sz="1800" dirty="0" err="1">
                <a:latin typeface="Century Gothic"/>
                <a:cs typeface="Century Gothic"/>
              </a:rPr>
              <a:t>use</a:t>
            </a:r>
            <a:r>
              <a:rPr lang="da-DK" sz="1800" dirty="0">
                <a:latin typeface="Century Gothic"/>
                <a:cs typeface="Century Gothic"/>
              </a:rPr>
              <a:t> step of </a:t>
            </a:r>
            <a:r>
              <a:rPr lang="da-DK" sz="1800" dirty="0" err="1">
                <a:latin typeface="Century Gothic"/>
                <a:cs typeface="Century Gothic"/>
              </a:rPr>
              <a:t>works</a:t>
            </a:r>
            <a:r>
              <a:rPr lang="da-DK" sz="1800" dirty="0">
                <a:latin typeface="Century Gothic"/>
                <a:cs typeface="Century Gothic"/>
              </a:rPr>
              <a:t> </a:t>
            </a:r>
            <a:r>
              <a:rPr lang="da-DK" sz="1800" dirty="0" err="1">
                <a:latin typeface="Century Gothic"/>
                <a:cs typeface="Century Gothic"/>
              </a:rPr>
              <a:t>that</a:t>
            </a:r>
            <a:r>
              <a:rPr lang="da-DK" sz="1800" dirty="0">
                <a:latin typeface="Century Gothic"/>
                <a:cs typeface="Century Gothic"/>
              </a:rPr>
              <a:t> </a:t>
            </a:r>
            <a:r>
              <a:rPr lang="da-DK" sz="1800" dirty="0" err="1">
                <a:latin typeface="Century Gothic"/>
                <a:cs typeface="Century Gothic"/>
              </a:rPr>
              <a:t>involve</a:t>
            </a:r>
            <a:r>
              <a:rPr lang="da-DK" sz="1800" dirty="0">
                <a:latin typeface="Century Gothic"/>
                <a:cs typeface="Century Gothic"/>
              </a:rPr>
              <a:t> operation of </a:t>
            </a:r>
            <a:r>
              <a:rPr lang="da-DK" sz="1800" dirty="0" err="1">
                <a:latin typeface="Century Gothic"/>
                <a:cs typeface="Century Gothic"/>
              </a:rPr>
              <a:t>numbers</a:t>
            </a:r>
            <a:r>
              <a:rPr lang="da-DK" sz="1800" dirty="0">
                <a:latin typeface="Century Gothic"/>
                <a:cs typeface="Century Gothic"/>
              </a:rPr>
              <a:t>. It is </a:t>
            </a:r>
            <a:r>
              <a:rPr lang="da-DK" sz="1800" dirty="0" err="1">
                <a:latin typeface="Century Gothic"/>
                <a:cs typeface="Century Gothic"/>
              </a:rPr>
              <a:t>important</a:t>
            </a:r>
            <a:r>
              <a:rPr lang="da-DK" sz="1800" dirty="0">
                <a:latin typeface="Century Gothic"/>
                <a:cs typeface="Century Gothic"/>
              </a:rPr>
              <a:t> to </a:t>
            </a:r>
            <a:r>
              <a:rPr lang="da-DK" sz="1800" dirty="0" err="1">
                <a:latin typeface="Century Gothic"/>
                <a:cs typeface="Century Gothic"/>
              </a:rPr>
              <a:t>know</a:t>
            </a:r>
            <a:r>
              <a:rPr lang="da-DK" sz="1800" dirty="0">
                <a:latin typeface="Century Gothic"/>
                <a:cs typeface="Century Gothic"/>
              </a:rPr>
              <a:t> the </a:t>
            </a:r>
            <a:r>
              <a:rPr lang="da-DK" sz="1800" dirty="0" err="1">
                <a:latin typeface="Century Gothic"/>
                <a:cs typeface="Century Gothic"/>
              </a:rPr>
              <a:t>exact</a:t>
            </a:r>
            <a:r>
              <a:rPr lang="da-DK" sz="1800" dirty="0">
                <a:latin typeface="Century Gothic"/>
                <a:cs typeface="Century Gothic"/>
              </a:rPr>
              <a:t> </a:t>
            </a:r>
            <a:r>
              <a:rPr lang="da-DK" sz="1800" dirty="0" err="1">
                <a:latin typeface="Century Gothic"/>
                <a:cs typeface="Century Gothic"/>
              </a:rPr>
              <a:t>mathematical</a:t>
            </a:r>
            <a:r>
              <a:rPr lang="da-DK" sz="1800" dirty="0">
                <a:latin typeface="Century Gothic"/>
                <a:cs typeface="Century Gothic"/>
              </a:rPr>
              <a:t> solution. High </a:t>
            </a:r>
            <a:r>
              <a:rPr lang="da-DK" sz="1800" dirty="0" err="1">
                <a:latin typeface="Century Gothic"/>
                <a:cs typeface="Century Gothic"/>
              </a:rPr>
              <a:t>accuracy</a:t>
            </a:r>
            <a:r>
              <a:rPr lang="da-DK" sz="1800" dirty="0">
                <a:latin typeface="Century Gothic"/>
                <a:cs typeface="Century Gothic"/>
              </a:rPr>
              <a:t> of </a:t>
            </a:r>
            <a:r>
              <a:rPr lang="da-DK" sz="1800" dirty="0" err="1">
                <a:latin typeface="Century Gothic"/>
                <a:cs typeface="Century Gothic"/>
              </a:rPr>
              <a:t>answer</a:t>
            </a:r>
            <a:r>
              <a:rPr lang="da-DK" sz="1800" dirty="0">
                <a:latin typeface="Century Gothic"/>
                <a:cs typeface="Century Gothic"/>
              </a:rPr>
              <a:t> </a:t>
            </a:r>
            <a:r>
              <a:rPr lang="da-DK" sz="1800" dirty="0" err="1">
                <a:latin typeface="Century Gothic"/>
                <a:cs typeface="Century Gothic"/>
              </a:rPr>
              <a:t>can</a:t>
            </a:r>
            <a:r>
              <a:rPr lang="da-DK" sz="1800" dirty="0">
                <a:latin typeface="Century Gothic"/>
                <a:cs typeface="Century Gothic"/>
              </a:rPr>
              <a:t> </a:t>
            </a:r>
            <a:r>
              <a:rPr lang="da-DK" sz="1800" dirty="0" err="1">
                <a:latin typeface="Century Gothic"/>
                <a:cs typeface="Century Gothic"/>
              </a:rPr>
              <a:t>be</a:t>
            </a:r>
            <a:r>
              <a:rPr lang="da-DK" sz="1800" dirty="0">
                <a:latin typeface="Century Gothic"/>
                <a:cs typeface="Century Gothic"/>
              </a:rPr>
              <a:t> </a:t>
            </a:r>
            <a:r>
              <a:rPr lang="da-DK" sz="1800" dirty="0" err="1">
                <a:latin typeface="Century Gothic"/>
                <a:cs typeface="Century Gothic"/>
              </a:rPr>
              <a:t>obtained</a:t>
            </a:r>
            <a:r>
              <a:rPr lang="da-DK" sz="1800" dirty="0">
                <a:latin typeface="Century Gothic"/>
                <a:cs typeface="Century Gothic"/>
              </a:rPr>
              <a:t> </a:t>
            </a:r>
            <a:r>
              <a:rPr lang="da-DK" sz="1800" dirty="0" err="1">
                <a:latin typeface="Century Gothic"/>
                <a:cs typeface="Century Gothic"/>
              </a:rPr>
              <a:t>through</a:t>
            </a:r>
            <a:r>
              <a:rPr lang="da-DK" sz="1800" dirty="0">
                <a:latin typeface="Century Gothic"/>
                <a:cs typeface="Century Gothic"/>
              </a:rPr>
              <a:t> </a:t>
            </a:r>
            <a:r>
              <a:rPr lang="da-DK" sz="1800" dirty="0" err="1">
                <a:latin typeface="Century Gothic"/>
                <a:cs typeface="Century Gothic"/>
              </a:rPr>
              <a:t>advanced</a:t>
            </a:r>
            <a:r>
              <a:rPr lang="da-DK" sz="1800" dirty="0">
                <a:latin typeface="Century Gothic"/>
                <a:cs typeface="Century Gothic"/>
              </a:rPr>
              <a:t> </a:t>
            </a:r>
            <a:r>
              <a:rPr lang="da-DK" sz="1800" dirty="0" err="1">
                <a:latin typeface="Century Gothic"/>
                <a:cs typeface="Century Gothic"/>
              </a:rPr>
              <a:t>calculation</a:t>
            </a:r>
            <a:r>
              <a:rPr lang="da-DK" sz="1800" dirty="0">
                <a:latin typeface="Century Gothic"/>
                <a:cs typeface="Century Gothic"/>
              </a:rPr>
              <a:t>.</a:t>
            </a:r>
          </a:p>
        </p:txBody>
      </p:sp>
      <p:sp>
        <p:nvSpPr>
          <p:cNvPr id="7174" name="Rectangle 3"/>
          <p:cNvSpPr>
            <a:spLocks noChangeArrowheads="1"/>
          </p:cNvSpPr>
          <p:nvPr/>
        </p:nvSpPr>
        <p:spPr bwMode="auto">
          <a:xfrm>
            <a:off x="1331640" y="1988840"/>
            <a:ext cx="2271713" cy="923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pPr indent="457200" algn="just"/>
            <a:r>
              <a:rPr lang="da-DK" sz="1800" dirty="0">
                <a:latin typeface="Times New Roman" charset="0"/>
                <a:cs typeface="Times New Roman" charset="0"/>
              </a:rPr>
              <a:t>2</a:t>
            </a:r>
            <a:r>
              <a:rPr lang="da-DK" sz="1800" i="1" dirty="0">
                <a:latin typeface="Times New Roman" charset="0"/>
                <a:cs typeface="Times New Roman" charset="0"/>
              </a:rPr>
              <a:t>x </a:t>
            </a:r>
            <a:r>
              <a:rPr lang="da-DK" sz="1800" dirty="0">
                <a:latin typeface="Times New Roman" charset="0"/>
                <a:cs typeface="Times New Roman" charset="0"/>
              </a:rPr>
              <a:t>+ </a:t>
            </a:r>
            <a:r>
              <a:rPr lang="da-DK" sz="1800" i="1" dirty="0">
                <a:latin typeface="Times New Roman" charset="0"/>
                <a:cs typeface="Times New Roman" charset="0"/>
              </a:rPr>
              <a:t>y </a:t>
            </a:r>
            <a:r>
              <a:rPr lang="da-DK" sz="1800" dirty="0">
                <a:latin typeface="Times New Roman" charset="0"/>
                <a:cs typeface="Times New Roman" charset="0"/>
              </a:rPr>
              <a:t>= 4</a:t>
            </a:r>
            <a:endParaRPr lang="en-US" sz="1800" dirty="0"/>
          </a:p>
          <a:p>
            <a:pPr indent="457200" algn="just"/>
            <a:r>
              <a:rPr lang="da-DK" sz="1800" dirty="0">
                <a:latin typeface="Times New Roman" charset="0"/>
                <a:cs typeface="Times New Roman" charset="0"/>
              </a:rPr>
              <a:t>4</a:t>
            </a:r>
            <a:r>
              <a:rPr lang="da-DK" sz="1800" i="1" dirty="0">
                <a:latin typeface="Times New Roman" charset="0"/>
                <a:cs typeface="Times New Roman" charset="0"/>
              </a:rPr>
              <a:t>x </a:t>
            </a:r>
            <a:r>
              <a:rPr lang="da-DK" sz="1800" dirty="0">
                <a:latin typeface="Times New Roman" charset="0"/>
                <a:cs typeface="Times New Roman" charset="0"/>
              </a:rPr>
              <a:t>+ 2</a:t>
            </a:r>
            <a:r>
              <a:rPr lang="da-DK" sz="1800" i="1" dirty="0">
                <a:latin typeface="Times New Roman" charset="0"/>
                <a:cs typeface="Times New Roman" charset="0"/>
              </a:rPr>
              <a:t>y + </a:t>
            </a:r>
            <a:r>
              <a:rPr lang="da-DK" sz="1800" dirty="0">
                <a:latin typeface="Times New Roman" charset="0"/>
                <a:cs typeface="Times New Roman" charset="0"/>
              </a:rPr>
              <a:t>2</a:t>
            </a:r>
            <a:r>
              <a:rPr lang="da-DK" sz="1800" i="1" dirty="0">
                <a:latin typeface="Times New Roman" charset="0"/>
                <a:cs typeface="Times New Roman" charset="0"/>
              </a:rPr>
              <a:t>z </a:t>
            </a:r>
            <a:r>
              <a:rPr lang="da-DK" sz="1800" dirty="0">
                <a:latin typeface="Times New Roman" charset="0"/>
                <a:cs typeface="Times New Roman" charset="0"/>
              </a:rPr>
              <a:t>= 16</a:t>
            </a:r>
            <a:endParaRPr lang="en-US" sz="1800" dirty="0"/>
          </a:p>
          <a:p>
            <a:pPr indent="457200" algn="just"/>
            <a:r>
              <a:rPr lang="da-DK" sz="1800" dirty="0">
                <a:latin typeface="Times New Roman" charset="0"/>
                <a:cs typeface="Times New Roman" charset="0"/>
              </a:rPr>
              <a:t>2</a:t>
            </a:r>
            <a:r>
              <a:rPr lang="da-DK" sz="1800" i="1" dirty="0">
                <a:latin typeface="Times New Roman" charset="0"/>
                <a:cs typeface="Times New Roman" charset="0"/>
              </a:rPr>
              <a:t>x </a:t>
            </a:r>
            <a:r>
              <a:rPr lang="da-DK" sz="1800" dirty="0">
                <a:latin typeface="Times New Roman" charset="0"/>
                <a:cs typeface="Times New Roman" charset="0"/>
              </a:rPr>
              <a:t>+ 3</a:t>
            </a:r>
            <a:r>
              <a:rPr lang="da-DK" sz="1800" i="1" dirty="0">
                <a:latin typeface="Times New Roman" charset="0"/>
                <a:cs typeface="Times New Roman" charset="0"/>
              </a:rPr>
              <a:t>y + z </a:t>
            </a:r>
            <a:r>
              <a:rPr lang="da-DK" sz="1800" dirty="0">
                <a:latin typeface="Times New Roman" charset="0"/>
                <a:cs typeface="Times New Roman" charset="0"/>
              </a:rPr>
              <a:t>= 4</a:t>
            </a:r>
            <a:endParaRPr lang="da-DK" sz="1800" dirty="0"/>
          </a:p>
        </p:txBody>
      </p:sp>
    </p:spTree>
    <p:extLst>
      <p:ext uri="{BB962C8B-B14F-4D97-AF65-F5344CB8AC3E}">
        <p14:creationId xmlns:p14="http://schemas.microsoft.com/office/powerpoint/2010/main" xmlns="" val="27471956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2123728" y="404664"/>
            <a:ext cx="6624736" cy="685800"/>
          </a:xfrm>
        </p:spPr>
        <p:style>
          <a:lnRef idx="2">
            <a:schemeClr val="accent2"/>
          </a:lnRef>
          <a:fillRef idx="1">
            <a:schemeClr val="lt1"/>
          </a:fillRef>
          <a:effectRef idx="0">
            <a:schemeClr val="accent2"/>
          </a:effectRef>
          <a:fontRef idx="minor">
            <a:schemeClr val="dk1"/>
          </a:fontRef>
        </p:style>
        <p:txBody>
          <a:bodyPr/>
          <a:lstStyle/>
          <a:p>
            <a:r>
              <a:rPr lang="en-US" dirty="0" smtClean="0">
                <a:latin typeface="Arial" charset="0"/>
              </a:rPr>
              <a:t>Accuracy </a:t>
            </a:r>
            <a:endParaRPr lang="en-US" dirty="0">
              <a:latin typeface="Arial" charset="0"/>
            </a:endParaRPr>
          </a:p>
        </p:txBody>
      </p:sp>
      <p:sp>
        <p:nvSpPr>
          <p:cNvPr id="13315" name="Slide Number Placeholder 3"/>
          <p:cNvSpPr>
            <a:spLocks noGrp="1"/>
          </p:cNvSpPr>
          <p:nvPr>
            <p:ph type="sldNum" sz="quarter" idx="4294967295"/>
          </p:nvPr>
        </p:nvSpPr>
        <p:spPr>
          <a:xfrm>
            <a:off x="8594104" y="6553200"/>
            <a:ext cx="442392" cy="30480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617A21D4-FB53-5B4D-99AB-7F5BE0DF6FB8}" type="slidenum">
              <a:rPr lang="en-US" sz="1000">
                <a:solidFill>
                  <a:schemeClr val="bg1"/>
                </a:solidFill>
              </a:rPr>
              <a:pPr/>
              <a:t>7</a:t>
            </a:fld>
            <a:endParaRPr lang="en-US" sz="1000" dirty="0">
              <a:solidFill>
                <a:schemeClr val="bg1"/>
              </a:solidFill>
            </a:endParaRPr>
          </a:p>
        </p:txBody>
      </p:sp>
      <p:sp>
        <p:nvSpPr>
          <p:cNvPr id="13316" name="Rectangle 4"/>
          <p:cNvSpPr>
            <a:spLocks noChangeArrowheads="1"/>
          </p:cNvSpPr>
          <p:nvPr/>
        </p:nvSpPr>
        <p:spPr bwMode="auto">
          <a:xfrm>
            <a:off x="457200" y="1676400"/>
            <a:ext cx="8458200" cy="384720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sz="1800" dirty="0">
                <a:latin typeface="Century Gothic"/>
                <a:cs typeface="Century Gothic"/>
              </a:rPr>
              <a:t>In numerical method, if the correct calculation method is chosen to solve the problem, the </a:t>
            </a:r>
            <a:r>
              <a:rPr lang="en-US" sz="1800" b="1" dirty="0">
                <a:solidFill>
                  <a:srgbClr val="FF0000"/>
                </a:solidFill>
                <a:latin typeface="Century Gothic"/>
                <a:cs typeface="Century Gothic"/>
              </a:rPr>
              <a:t>accuracy</a:t>
            </a:r>
            <a:r>
              <a:rPr lang="en-US" sz="1800" dirty="0">
                <a:latin typeface="Century Gothic"/>
                <a:cs typeface="Century Gothic"/>
              </a:rPr>
              <a:t> of answer is affected by two factors namely mistake and error.</a:t>
            </a:r>
          </a:p>
          <a:p>
            <a:endParaRPr lang="en-US" sz="1800" dirty="0">
              <a:latin typeface="Century Gothic"/>
              <a:cs typeface="Century Gothic"/>
            </a:endParaRPr>
          </a:p>
          <a:p>
            <a:r>
              <a:rPr lang="en-US" sz="3200" dirty="0">
                <a:latin typeface="Century Gothic"/>
                <a:cs typeface="Century Gothic"/>
              </a:rPr>
              <a:t>Mistake</a:t>
            </a:r>
          </a:p>
          <a:p>
            <a:r>
              <a:rPr lang="en-US" sz="1800" dirty="0" smtClean="0">
                <a:latin typeface="Century Gothic"/>
                <a:cs typeface="Century Gothic"/>
              </a:rPr>
              <a:t>Two </a:t>
            </a:r>
            <a:r>
              <a:rPr lang="en-US" sz="1800" dirty="0">
                <a:latin typeface="Century Gothic"/>
                <a:cs typeface="Century Gothic"/>
              </a:rPr>
              <a:t>source of mistake are from human carelessness and technical error by machine or computer.</a:t>
            </a:r>
          </a:p>
          <a:p>
            <a:endParaRPr lang="en-US" sz="1800" dirty="0">
              <a:latin typeface="Century Gothic"/>
              <a:cs typeface="Century Gothic"/>
            </a:endParaRPr>
          </a:p>
          <a:p>
            <a:r>
              <a:rPr lang="en-US" sz="3200" dirty="0" smtClean="0">
                <a:latin typeface="Century Gothic"/>
                <a:cs typeface="Century Gothic"/>
              </a:rPr>
              <a:t>Error</a:t>
            </a:r>
            <a:endParaRPr lang="en-US" sz="1800" dirty="0">
              <a:latin typeface="Century Gothic"/>
              <a:cs typeface="Century Gothic"/>
            </a:endParaRPr>
          </a:p>
          <a:p>
            <a:r>
              <a:rPr lang="en-US" sz="1800" dirty="0">
                <a:latin typeface="Century Gothic"/>
                <a:cs typeface="Century Gothic"/>
              </a:rPr>
              <a:t>Error occurs due to approximation process. The error is because of limitation in the power of human and machine. Error by human can be </a:t>
            </a:r>
            <a:r>
              <a:rPr lang="en-US" sz="1800" dirty="0" smtClean="0">
                <a:latin typeface="Century Gothic"/>
                <a:cs typeface="Century Gothic"/>
              </a:rPr>
              <a:t>overcome </a:t>
            </a:r>
            <a:r>
              <a:rPr lang="en-US" sz="1800" dirty="0">
                <a:latin typeface="Century Gothic"/>
                <a:cs typeface="Century Gothic"/>
              </a:rPr>
              <a:t>but not the error by machine.</a:t>
            </a:r>
          </a:p>
        </p:txBody>
      </p:sp>
    </p:spTree>
    <p:extLst>
      <p:ext uri="{BB962C8B-B14F-4D97-AF65-F5344CB8AC3E}">
        <p14:creationId xmlns:p14="http://schemas.microsoft.com/office/powerpoint/2010/main" xmlns="" val="39873123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1"/>
          <p:cNvSpPr>
            <a:spLocks noGrp="1"/>
          </p:cNvSpPr>
          <p:nvPr>
            <p:ph type="sldNum" sz="quarter" idx="4294967295"/>
          </p:nvPr>
        </p:nvSpPr>
        <p:spPr>
          <a:xfrm>
            <a:off x="3124200" y="6172200"/>
            <a:ext cx="2895600" cy="32385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pPr algn="ctr"/>
            <a:fld id="{5519DC01-106B-B544-8121-45FD8F641C6B}" type="slidenum">
              <a:rPr lang="en-US" sz="1000">
                <a:solidFill>
                  <a:srgbClr val="AE3221"/>
                </a:solidFill>
              </a:rPr>
              <a:pPr algn="ctr"/>
              <a:t>8</a:t>
            </a:fld>
            <a:endParaRPr lang="en-US" sz="1000">
              <a:solidFill>
                <a:srgbClr val="AE3221"/>
              </a:solidFill>
            </a:endParaRPr>
          </a:p>
        </p:txBody>
      </p:sp>
      <p:pic>
        <p:nvPicPr>
          <p:cNvPr id="12291"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51520" y="1340768"/>
            <a:ext cx="8587680" cy="5029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TextBox 3"/>
          <p:cNvSpPr txBox="1"/>
          <p:nvPr/>
        </p:nvSpPr>
        <p:spPr>
          <a:xfrm>
            <a:off x="2267744" y="332656"/>
            <a:ext cx="6120680" cy="70788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4000" dirty="0" smtClean="0"/>
              <a:t>Stability &amp; Convergence</a:t>
            </a:r>
            <a:endParaRPr lang="en-US" sz="4000" dirty="0"/>
          </a:p>
        </p:txBody>
      </p:sp>
    </p:spTree>
    <p:extLst>
      <p:ext uri="{BB962C8B-B14F-4D97-AF65-F5344CB8AC3E}">
        <p14:creationId xmlns:p14="http://schemas.microsoft.com/office/powerpoint/2010/main" xmlns="" val="2358392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1"/>
          <p:cNvSpPr>
            <a:spLocks noGrp="1"/>
          </p:cNvSpPr>
          <p:nvPr>
            <p:ph type="sldNum" sz="quarter" idx="4294967295"/>
          </p:nvPr>
        </p:nvSpPr>
        <p:spPr>
          <a:xfrm>
            <a:off x="8532440" y="6534150"/>
            <a:ext cx="439688" cy="32385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pPr algn="ctr"/>
            <a:fld id="{4D659229-3833-984A-A326-DA41F61A8F3E}" type="slidenum">
              <a:rPr lang="en-US" sz="1000">
                <a:solidFill>
                  <a:srgbClr val="AE3221"/>
                </a:solidFill>
              </a:rPr>
              <a:pPr algn="ctr"/>
              <a:t>9</a:t>
            </a:fld>
            <a:endParaRPr lang="en-US" sz="1000">
              <a:solidFill>
                <a:srgbClr val="AE3221"/>
              </a:solidFill>
            </a:endParaRPr>
          </a:p>
        </p:txBody>
      </p:sp>
      <p:pic>
        <p:nvPicPr>
          <p:cNvPr id="8195"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95536" y="1628800"/>
            <a:ext cx="7881938" cy="411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extBox 1"/>
          <p:cNvSpPr txBox="1"/>
          <p:nvPr/>
        </p:nvSpPr>
        <p:spPr>
          <a:xfrm>
            <a:off x="2267744" y="332656"/>
            <a:ext cx="6120680" cy="70788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4000" dirty="0" smtClean="0"/>
              <a:t>Numerical Errors</a:t>
            </a:r>
            <a:endParaRPr lang="en-US" sz="4000" dirty="0"/>
          </a:p>
        </p:txBody>
      </p:sp>
    </p:spTree>
    <p:extLst>
      <p:ext uri="{BB962C8B-B14F-4D97-AF65-F5344CB8AC3E}">
        <p14:creationId xmlns:p14="http://schemas.microsoft.com/office/powerpoint/2010/main" xmlns="" val="165268565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1"/>
          <p:cNvSpPr>
            <a:spLocks noGrp="1"/>
          </p:cNvSpPr>
          <p:nvPr>
            <p:ph type="sldNum" sz="quarter" idx="4294967295"/>
          </p:nvPr>
        </p:nvSpPr>
        <p:spPr>
          <a:xfrm>
            <a:off x="3124200" y="6172200"/>
            <a:ext cx="2895600" cy="32385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pPr algn="ctr"/>
            <a:fld id="{19B15CCB-5EDF-F74F-B46C-1051375D4988}" type="slidenum">
              <a:rPr lang="en-US" sz="1000">
                <a:solidFill>
                  <a:srgbClr val="AE3221"/>
                </a:solidFill>
              </a:rPr>
              <a:pPr algn="ctr"/>
              <a:t>10</a:t>
            </a:fld>
            <a:endParaRPr lang="en-US" sz="1000">
              <a:solidFill>
                <a:srgbClr val="AE3221"/>
              </a:solidFill>
            </a:endParaRPr>
          </a:p>
        </p:txBody>
      </p:sp>
      <p:pic>
        <p:nvPicPr>
          <p:cNvPr id="9219"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11560" y="1412776"/>
            <a:ext cx="7277100" cy="44481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TextBox 3"/>
          <p:cNvSpPr txBox="1"/>
          <p:nvPr/>
        </p:nvSpPr>
        <p:spPr>
          <a:xfrm>
            <a:off x="2267744" y="332656"/>
            <a:ext cx="6120680" cy="70788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4000" dirty="0" smtClean="0"/>
              <a:t>Types of Errors</a:t>
            </a:r>
            <a:endParaRPr lang="en-US" sz="4000" dirty="0"/>
          </a:p>
        </p:txBody>
      </p:sp>
    </p:spTree>
    <p:extLst>
      <p:ext uri="{BB962C8B-B14F-4D97-AF65-F5344CB8AC3E}">
        <p14:creationId xmlns:p14="http://schemas.microsoft.com/office/powerpoint/2010/main" xmlns="" val="22972583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Slide Number Placeholder 3"/>
          <p:cNvSpPr>
            <a:spLocks noGrp="1"/>
          </p:cNvSpPr>
          <p:nvPr>
            <p:ph type="sldNum" sz="quarter" idx="4294967295"/>
          </p:nvPr>
        </p:nvSpPr>
        <p:spPr>
          <a:xfrm>
            <a:off x="7749480" y="6553200"/>
            <a:ext cx="1143000" cy="30480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7B9E6A1E-7B1D-144D-AD0B-A4D919E563B1}" type="slidenum">
              <a:rPr lang="en-US" sz="1000">
                <a:solidFill>
                  <a:schemeClr val="bg1"/>
                </a:solidFill>
              </a:rPr>
              <a:pPr/>
              <a:t>11</a:t>
            </a:fld>
            <a:endParaRPr lang="en-US" sz="1000" dirty="0">
              <a:solidFill>
                <a:schemeClr val="bg1"/>
              </a:solidFill>
            </a:endParaRPr>
          </a:p>
        </p:txBody>
      </p:sp>
      <p:sp>
        <p:nvSpPr>
          <p:cNvPr id="14340" name="Rectangle 4"/>
          <p:cNvSpPr>
            <a:spLocks noChangeArrowheads="1"/>
          </p:cNvSpPr>
          <p:nvPr/>
        </p:nvSpPr>
        <p:spPr bwMode="auto">
          <a:xfrm>
            <a:off x="304800" y="1340768"/>
            <a:ext cx="8610600" cy="51706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sz="2000" b="1" dirty="0">
                <a:latin typeface="Century Gothic"/>
                <a:cs typeface="Century Gothic"/>
              </a:rPr>
              <a:t>Data Error</a:t>
            </a:r>
          </a:p>
          <a:p>
            <a:r>
              <a:rPr lang="en-US" sz="1800" dirty="0">
                <a:latin typeface="Century Gothic"/>
                <a:cs typeface="Century Gothic"/>
              </a:rPr>
              <a:t>Data error is because numbers used in the experiment or calculation is measured at certain accuracy or decimal points. For example, if the volume of a sphere is 6.24 ml3 , so the result contains error. This is because volume of sphere is true only at 2 decimal points.</a:t>
            </a:r>
          </a:p>
          <a:p>
            <a:endParaRPr lang="en-US" sz="1800" dirty="0">
              <a:latin typeface="Century Gothic"/>
              <a:cs typeface="Century Gothic"/>
            </a:endParaRPr>
          </a:p>
          <a:p>
            <a:r>
              <a:rPr lang="en-US" sz="2000" b="1" dirty="0">
                <a:latin typeface="Century Gothic"/>
                <a:cs typeface="Century Gothic"/>
              </a:rPr>
              <a:t>Error in Method/Rounding</a:t>
            </a:r>
          </a:p>
          <a:p>
            <a:r>
              <a:rPr lang="en-US" sz="1800" dirty="0">
                <a:latin typeface="Century Gothic"/>
                <a:cs typeface="Century Gothic"/>
              </a:rPr>
              <a:t>Numerical method involves many infinite series in calculation to derive the approximation of the exact value. Only part of the expression in the infinite series is </a:t>
            </a:r>
            <a:r>
              <a:rPr lang="en-US" sz="1800" dirty="0" err="1">
                <a:latin typeface="Century Gothic"/>
                <a:cs typeface="Century Gothic"/>
              </a:rPr>
              <a:t>utilised</a:t>
            </a:r>
            <a:r>
              <a:rPr lang="en-US" sz="1800" dirty="0">
                <a:latin typeface="Century Gothic"/>
                <a:cs typeface="Century Gothic"/>
              </a:rPr>
              <a:t> and this lead to the error in method.</a:t>
            </a:r>
          </a:p>
          <a:p>
            <a:endParaRPr lang="en-US" sz="1800" dirty="0">
              <a:latin typeface="Century Gothic"/>
              <a:cs typeface="Century Gothic"/>
            </a:endParaRPr>
          </a:p>
          <a:p>
            <a:r>
              <a:rPr lang="en-GB" sz="2000" b="1" dirty="0">
                <a:latin typeface="Century Gothic"/>
                <a:cs typeface="Century Gothic"/>
              </a:rPr>
              <a:t>Rounding Error </a:t>
            </a:r>
            <a:endParaRPr lang="en-US" sz="2000" b="1" dirty="0">
              <a:latin typeface="Century Gothic"/>
              <a:cs typeface="Century Gothic"/>
            </a:endParaRPr>
          </a:p>
          <a:p>
            <a:r>
              <a:rPr lang="en-GB" sz="1800" dirty="0">
                <a:latin typeface="Century Gothic"/>
                <a:cs typeface="Century Gothic"/>
              </a:rPr>
              <a:t>A floating number that contains many decimal points or infinite decimal points can be rounded to certain decimal point but it involves error. Rounding error is the difference between the rounded value and actual value. For example, if 1.67777777….. is rounded to 4 decimal points will give value 1.6778.</a:t>
            </a:r>
            <a:endParaRPr lang="en-US" sz="1800" dirty="0">
              <a:latin typeface="Century Gothic"/>
              <a:cs typeface="Century Gothic"/>
            </a:endParaRPr>
          </a:p>
          <a:p>
            <a:endParaRPr lang="en-US" sz="1800" dirty="0">
              <a:latin typeface="Century Gothic"/>
              <a:cs typeface="Century Gothic"/>
            </a:endParaRPr>
          </a:p>
        </p:txBody>
      </p:sp>
      <p:sp>
        <p:nvSpPr>
          <p:cNvPr id="6" name="TextBox 5"/>
          <p:cNvSpPr txBox="1"/>
          <p:nvPr/>
        </p:nvSpPr>
        <p:spPr>
          <a:xfrm>
            <a:off x="2267744" y="332656"/>
            <a:ext cx="6120680" cy="70788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4000" dirty="0" smtClean="0"/>
              <a:t>Types of Errors </a:t>
            </a:r>
            <a:r>
              <a:rPr lang="en-US" dirty="0" smtClean="0"/>
              <a:t>(cont.)</a:t>
            </a:r>
            <a:endParaRPr lang="en-US" dirty="0"/>
          </a:p>
        </p:txBody>
      </p:sp>
    </p:spTree>
    <p:extLst>
      <p:ext uri="{BB962C8B-B14F-4D97-AF65-F5344CB8AC3E}">
        <p14:creationId xmlns:p14="http://schemas.microsoft.com/office/powerpoint/2010/main" xmlns="" val="2017110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1"/>
          <p:cNvSpPr>
            <a:spLocks noGrp="1"/>
          </p:cNvSpPr>
          <p:nvPr>
            <p:ph type="sldNum" sz="quarter" idx="4294967295"/>
          </p:nvPr>
        </p:nvSpPr>
        <p:spPr>
          <a:xfrm>
            <a:off x="8532440" y="6525447"/>
            <a:ext cx="511696" cy="32385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pPr algn="ctr"/>
            <a:fld id="{AC35A471-89D9-CC40-A316-C87787EB0FC5}" type="slidenum">
              <a:rPr lang="en-US" sz="1000">
                <a:solidFill>
                  <a:srgbClr val="AE3221"/>
                </a:solidFill>
              </a:rPr>
              <a:pPr algn="ctr"/>
              <a:t>12</a:t>
            </a:fld>
            <a:endParaRPr lang="en-US" sz="1000">
              <a:solidFill>
                <a:srgbClr val="AE3221"/>
              </a:solidFill>
            </a:endParaRPr>
          </a:p>
        </p:txBody>
      </p:sp>
      <p:pic>
        <p:nvPicPr>
          <p:cNvPr id="10243"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76607" y="1556792"/>
            <a:ext cx="7876793" cy="46820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TextBox 3"/>
          <p:cNvSpPr txBox="1"/>
          <p:nvPr/>
        </p:nvSpPr>
        <p:spPr>
          <a:xfrm>
            <a:off x="2267744" y="332656"/>
            <a:ext cx="6120680" cy="70788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4000" dirty="0" smtClean="0"/>
              <a:t>Measure of Errors</a:t>
            </a:r>
            <a:endParaRPr lang="en-US" sz="4000" dirty="0"/>
          </a:p>
        </p:txBody>
      </p:sp>
    </p:spTree>
    <p:extLst>
      <p:ext uri="{BB962C8B-B14F-4D97-AF65-F5344CB8AC3E}">
        <p14:creationId xmlns:p14="http://schemas.microsoft.com/office/powerpoint/2010/main" xmlns="" val="10370112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p:cNvSpPr>
            <a:spLocks noGrp="1"/>
          </p:cNvSpPr>
          <p:nvPr>
            <p:ph type="sldNum" sz="quarter" idx="4294967295"/>
          </p:nvPr>
        </p:nvSpPr>
        <p:spPr>
          <a:xfrm>
            <a:off x="8594104" y="6553200"/>
            <a:ext cx="442392" cy="30480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FD71FEF3-D160-D746-B545-CD12F07B34B2}" type="slidenum">
              <a:rPr lang="en-US" sz="1000">
                <a:solidFill>
                  <a:schemeClr val="bg1"/>
                </a:solidFill>
              </a:rPr>
              <a:pPr/>
              <a:t>13</a:t>
            </a:fld>
            <a:endParaRPr lang="en-US" sz="1000" dirty="0">
              <a:solidFill>
                <a:schemeClr val="bg1"/>
              </a:solidFill>
            </a:endParaRPr>
          </a:p>
        </p:txBody>
      </p:sp>
      <p:sp>
        <p:nvSpPr>
          <p:cNvPr id="15363" name="Title 4"/>
          <p:cNvSpPr>
            <a:spLocks noGrp="1"/>
          </p:cNvSpPr>
          <p:nvPr>
            <p:ph type="title"/>
          </p:nvPr>
        </p:nvSpPr>
        <p:spPr>
          <a:xfrm>
            <a:off x="2123728" y="332656"/>
            <a:ext cx="6552728" cy="685800"/>
          </a:xfrm>
        </p:spPr>
        <p:style>
          <a:lnRef idx="2">
            <a:schemeClr val="accent2"/>
          </a:lnRef>
          <a:fillRef idx="1">
            <a:schemeClr val="lt1"/>
          </a:fillRef>
          <a:effectRef idx="0">
            <a:schemeClr val="accent2"/>
          </a:effectRef>
          <a:fontRef idx="minor">
            <a:schemeClr val="dk1"/>
          </a:fontRef>
        </p:style>
        <p:txBody>
          <a:bodyPr/>
          <a:lstStyle/>
          <a:p>
            <a:pPr marL="342900" indent="-342900"/>
            <a:r>
              <a:rPr lang="en-GB" sz="2000" b="1" dirty="0" smtClean="0">
                <a:latin typeface="Arial" charset="0"/>
              </a:rPr>
              <a:t>Error</a:t>
            </a:r>
            <a:r>
              <a:rPr lang="en-GB" sz="2000" b="1" dirty="0">
                <a:latin typeface="Arial" charset="0"/>
              </a:rPr>
              <a:t>, Modulus Error and Relative Error</a:t>
            </a:r>
            <a:endParaRPr lang="en-US" b="1" dirty="0">
              <a:latin typeface="Arial" charset="0"/>
            </a:endParaRPr>
          </a:p>
        </p:txBody>
      </p:sp>
      <p:sp>
        <p:nvSpPr>
          <p:cNvPr id="15364" name="Rectangle 6"/>
          <p:cNvSpPr>
            <a:spLocks noChangeArrowheads="1"/>
          </p:cNvSpPr>
          <p:nvPr/>
        </p:nvSpPr>
        <p:spPr bwMode="auto">
          <a:xfrm>
            <a:off x="323528" y="1268760"/>
            <a:ext cx="8568952" cy="48936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en-US" sz="2400" dirty="0" smtClean="0"/>
              <a:t>Let, </a:t>
            </a:r>
            <a:r>
              <a:rPr lang="en-US" sz="2400" b="1" dirty="0" smtClean="0">
                <a:solidFill>
                  <a:srgbClr val="0000FF"/>
                </a:solidFill>
              </a:rPr>
              <a:t>N</a:t>
            </a:r>
            <a:r>
              <a:rPr lang="en-US" sz="2400" dirty="0" smtClean="0"/>
              <a:t> </a:t>
            </a:r>
            <a:r>
              <a:rPr lang="en-US" sz="2400" dirty="0"/>
              <a:t>is an </a:t>
            </a:r>
            <a:r>
              <a:rPr lang="en-US" sz="2400" dirty="0">
                <a:solidFill>
                  <a:srgbClr val="0000FF"/>
                </a:solidFill>
              </a:rPr>
              <a:t>exact value</a:t>
            </a:r>
            <a:r>
              <a:rPr lang="en-US" sz="2400" dirty="0"/>
              <a:t> and </a:t>
            </a:r>
            <a:r>
              <a:rPr lang="en-US" sz="2400" b="1" dirty="0">
                <a:solidFill>
                  <a:srgbClr val="FF0000"/>
                </a:solidFill>
              </a:rPr>
              <a:t>n</a:t>
            </a:r>
            <a:r>
              <a:rPr lang="en-US" sz="2400" dirty="0"/>
              <a:t> is an </a:t>
            </a:r>
            <a:r>
              <a:rPr lang="en-US" sz="2400" b="1" dirty="0">
                <a:solidFill>
                  <a:srgbClr val="FF0000"/>
                </a:solidFill>
              </a:rPr>
              <a:t>approximate value</a:t>
            </a:r>
            <a:r>
              <a:rPr lang="en-US" sz="2400" dirty="0"/>
              <a:t>. Error is a difference between exact value and approximate value and is represented as </a:t>
            </a:r>
            <a:r>
              <a:rPr lang="en-US" sz="2400" dirty="0" err="1"/>
              <a:t>ε</a:t>
            </a:r>
            <a:r>
              <a:rPr lang="en-US" sz="2400" dirty="0"/>
              <a:t>:  </a:t>
            </a:r>
          </a:p>
          <a:p>
            <a:endParaRPr lang="en-US" sz="2400" dirty="0"/>
          </a:p>
          <a:p>
            <a:r>
              <a:rPr lang="en-US" sz="2400" dirty="0"/>
              <a:t> 						    	          </a:t>
            </a:r>
          </a:p>
          <a:p>
            <a:r>
              <a:rPr lang="en-US" sz="2400" dirty="0"/>
              <a:t>where,	</a:t>
            </a:r>
          </a:p>
          <a:p>
            <a:r>
              <a:rPr lang="en-US" sz="2400" dirty="0" smtClean="0"/>
              <a:t>   N: exact value ; n:  </a:t>
            </a:r>
            <a:r>
              <a:rPr lang="en-US" sz="2400" dirty="0"/>
              <a:t>approximate </a:t>
            </a:r>
            <a:r>
              <a:rPr lang="en-US" sz="2400" dirty="0" smtClean="0"/>
              <a:t>value;  </a:t>
            </a:r>
            <a:r>
              <a:rPr lang="en-US" sz="2400" dirty="0" err="1" smtClean="0"/>
              <a:t>ε</a:t>
            </a:r>
            <a:r>
              <a:rPr lang="en-US" sz="2400" dirty="0" smtClean="0"/>
              <a:t>: </a:t>
            </a:r>
            <a:r>
              <a:rPr lang="en-US" sz="2400" dirty="0"/>
              <a:t>error</a:t>
            </a:r>
          </a:p>
          <a:p>
            <a:endParaRPr lang="en-US" sz="2400" dirty="0"/>
          </a:p>
          <a:p>
            <a:r>
              <a:rPr lang="en-US" sz="2400" dirty="0"/>
              <a:t>Sign for error value is not important. </a:t>
            </a:r>
            <a:r>
              <a:rPr lang="en-US" sz="2400" b="1" dirty="0"/>
              <a:t>Modulus</a:t>
            </a:r>
            <a:r>
              <a:rPr lang="en-US" sz="2400" dirty="0"/>
              <a:t> is used to show that error is always positive. This value is called modulus error or </a:t>
            </a:r>
            <a:r>
              <a:rPr lang="en-US" sz="2400" b="1" dirty="0"/>
              <a:t>absolute error</a:t>
            </a:r>
            <a:r>
              <a:rPr lang="en-US" sz="2400" dirty="0"/>
              <a:t>, |</a:t>
            </a:r>
            <a:r>
              <a:rPr lang="en-US" sz="2400" dirty="0">
                <a:latin typeface="Symbol" charset="0"/>
              </a:rPr>
              <a:t>e</a:t>
            </a:r>
            <a:r>
              <a:rPr lang="en-US" sz="2400" dirty="0"/>
              <a:t>|.</a:t>
            </a:r>
          </a:p>
          <a:p>
            <a:r>
              <a:rPr lang="en-US" sz="2400" dirty="0"/>
              <a:t>	|</a:t>
            </a:r>
            <a:r>
              <a:rPr lang="en-US" sz="2400" dirty="0">
                <a:latin typeface="Symbol" charset="0"/>
              </a:rPr>
              <a:t>e</a:t>
            </a:r>
            <a:r>
              <a:rPr lang="en-US" sz="2400" dirty="0"/>
              <a:t>|  =  | exact value – approximate value |  </a:t>
            </a:r>
          </a:p>
          <a:p>
            <a:r>
              <a:rPr lang="en-US" sz="2400" dirty="0"/>
              <a:t>	|</a:t>
            </a:r>
            <a:r>
              <a:rPr lang="en-US" sz="2400" dirty="0">
                <a:latin typeface="Symbol" charset="0"/>
              </a:rPr>
              <a:t>e</a:t>
            </a:r>
            <a:r>
              <a:rPr lang="en-US" sz="2400" dirty="0"/>
              <a:t>|  =  | N – n |  					           </a:t>
            </a:r>
          </a:p>
        </p:txBody>
      </p:sp>
      <p:sp>
        <p:nvSpPr>
          <p:cNvPr id="1536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ms-MY"/>
          </a:p>
        </p:txBody>
      </p:sp>
      <p:graphicFrame>
        <p:nvGraphicFramePr>
          <p:cNvPr id="15366" name="Object 2"/>
          <p:cNvGraphicFramePr>
            <a:graphicFrameLocks noChangeAspect="1"/>
          </p:cNvGraphicFramePr>
          <p:nvPr>
            <p:extLst>
              <p:ext uri="{D42A27DB-BD31-4B8C-83A1-F6EECF244321}">
                <p14:modId xmlns:p14="http://schemas.microsoft.com/office/powerpoint/2010/main" xmlns="" val="452335791"/>
              </p:ext>
            </p:extLst>
          </p:nvPr>
        </p:nvGraphicFramePr>
        <p:xfrm>
          <a:off x="1835696" y="2475384"/>
          <a:ext cx="2086272" cy="521568"/>
        </p:xfrm>
        <a:graphic>
          <a:graphicData uri="http://schemas.openxmlformats.org/presentationml/2006/ole">
            <p:oleObj spid="_x0000_s37960" name="Equation" r:id="rId3" imgW="583693" imgH="164957" progId="Equation.3">
              <p:embed/>
            </p:oleObj>
          </a:graphicData>
        </a:graphic>
      </p:graphicFrame>
      <p:sp>
        <p:nvSpPr>
          <p:cNvPr id="15367"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ms-MY"/>
          </a:p>
        </p:txBody>
      </p:sp>
      <p:sp>
        <p:nvSpPr>
          <p:cNvPr id="15369"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ms-MY"/>
          </a:p>
        </p:txBody>
      </p:sp>
      <p:sp>
        <p:nvSpPr>
          <p:cNvPr id="15371"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ms-MY"/>
          </a:p>
        </p:txBody>
      </p:sp>
    </p:spTree>
    <p:extLst>
      <p:ext uri="{BB962C8B-B14F-4D97-AF65-F5344CB8AC3E}">
        <p14:creationId xmlns:p14="http://schemas.microsoft.com/office/powerpoint/2010/main" xmlns="" val="5617825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p:cNvSpPr>
            <a:spLocks noGrp="1"/>
          </p:cNvSpPr>
          <p:nvPr>
            <p:ph type="sldNum" sz="quarter" idx="4294967295"/>
          </p:nvPr>
        </p:nvSpPr>
        <p:spPr>
          <a:xfrm>
            <a:off x="8594104" y="6553200"/>
            <a:ext cx="442392" cy="30480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FD71FEF3-D160-D746-B545-CD12F07B34B2}" type="slidenum">
              <a:rPr lang="en-US" sz="1000">
                <a:solidFill>
                  <a:schemeClr val="bg1"/>
                </a:solidFill>
              </a:rPr>
              <a:pPr/>
              <a:t>14</a:t>
            </a:fld>
            <a:endParaRPr lang="en-US" sz="1000" dirty="0">
              <a:solidFill>
                <a:schemeClr val="bg1"/>
              </a:solidFill>
            </a:endParaRPr>
          </a:p>
        </p:txBody>
      </p:sp>
      <p:sp>
        <p:nvSpPr>
          <p:cNvPr id="15363" name="Title 4"/>
          <p:cNvSpPr>
            <a:spLocks noGrp="1"/>
          </p:cNvSpPr>
          <p:nvPr>
            <p:ph type="title"/>
          </p:nvPr>
        </p:nvSpPr>
        <p:spPr>
          <a:xfrm>
            <a:off x="2123728" y="332656"/>
            <a:ext cx="6552728" cy="685800"/>
          </a:xfrm>
        </p:spPr>
        <p:style>
          <a:lnRef idx="2">
            <a:schemeClr val="accent2"/>
          </a:lnRef>
          <a:fillRef idx="1">
            <a:schemeClr val="lt1"/>
          </a:fillRef>
          <a:effectRef idx="0">
            <a:schemeClr val="accent2"/>
          </a:effectRef>
          <a:fontRef idx="minor">
            <a:schemeClr val="dk1"/>
          </a:fontRef>
        </p:style>
        <p:txBody>
          <a:bodyPr/>
          <a:lstStyle/>
          <a:p>
            <a:pPr marL="342900" indent="-342900"/>
            <a:r>
              <a:rPr lang="en-GB" sz="2000" b="1" dirty="0" smtClean="0">
                <a:latin typeface="Arial" charset="0"/>
              </a:rPr>
              <a:t>Error</a:t>
            </a:r>
            <a:r>
              <a:rPr lang="en-GB" sz="2000" b="1" dirty="0">
                <a:latin typeface="Arial" charset="0"/>
              </a:rPr>
              <a:t>, Modulus Error and Relative </a:t>
            </a:r>
            <a:r>
              <a:rPr lang="en-GB" sz="2000" b="1" dirty="0" smtClean="0">
                <a:latin typeface="Arial" charset="0"/>
              </a:rPr>
              <a:t>Error </a:t>
            </a:r>
            <a:r>
              <a:rPr lang="en-GB" sz="1400" dirty="0" smtClean="0">
                <a:latin typeface="Arial" charset="0"/>
              </a:rPr>
              <a:t>(cont.)</a:t>
            </a:r>
            <a:endParaRPr lang="en-US" sz="1400" dirty="0">
              <a:latin typeface="Arial" charset="0"/>
            </a:endParaRPr>
          </a:p>
        </p:txBody>
      </p:sp>
      <p:sp>
        <p:nvSpPr>
          <p:cNvPr id="15364" name="Rectangle 6"/>
          <p:cNvSpPr>
            <a:spLocks noChangeArrowheads="1"/>
          </p:cNvSpPr>
          <p:nvPr/>
        </p:nvSpPr>
        <p:spPr bwMode="auto">
          <a:xfrm>
            <a:off x="323528" y="1268760"/>
            <a:ext cx="8568952" cy="41549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en-US" sz="2400" dirty="0" smtClean="0"/>
              <a:t>Ratio for error is called </a:t>
            </a:r>
            <a:r>
              <a:rPr lang="en-US" sz="2400" b="1" dirty="0" smtClean="0"/>
              <a:t>relative error</a:t>
            </a:r>
            <a:r>
              <a:rPr lang="en-US" sz="2400" dirty="0" smtClean="0"/>
              <a:t> and is expressed as:</a:t>
            </a:r>
          </a:p>
          <a:p>
            <a:endParaRPr lang="en-US" sz="2400" dirty="0"/>
          </a:p>
          <a:p>
            <a:r>
              <a:rPr lang="en-US" sz="2400" dirty="0" smtClean="0"/>
              <a:t>                                                                      , or </a:t>
            </a:r>
          </a:p>
          <a:p>
            <a:endParaRPr lang="en-US" sz="2400" dirty="0"/>
          </a:p>
          <a:p>
            <a:endParaRPr lang="en-US" sz="2400" dirty="0" smtClean="0"/>
          </a:p>
          <a:p>
            <a:r>
              <a:rPr lang="en-US" sz="2400" dirty="0" smtClean="0"/>
              <a:t>Because </a:t>
            </a:r>
            <a:r>
              <a:rPr lang="en-US" sz="2400" dirty="0"/>
              <a:t>of its exact nature, in general N is known, therefore  </a:t>
            </a:r>
          </a:p>
          <a:p>
            <a:r>
              <a:rPr lang="en-US" sz="2400" dirty="0"/>
              <a:t> 							           </a:t>
            </a:r>
          </a:p>
          <a:p>
            <a:endParaRPr lang="en-US" sz="2400" dirty="0" smtClean="0"/>
          </a:p>
          <a:p>
            <a:endParaRPr lang="en-US" sz="2400" dirty="0"/>
          </a:p>
          <a:p>
            <a:r>
              <a:rPr lang="en-US" sz="2400" dirty="0" smtClean="0"/>
              <a:t>For </a:t>
            </a:r>
            <a:r>
              <a:rPr lang="en-US" sz="2400" dirty="0"/>
              <a:t>calculation purpose, relative error will give more accurate result compared to the error itself.</a:t>
            </a:r>
          </a:p>
        </p:txBody>
      </p:sp>
      <p:sp>
        <p:nvSpPr>
          <p:cNvPr id="1536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ms-MY"/>
          </a:p>
        </p:txBody>
      </p:sp>
      <p:sp>
        <p:nvSpPr>
          <p:cNvPr id="15367"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ms-MY"/>
          </a:p>
        </p:txBody>
      </p:sp>
      <p:sp>
        <p:nvSpPr>
          <p:cNvPr id="15369"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ms-MY"/>
          </a:p>
        </p:txBody>
      </p:sp>
      <p:graphicFrame>
        <p:nvGraphicFramePr>
          <p:cNvPr id="15370" name="Object 6"/>
          <p:cNvGraphicFramePr>
            <a:graphicFrameLocks noChangeAspect="1"/>
          </p:cNvGraphicFramePr>
          <p:nvPr>
            <p:extLst>
              <p:ext uri="{D42A27DB-BD31-4B8C-83A1-F6EECF244321}">
                <p14:modId xmlns:p14="http://schemas.microsoft.com/office/powerpoint/2010/main" xmlns="" val="3055820308"/>
              </p:ext>
            </p:extLst>
          </p:nvPr>
        </p:nvGraphicFramePr>
        <p:xfrm>
          <a:off x="5940152" y="1844824"/>
          <a:ext cx="1528026" cy="720080"/>
        </p:xfrm>
        <a:graphic>
          <a:graphicData uri="http://schemas.openxmlformats.org/presentationml/2006/ole">
            <p:oleObj spid="_x0000_s51271" name="Equation" r:id="rId3" imgW="825500" imgH="393700" progId="Equation.3">
              <p:embed/>
            </p:oleObj>
          </a:graphicData>
        </a:graphic>
      </p:graphicFrame>
      <p:sp>
        <p:nvSpPr>
          <p:cNvPr id="15371"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ms-MY"/>
          </a:p>
        </p:txBody>
      </p:sp>
      <p:graphicFrame>
        <p:nvGraphicFramePr>
          <p:cNvPr id="15372" name="Object 8"/>
          <p:cNvGraphicFramePr>
            <a:graphicFrameLocks noChangeAspect="1"/>
          </p:cNvGraphicFramePr>
          <p:nvPr>
            <p:extLst>
              <p:ext uri="{D42A27DB-BD31-4B8C-83A1-F6EECF244321}">
                <p14:modId xmlns:p14="http://schemas.microsoft.com/office/powerpoint/2010/main" xmlns="" val="2067998719"/>
              </p:ext>
            </p:extLst>
          </p:nvPr>
        </p:nvGraphicFramePr>
        <p:xfrm>
          <a:off x="1619672" y="3645024"/>
          <a:ext cx="1656184" cy="808376"/>
        </p:xfrm>
        <a:graphic>
          <a:graphicData uri="http://schemas.openxmlformats.org/presentationml/2006/ole">
            <p:oleObj spid="_x0000_s51272" name="Equation" r:id="rId4" imgW="799753" imgH="393529" progId="Equation.3">
              <p:embed/>
            </p:oleObj>
          </a:graphicData>
        </a:graphic>
      </p:graphicFrame>
      <p:graphicFrame>
        <p:nvGraphicFramePr>
          <p:cNvPr id="13" name="Object 4"/>
          <p:cNvGraphicFramePr>
            <a:graphicFrameLocks noChangeAspect="1"/>
          </p:cNvGraphicFramePr>
          <p:nvPr>
            <p:extLst>
              <p:ext uri="{D42A27DB-BD31-4B8C-83A1-F6EECF244321}">
                <p14:modId xmlns:p14="http://schemas.microsoft.com/office/powerpoint/2010/main" xmlns="" val="2312610327"/>
              </p:ext>
            </p:extLst>
          </p:nvPr>
        </p:nvGraphicFramePr>
        <p:xfrm>
          <a:off x="971600" y="1844824"/>
          <a:ext cx="4221898" cy="720080"/>
        </p:xfrm>
        <a:graphic>
          <a:graphicData uri="http://schemas.openxmlformats.org/presentationml/2006/ole">
            <p:oleObj spid="_x0000_s51273" name="Equation" r:id="rId5" imgW="2438400" imgH="419100" progId="Equation.3">
              <p:embed/>
            </p:oleObj>
          </a:graphicData>
        </a:graphic>
      </p:graphicFrame>
    </p:spTree>
    <p:extLst>
      <p:ext uri="{BB962C8B-B14F-4D97-AF65-F5344CB8AC3E}">
        <p14:creationId xmlns:p14="http://schemas.microsoft.com/office/powerpoint/2010/main" xmlns="" val="14445776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1"/>
          <p:cNvSpPr>
            <a:spLocks noGrp="1"/>
          </p:cNvSpPr>
          <p:nvPr>
            <p:ph type="sldNum" sz="quarter" idx="4294967295"/>
          </p:nvPr>
        </p:nvSpPr>
        <p:spPr>
          <a:xfrm>
            <a:off x="3124200" y="6172200"/>
            <a:ext cx="2895600" cy="32385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pPr algn="ctr"/>
            <a:fld id="{D482F704-422D-1A49-8E23-FBE0A23A04CA}" type="slidenum">
              <a:rPr lang="en-US" sz="1000">
                <a:solidFill>
                  <a:srgbClr val="AE3221"/>
                </a:solidFill>
              </a:rPr>
              <a:pPr algn="ctr"/>
              <a:t>15</a:t>
            </a:fld>
            <a:endParaRPr lang="en-US" sz="1000">
              <a:solidFill>
                <a:srgbClr val="AE3221"/>
              </a:solidFill>
            </a:endParaRPr>
          </a:p>
        </p:txBody>
      </p:sp>
      <p:pic>
        <p:nvPicPr>
          <p:cNvPr id="11267"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539552" y="1412776"/>
            <a:ext cx="7705725" cy="1085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46435" name="Picture 3"/>
          <p:cNvPicPr>
            <a:picLocks noChangeAspect="1" noChangeArrowheads="1"/>
          </p:cNvPicPr>
          <p:nvPr/>
        </p:nvPicPr>
        <p:blipFill>
          <a:blip r:embed="rId3"/>
          <a:srcRect/>
          <a:stretch>
            <a:fillRect/>
          </a:stretch>
        </p:blipFill>
        <p:spPr bwMode="auto">
          <a:xfrm>
            <a:off x="990600" y="2971800"/>
            <a:ext cx="7191375" cy="1390650"/>
          </a:xfrm>
          <a:prstGeom prst="rect">
            <a:avLst/>
          </a:prstGeom>
          <a:ln>
            <a:headEnd/>
            <a:tailEnd/>
          </a:ln>
        </p:spPr>
        <p:style>
          <a:lnRef idx="2">
            <a:schemeClr val="accent1"/>
          </a:lnRef>
          <a:fillRef idx="1">
            <a:schemeClr val="lt1"/>
          </a:fillRef>
          <a:effectRef idx="0">
            <a:schemeClr val="accent1"/>
          </a:effectRef>
          <a:fontRef idx="minor">
            <a:schemeClr val="dk1"/>
          </a:fontRef>
        </p:style>
      </p:pic>
      <p:pic>
        <p:nvPicPr>
          <p:cNvPr id="146436" name="Picture 4"/>
          <p:cNvPicPr>
            <a:picLocks noChangeAspect="1" noChangeArrowheads="1"/>
          </p:cNvPicPr>
          <p:nvPr/>
        </p:nvPicPr>
        <p:blipFill>
          <a:blip r:embed="rId4" cstate="print"/>
          <a:srcRect/>
          <a:stretch>
            <a:fillRect/>
          </a:stretch>
        </p:blipFill>
        <p:spPr bwMode="auto">
          <a:xfrm>
            <a:off x="914400" y="4572000"/>
            <a:ext cx="7439025" cy="1828800"/>
          </a:xfrm>
          <a:prstGeom prst="rect">
            <a:avLst/>
          </a:prstGeom>
          <a:ln>
            <a:headEnd/>
            <a:tailEnd/>
          </a:ln>
        </p:spPr>
        <p:style>
          <a:lnRef idx="0">
            <a:schemeClr val="accent2"/>
          </a:lnRef>
          <a:fillRef idx="3">
            <a:schemeClr val="accent2"/>
          </a:fillRef>
          <a:effectRef idx="3">
            <a:schemeClr val="accent2"/>
          </a:effectRef>
          <a:fontRef idx="minor">
            <a:schemeClr val="lt1"/>
          </a:fontRef>
        </p:style>
      </p:pic>
      <p:sp>
        <p:nvSpPr>
          <p:cNvPr id="6" name="TextBox 5"/>
          <p:cNvSpPr txBox="1"/>
          <p:nvPr/>
        </p:nvSpPr>
        <p:spPr>
          <a:xfrm>
            <a:off x="2267744" y="332656"/>
            <a:ext cx="6120680" cy="707886"/>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sz="4000" dirty="0" smtClean="0"/>
              <a:t>Example 4</a:t>
            </a:r>
            <a:endParaRPr lang="en-US" sz="4000" dirty="0"/>
          </a:p>
        </p:txBody>
      </p:sp>
    </p:spTree>
    <p:extLst>
      <p:ext uri="{BB962C8B-B14F-4D97-AF65-F5344CB8AC3E}">
        <p14:creationId xmlns:p14="http://schemas.microsoft.com/office/powerpoint/2010/main" xmlns="" val="21881027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46435"/>
                                        </p:tgtEl>
                                        <p:attrNameLst>
                                          <p:attrName>style.visibility</p:attrName>
                                        </p:attrNameLst>
                                      </p:cBhvr>
                                      <p:to>
                                        <p:strVal val="visible"/>
                                      </p:to>
                                    </p:set>
                                    <p:animEffect transition="in" filter="box(in)">
                                      <p:cBhvr>
                                        <p:cTn id="7" dur="500"/>
                                        <p:tgtEl>
                                          <p:spTgt spid="1464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146436"/>
                                        </p:tgtEl>
                                        <p:attrNameLst>
                                          <p:attrName>style.visibility</p:attrName>
                                        </p:attrNameLst>
                                      </p:cBhvr>
                                      <p:to>
                                        <p:strVal val="visible"/>
                                      </p:to>
                                    </p:set>
                                    <p:anim calcmode="lin" valueType="num">
                                      <p:cBhvr additive="base">
                                        <p:cTn id="12" dur="500" fill="hold"/>
                                        <p:tgtEl>
                                          <p:spTgt spid="146436"/>
                                        </p:tgtEl>
                                        <p:attrNameLst>
                                          <p:attrName>ppt_x</p:attrName>
                                        </p:attrNameLst>
                                      </p:cBhvr>
                                      <p:tavLst>
                                        <p:tav tm="0">
                                          <p:val>
                                            <p:strVal val="#ppt_x"/>
                                          </p:val>
                                        </p:tav>
                                        <p:tav tm="100000">
                                          <p:val>
                                            <p:strVal val="#ppt_x"/>
                                          </p:val>
                                        </p:tav>
                                      </p:tavLst>
                                    </p:anim>
                                    <p:anim calcmode="lin" valueType="num">
                                      <p:cBhvr additive="base">
                                        <p:cTn id="13" dur="500" fill="hold"/>
                                        <p:tgtEl>
                                          <p:spTgt spid="1464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2041376" y="274638"/>
            <a:ext cx="6707088" cy="778098"/>
          </a:xfrm>
        </p:spPr>
        <p:style>
          <a:lnRef idx="2">
            <a:schemeClr val="accent3"/>
          </a:lnRef>
          <a:fillRef idx="1">
            <a:schemeClr val="lt1"/>
          </a:fillRef>
          <a:effectRef idx="0">
            <a:schemeClr val="accent3"/>
          </a:effectRef>
          <a:fontRef idx="minor">
            <a:schemeClr val="dk1"/>
          </a:fontRef>
        </p:style>
        <p:txBody>
          <a:bodyPr/>
          <a:lstStyle/>
          <a:p>
            <a:r>
              <a:rPr lang="ms-MY" dirty="0" smtClean="0">
                <a:latin typeface="Arial" charset="0"/>
              </a:rPr>
              <a:t>Example  5</a:t>
            </a:r>
            <a:endParaRPr lang="en-US" dirty="0">
              <a:latin typeface="Arial" charset="0"/>
            </a:endParaRPr>
          </a:p>
        </p:txBody>
      </p:sp>
      <p:sp>
        <p:nvSpPr>
          <p:cNvPr id="16387" name="Slide Number Placeholder 3"/>
          <p:cNvSpPr>
            <a:spLocks noGrp="1"/>
          </p:cNvSpPr>
          <p:nvPr>
            <p:ph type="sldNum" sz="quarter" idx="4294967295"/>
          </p:nvPr>
        </p:nvSpPr>
        <p:spPr>
          <a:xfrm>
            <a:off x="8532440" y="6553200"/>
            <a:ext cx="611560" cy="30480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pPr algn="ctr"/>
            <a:fld id="{50C729CF-FBF0-694D-AFB4-AA8AFA6CF111}" type="slidenum">
              <a:rPr lang="en-US" sz="1000">
                <a:solidFill>
                  <a:schemeClr val="bg1"/>
                </a:solidFill>
              </a:rPr>
              <a:pPr algn="ctr"/>
              <a:t>16</a:t>
            </a:fld>
            <a:endParaRPr lang="en-US" sz="1000">
              <a:solidFill>
                <a:schemeClr val="bg1"/>
              </a:solidFill>
            </a:endParaRPr>
          </a:p>
        </p:txBody>
      </p:sp>
      <p:sp>
        <p:nvSpPr>
          <p:cNvPr id="16388" name="Rectangle 4"/>
          <p:cNvSpPr>
            <a:spLocks noChangeArrowheads="1"/>
          </p:cNvSpPr>
          <p:nvPr/>
        </p:nvSpPr>
        <p:spPr bwMode="auto">
          <a:xfrm>
            <a:off x="179512" y="1196752"/>
            <a:ext cx="8534400" cy="1015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sz="2000" dirty="0"/>
              <a:t>Find the error value and relative error </a:t>
            </a:r>
            <a:r>
              <a:rPr lang="en-US" sz="2000" dirty="0" smtClean="0"/>
              <a:t>for the following: </a:t>
            </a:r>
          </a:p>
          <a:p>
            <a:r>
              <a:rPr lang="en-US" sz="2000" dirty="0" smtClean="0"/>
              <a:t>a</a:t>
            </a:r>
            <a:r>
              <a:rPr lang="en-US" sz="2000" dirty="0"/>
              <a:t>)	N=3.141592 and n=3.14</a:t>
            </a:r>
          </a:p>
          <a:p>
            <a:r>
              <a:rPr lang="en-US" sz="2000" dirty="0"/>
              <a:t>	</a:t>
            </a:r>
          </a:p>
        </p:txBody>
      </p:sp>
      <p:sp>
        <p:nvSpPr>
          <p:cNvPr id="1638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ms-MY"/>
          </a:p>
        </p:txBody>
      </p:sp>
      <p:sp>
        <p:nvSpPr>
          <p:cNvPr id="16390" name="Rectangle 3"/>
          <p:cNvSpPr>
            <a:spLocks noChangeArrowheads="1"/>
          </p:cNvSpPr>
          <p:nvPr/>
        </p:nvSpPr>
        <p:spPr bwMode="auto">
          <a:xfrm>
            <a:off x="0" y="41910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ms-MY"/>
          </a:p>
        </p:txBody>
      </p:sp>
      <p:sp>
        <p:nvSpPr>
          <p:cNvPr id="16391" name="Rectangle 9"/>
          <p:cNvSpPr>
            <a:spLocks noChangeArrowheads="1"/>
          </p:cNvSpPr>
          <p:nvPr/>
        </p:nvSpPr>
        <p:spPr bwMode="auto">
          <a:xfrm>
            <a:off x="179505" y="3212976"/>
            <a:ext cx="8964488"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marL="342900" indent="-342900">
              <a:buAutoNum type="alphaLcParenR" startAt="2"/>
            </a:pPr>
            <a:r>
              <a:rPr lang="pt-BR" sz="1800" dirty="0" smtClean="0"/>
              <a:t>           N</a:t>
            </a:r>
            <a:r>
              <a:rPr lang="pt-BR" sz="1800" dirty="0"/>
              <a:t>=1 000 000 </a:t>
            </a:r>
            <a:r>
              <a:rPr lang="pt-BR" sz="1800" dirty="0" err="1"/>
              <a:t>and</a:t>
            </a:r>
            <a:r>
              <a:rPr lang="pt-BR" sz="1800" dirty="0"/>
              <a:t> </a:t>
            </a:r>
            <a:r>
              <a:rPr lang="pt-BR" sz="1800" dirty="0" err="1"/>
              <a:t>n</a:t>
            </a:r>
            <a:r>
              <a:rPr lang="pt-BR" sz="1800" dirty="0"/>
              <a:t>=999 </a:t>
            </a:r>
            <a:r>
              <a:rPr lang="pt-BR" sz="1800" dirty="0" smtClean="0"/>
              <a:t>996</a:t>
            </a:r>
            <a:endParaRPr lang="pt-BR" sz="1800" dirty="0"/>
          </a:p>
        </p:txBody>
      </p:sp>
      <p:sp>
        <p:nvSpPr>
          <p:cNvPr id="16392"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ms-MY"/>
          </a:p>
        </p:txBody>
      </p:sp>
      <p:sp>
        <p:nvSpPr>
          <p:cNvPr id="16394" name="Rectangle 7"/>
          <p:cNvSpPr>
            <a:spLocks noChangeArrowheads="1"/>
          </p:cNvSpPr>
          <p:nvPr/>
        </p:nvSpPr>
        <p:spPr bwMode="auto">
          <a:xfrm>
            <a:off x="0" y="41910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ms-MY"/>
          </a:p>
        </p:txBody>
      </p:sp>
      <p:sp>
        <p:nvSpPr>
          <p:cNvPr id="16395" name="Rectangle 13"/>
          <p:cNvSpPr>
            <a:spLocks noChangeArrowheads="1"/>
          </p:cNvSpPr>
          <p:nvPr/>
        </p:nvSpPr>
        <p:spPr bwMode="auto">
          <a:xfrm>
            <a:off x="179512" y="4653136"/>
            <a:ext cx="8892480"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marL="342900" indent="-342900">
              <a:buAutoNum type="alphaLcParenR" startAt="3"/>
            </a:pPr>
            <a:r>
              <a:rPr lang="pt-BR" sz="1800" dirty="0" smtClean="0"/>
              <a:t>         N</a:t>
            </a:r>
            <a:r>
              <a:rPr lang="pt-BR" sz="1800" dirty="0"/>
              <a:t>=0.000012 </a:t>
            </a:r>
            <a:r>
              <a:rPr lang="pt-BR" sz="1800" dirty="0" err="1"/>
              <a:t>and</a:t>
            </a:r>
            <a:r>
              <a:rPr lang="pt-BR" sz="1800" dirty="0"/>
              <a:t> </a:t>
            </a:r>
            <a:r>
              <a:rPr lang="pt-BR" sz="1800" dirty="0" err="1"/>
              <a:t>n</a:t>
            </a:r>
            <a:r>
              <a:rPr lang="pt-BR" sz="1800" dirty="0"/>
              <a:t>=</a:t>
            </a:r>
            <a:r>
              <a:rPr lang="pt-BR" sz="1800" dirty="0" smtClean="0"/>
              <a:t>0.000009</a:t>
            </a:r>
            <a:endParaRPr lang="pt-BR" sz="1800" dirty="0"/>
          </a:p>
        </p:txBody>
      </p:sp>
      <p:sp>
        <p:nvSpPr>
          <p:cNvPr id="16396"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ms-MY"/>
          </a:p>
        </p:txBody>
      </p:sp>
      <p:sp>
        <p:nvSpPr>
          <p:cNvPr id="16398" name="Rectangle 10"/>
          <p:cNvSpPr>
            <a:spLocks noChangeArrowheads="1"/>
          </p:cNvSpPr>
          <p:nvPr/>
        </p:nvSpPr>
        <p:spPr bwMode="auto">
          <a:xfrm>
            <a:off x="0" y="41910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ms-MY"/>
          </a:p>
        </p:txBody>
      </p:sp>
      <p:sp>
        <p:nvSpPr>
          <p:cNvPr id="16399" name="Rectangle 1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ms-MY"/>
          </a:p>
        </p:txBody>
      </p:sp>
      <p:sp>
        <p:nvSpPr>
          <p:cNvPr id="16401" name="Rectangle 18"/>
          <p:cNvSpPr>
            <a:spLocks noChangeArrowheads="1"/>
          </p:cNvSpPr>
          <p:nvPr/>
        </p:nvSpPr>
        <p:spPr bwMode="auto">
          <a:xfrm>
            <a:off x="0" y="41910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ms-MY"/>
          </a:p>
        </p:txBody>
      </p:sp>
      <p:grpSp>
        <p:nvGrpSpPr>
          <p:cNvPr id="3" name="Group 2"/>
          <p:cNvGrpSpPr/>
          <p:nvPr/>
        </p:nvGrpSpPr>
        <p:grpSpPr>
          <a:xfrm>
            <a:off x="971600" y="1916832"/>
            <a:ext cx="4151848" cy="1224136"/>
            <a:chOff x="971600" y="1916832"/>
            <a:chExt cx="4151848" cy="1224136"/>
          </a:xfrm>
        </p:grpSpPr>
        <p:graphicFrame>
          <p:nvGraphicFramePr>
            <p:cNvPr id="16400" name="Object 16"/>
            <p:cNvGraphicFramePr>
              <a:graphicFrameLocks noChangeAspect="1"/>
            </p:cNvGraphicFramePr>
            <p:nvPr>
              <p:extLst>
                <p:ext uri="{D42A27DB-BD31-4B8C-83A1-F6EECF244321}">
                  <p14:modId xmlns:p14="http://schemas.microsoft.com/office/powerpoint/2010/main" xmlns="" val="2648478783"/>
                </p:ext>
              </p:extLst>
            </p:nvPr>
          </p:nvGraphicFramePr>
          <p:xfrm>
            <a:off x="1115616" y="2358330"/>
            <a:ext cx="3886200" cy="782638"/>
          </p:xfrm>
          <a:graphic>
            <a:graphicData uri="http://schemas.openxmlformats.org/presentationml/2006/ole">
              <p:oleObj spid="_x0000_s39016" name="Equation" r:id="rId3" imgW="2070100" imgH="419100" progId="Equation.3">
                <p:embed/>
              </p:oleObj>
            </a:graphicData>
          </a:graphic>
        </p:graphicFrame>
        <p:sp>
          <p:nvSpPr>
            <p:cNvPr id="2" name="Rectangle 1"/>
            <p:cNvSpPr/>
            <p:nvPr/>
          </p:nvSpPr>
          <p:spPr>
            <a:xfrm>
              <a:off x="971600" y="1916832"/>
              <a:ext cx="4151848" cy="400110"/>
            </a:xfrm>
            <a:prstGeom prst="rect">
              <a:avLst/>
            </a:prstGeom>
          </p:spPr>
          <p:txBody>
            <a:bodyPr wrap="none">
              <a:spAutoFit/>
            </a:bodyPr>
            <a:lstStyle/>
            <a:p>
              <a:r>
                <a:rPr lang="en-US" sz="2000" dirty="0" smtClean="0"/>
                <a:t>|e|  =  | 3.141592 – 3.14 | = 0.001592</a:t>
              </a:r>
              <a:endParaRPr lang="en-US" sz="2000" dirty="0"/>
            </a:p>
          </p:txBody>
        </p:sp>
      </p:grpSp>
      <p:grpSp>
        <p:nvGrpSpPr>
          <p:cNvPr id="5" name="Group 4"/>
          <p:cNvGrpSpPr/>
          <p:nvPr/>
        </p:nvGrpSpPr>
        <p:grpSpPr>
          <a:xfrm>
            <a:off x="755576" y="3827512"/>
            <a:ext cx="7479928" cy="609600"/>
            <a:chOff x="827584" y="3683496"/>
            <a:chExt cx="7479928" cy="609600"/>
          </a:xfrm>
        </p:grpSpPr>
        <p:graphicFrame>
          <p:nvGraphicFramePr>
            <p:cNvPr id="16393" name="Object 5"/>
            <p:cNvGraphicFramePr>
              <a:graphicFrameLocks noChangeAspect="1"/>
            </p:cNvGraphicFramePr>
            <p:nvPr>
              <p:extLst>
                <p:ext uri="{D42A27DB-BD31-4B8C-83A1-F6EECF244321}">
                  <p14:modId xmlns:p14="http://schemas.microsoft.com/office/powerpoint/2010/main" xmlns="" val="3247731645"/>
                </p:ext>
              </p:extLst>
            </p:nvPr>
          </p:nvGraphicFramePr>
          <p:xfrm>
            <a:off x="4788024" y="3683496"/>
            <a:ext cx="3519488" cy="609600"/>
          </p:xfrm>
          <a:graphic>
            <a:graphicData uri="http://schemas.openxmlformats.org/presentationml/2006/ole">
              <p:oleObj spid="_x0000_s39017" name="Equation" r:id="rId4" imgW="2413000" imgH="419100" progId="Equation.3">
                <p:embed/>
              </p:oleObj>
            </a:graphicData>
          </a:graphic>
        </p:graphicFrame>
        <p:sp>
          <p:nvSpPr>
            <p:cNvPr id="4" name="Rectangle 3"/>
            <p:cNvSpPr/>
            <p:nvPr/>
          </p:nvSpPr>
          <p:spPr>
            <a:xfrm>
              <a:off x="827584" y="3789040"/>
              <a:ext cx="3868191" cy="400110"/>
            </a:xfrm>
            <a:prstGeom prst="rect">
              <a:avLst/>
            </a:prstGeom>
          </p:spPr>
          <p:txBody>
            <a:bodyPr wrap="none">
              <a:spAutoFit/>
            </a:bodyPr>
            <a:lstStyle/>
            <a:p>
              <a:r>
                <a:rPr lang="pt-BR" sz="2000" dirty="0" smtClean="0"/>
                <a:t>|e|  =  | 1 000 000 – 999 996 | = 4 ;</a:t>
              </a:r>
              <a:endParaRPr lang="en-US" sz="2000" dirty="0"/>
            </a:p>
          </p:txBody>
        </p:sp>
      </p:grpSp>
      <p:grpSp>
        <p:nvGrpSpPr>
          <p:cNvPr id="7" name="Group 6"/>
          <p:cNvGrpSpPr/>
          <p:nvPr/>
        </p:nvGrpSpPr>
        <p:grpSpPr>
          <a:xfrm>
            <a:off x="621605" y="5191472"/>
            <a:ext cx="8414891" cy="685800"/>
            <a:chOff x="611560" y="5157192"/>
            <a:chExt cx="8414891" cy="685800"/>
          </a:xfrm>
        </p:grpSpPr>
        <p:graphicFrame>
          <p:nvGraphicFramePr>
            <p:cNvPr id="16397" name="Object 8"/>
            <p:cNvGraphicFramePr>
              <a:graphicFrameLocks noChangeAspect="1"/>
            </p:cNvGraphicFramePr>
            <p:nvPr>
              <p:extLst>
                <p:ext uri="{D42A27DB-BD31-4B8C-83A1-F6EECF244321}">
                  <p14:modId xmlns:p14="http://schemas.microsoft.com/office/powerpoint/2010/main" xmlns="" val="2864164700"/>
                </p:ext>
              </p:extLst>
            </p:nvPr>
          </p:nvGraphicFramePr>
          <p:xfrm>
            <a:off x="5364088" y="5157192"/>
            <a:ext cx="3662363" cy="685800"/>
          </p:xfrm>
          <a:graphic>
            <a:graphicData uri="http://schemas.openxmlformats.org/presentationml/2006/ole">
              <p:oleObj spid="_x0000_s39018" name="Equation" r:id="rId5" imgW="2222500" imgH="419100" progId="Equation.3">
                <p:embed/>
              </p:oleObj>
            </a:graphicData>
          </a:graphic>
        </p:graphicFrame>
        <p:sp>
          <p:nvSpPr>
            <p:cNvPr id="6" name="Rectangle 5"/>
            <p:cNvSpPr/>
            <p:nvPr/>
          </p:nvSpPr>
          <p:spPr>
            <a:xfrm>
              <a:off x="611560" y="5301208"/>
              <a:ext cx="4798434" cy="400110"/>
            </a:xfrm>
            <a:prstGeom prst="rect">
              <a:avLst/>
            </a:prstGeom>
          </p:spPr>
          <p:txBody>
            <a:bodyPr wrap="none">
              <a:spAutoFit/>
            </a:bodyPr>
            <a:lstStyle/>
            <a:p>
              <a:r>
                <a:rPr lang="pt-BR" sz="2000" dirty="0" smtClean="0"/>
                <a:t>|e|  =  | 0.000012 – 0.000009 | = 0.000003 ;</a:t>
              </a:r>
              <a:endParaRPr lang="en-US" sz="2000" dirty="0"/>
            </a:p>
          </p:txBody>
        </p:sp>
      </p:grpSp>
    </p:spTree>
    <p:extLst>
      <p:ext uri="{BB962C8B-B14F-4D97-AF65-F5344CB8AC3E}">
        <p14:creationId xmlns:p14="http://schemas.microsoft.com/office/powerpoint/2010/main" xmlns="" val="978087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6391"/>
                                        </p:tgtEl>
                                        <p:attrNameLst>
                                          <p:attrName>style.visibility</p:attrName>
                                        </p:attrNameLst>
                                      </p:cBhvr>
                                      <p:to>
                                        <p:strVal val="visible"/>
                                      </p:to>
                                    </p:set>
                                    <p:anim calcmode="lin" valueType="num">
                                      <p:cBhvr additive="base">
                                        <p:cTn id="12" dur="500" fill="hold"/>
                                        <p:tgtEl>
                                          <p:spTgt spid="16391"/>
                                        </p:tgtEl>
                                        <p:attrNameLst>
                                          <p:attrName>ppt_x</p:attrName>
                                        </p:attrNameLst>
                                      </p:cBhvr>
                                      <p:tavLst>
                                        <p:tav tm="0">
                                          <p:val>
                                            <p:strVal val="#ppt_x"/>
                                          </p:val>
                                        </p:tav>
                                        <p:tav tm="100000">
                                          <p:val>
                                            <p:strVal val="#ppt_x"/>
                                          </p:val>
                                        </p:tav>
                                      </p:tavLst>
                                    </p:anim>
                                    <p:anim calcmode="lin" valueType="num">
                                      <p:cBhvr additive="base">
                                        <p:cTn id="13" dur="500" fill="hold"/>
                                        <p:tgtEl>
                                          <p:spTgt spid="1639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circle(in)">
                                      <p:cBhvr>
                                        <p:cTn id="18" dur="20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6395"/>
                                        </p:tgtEl>
                                        <p:attrNameLst>
                                          <p:attrName>style.visibility</p:attrName>
                                        </p:attrNameLst>
                                      </p:cBhvr>
                                      <p:to>
                                        <p:strVal val="visible"/>
                                      </p:to>
                                    </p:set>
                                    <p:anim calcmode="lin" valueType="num">
                                      <p:cBhvr additive="base">
                                        <p:cTn id="23" dur="500" fill="hold"/>
                                        <p:tgtEl>
                                          <p:spTgt spid="16395"/>
                                        </p:tgtEl>
                                        <p:attrNameLst>
                                          <p:attrName>ppt_x</p:attrName>
                                        </p:attrNameLst>
                                      </p:cBhvr>
                                      <p:tavLst>
                                        <p:tav tm="0">
                                          <p:val>
                                            <p:strVal val="#ppt_x"/>
                                          </p:val>
                                        </p:tav>
                                        <p:tav tm="100000">
                                          <p:val>
                                            <p:strVal val="#ppt_x"/>
                                          </p:val>
                                        </p:tav>
                                      </p:tavLst>
                                    </p:anim>
                                    <p:anim calcmode="lin" valueType="num">
                                      <p:cBhvr additive="base">
                                        <p:cTn id="24" dur="500" fill="hold"/>
                                        <p:tgtEl>
                                          <p:spTgt spid="1639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circle(in)">
                                      <p:cBhvr>
                                        <p:cTn id="29"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1" grpId="0"/>
      <p:bldP spid="1639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2113384" y="274638"/>
            <a:ext cx="6707088" cy="706090"/>
          </a:xfrm>
        </p:spPr>
        <p:style>
          <a:lnRef idx="2">
            <a:schemeClr val="accent3"/>
          </a:lnRef>
          <a:fillRef idx="1">
            <a:schemeClr val="lt1"/>
          </a:fillRef>
          <a:effectRef idx="0">
            <a:schemeClr val="accent3"/>
          </a:effectRef>
          <a:fontRef idx="minor">
            <a:schemeClr val="dk1"/>
          </a:fontRef>
        </p:style>
        <p:txBody>
          <a:bodyPr/>
          <a:lstStyle/>
          <a:p>
            <a:r>
              <a:rPr lang="ms-MY" dirty="0">
                <a:latin typeface="Arial" charset="0"/>
              </a:rPr>
              <a:t>Example </a:t>
            </a:r>
            <a:r>
              <a:rPr lang="ms-MY" dirty="0" smtClean="0">
                <a:latin typeface="Arial" charset="0"/>
              </a:rPr>
              <a:t>5 </a:t>
            </a:r>
            <a:r>
              <a:rPr lang="ms-MY" sz="1800" dirty="0">
                <a:latin typeface="Arial" charset="0"/>
              </a:rPr>
              <a:t>(cont.)</a:t>
            </a:r>
            <a:endParaRPr lang="en-US" sz="1800" dirty="0">
              <a:latin typeface="Arial" charset="0"/>
            </a:endParaRPr>
          </a:p>
        </p:txBody>
      </p:sp>
      <p:sp>
        <p:nvSpPr>
          <p:cNvPr id="17411" name="Slide Number Placeholder 3"/>
          <p:cNvSpPr>
            <a:spLocks noGrp="1"/>
          </p:cNvSpPr>
          <p:nvPr>
            <p:ph type="sldNum" sz="quarter" idx="4294967295"/>
          </p:nvPr>
        </p:nvSpPr>
        <p:spPr>
          <a:xfrm>
            <a:off x="8541568" y="6553200"/>
            <a:ext cx="494928" cy="30480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28831379-497D-DF43-8B9D-8BFF5957D430}" type="slidenum">
              <a:rPr lang="en-US" sz="1000">
                <a:solidFill>
                  <a:schemeClr val="bg1"/>
                </a:solidFill>
              </a:rPr>
              <a:pPr/>
              <a:t>17</a:t>
            </a:fld>
            <a:endParaRPr lang="en-US" sz="1000" dirty="0">
              <a:solidFill>
                <a:schemeClr val="bg1"/>
              </a:solidFill>
            </a:endParaRPr>
          </a:p>
        </p:txBody>
      </p:sp>
      <p:sp>
        <p:nvSpPr>
          <p:cNvPr id="17412" name="Rectangle 4"/>
          <p:cNvSpPr>
            <a:spLocks noChangeArrowheads="1"/>
          </p:cNvSpPr>
          <p:nvPr/>
        </p:nvSpPr>
        <p:spPr bwMode="auto">
          <a:xfrm>
            <a:off x="179512" y="1412776"/>
            <a:ext cx="8784976" cy="48833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marL="342900" indent="-342900">
              <a:lnSpc>
                <a:spcPct val="120000"/>
              </a:lnSpc>
              <a:buFont typeface="Wingdings" charset="2"/>
              <a:buChar char="§"/>
            </a:pPr>
            <a:r>
              <a:rPr lang="en-US" sz="2000" dirty="0"/>
              <a:t>Example </a:t>
            </a:r>
            <a:r>
              <a:rPr lang="en-US" sz="2000" dirty="0" smtClean="0"/>
              <a:t>5</a:t>
            </a:r>
            <a:r>
              <a:rPr lang="en-US" sz="2000" dirty="0"/>
              <a:t>(a), no big difference between error value and relative error. </a:t>
            </a:r>
            <a:r>
              <a:rPr lang="en-US" sz="2000" dirty="0" smtClean="0"/>
              <a:t>Therefore, </a:t>
            </a:r>
            <a:r>
              <a:rPr lang="en-US" sz="2000" dirty="0"/>
              <a:t>either error value or relative error can be used to determine the accuracy of approximate value, n. </a:t>
            </a:r>
          </a:p>
          <a:p>
            <a:pPr marL="342900" indent="-342900">
              <a:lnSpc>
                <a:spcPct val="120000"/>
              </a:lnSpc>
              <a:buFont typeface="Wingdings" charset="2"/>
              <a:buChar char="§"/>
            </a:pPr>
            <a:r>
              <a:rPr lang="en-US" sz="2000" dirty="0"/>
              <a:t>Example </a:t>
            </a:r>
            <a:r>
              <a:rPr lang="en-US" sz="2000" dirty="0" smtClean="0"/>
              <a:t>5</a:t>
            </a:r>
            <a:r>
              <a:rPr lang="en-US" sz="2000" dirty="0"/>
              <a:t>(b), N value is in magnitude 10</a:t>
            </a:r>
            <a:r>
              <a:rPr lang="en-US" sz="2000" baseline="30000" dirty="0"/>
              <a:t>6</a:t>
            </a:r>
            <a:r>
              <a:rPr lang="en-US" sz="2000" dirty="0"/>
              <a:t> and the resulted error is big but the relative error is small. This show that approximate </a:t>
            </a:r>
            <a:r>
              <a:rPr lang="en-US" sz="2000" dirty="0" smtClean="0"/>
              <a:t>value(n) </a:t>
            </a:r>
            <a:r>
              <a:rPr lang="en-US" sz="2000" dirty="0"/>
              <a:t>may be good approximate to the exact value, N. </a:t>
            </a:r>
          </a:p>
          <a:p>
            <a:pPr marL="342900" indent="-342900">
              <a:lnSpc>
                <a:spcPct val="120000"/>
              </a:lnSpc>
              <a:buFont typeface="Wingdings" charset="2"/>
              <a:buChar char="§"/>
            </a:pPr>
            <a:r>
              <a:rPr lang="en-US" sz="2000" dirty="0" smtClean="0"/>
              <a:t>Example 5</a:t>
            </a:r>
            <a:r>
              <a:rPr lang="en-US" sz="2000" dirty="0"/>
              <a:t>(c), with magnitude 10</a:t>
            </a:r>
            <a:r>
              <a:rPr lang="en-US" sz="2000" baseline="30000" dirty="0"/>
              <a:t>-6</a:t>
            </a:r>
            <a:r>
              <a:rPr lang="en-US" sz="2000" dirty="0"/>
              <a:t>, resulted error is the smallest between among three examples but the resulted relative error is the biggest among three examples. Percentage of relative error in </a:t>
            </a:r>
            <a:r>
              <a:rPr lang="en-US" sz="2000" dirty="0" smtClean="0"/>
              <a:t>5(</a:t>
            </a:r>
            <a:r>
              <a:rPr lang="en-US" sz="2000" dirty="0"/>
              <a:t>c) is 25% and this show that approximate </a:t>
            </a:r>
            <a:r>
              <a:rPr lang="en-US" sz="2000" dirty="0" smtClean="0"/>
              <a:t>value (n) </a:t>
            </a:r>
            <a:r>
              <a:rPr lang="en-US" sz="2000" dirty="0"/>
              <a:t>is not good approximate for N. </a:t>
            </a:r>
          </a:p>
          <a:p>
            <a:pPr marL="342900" indent="-342900">
              <a:lnSpc>
                <a:spcPct val="120000"/>
              </a:lnSpc>
              <a:buFont typeface="Wingdings" charset="2"/>
              <a:buChar char="§"/>
            </a:pPr>
            <a:endParaRPr lang="en-US" sz="2000" dirty="0"/>
          </a:p>
          <a:p>
            <a:pPr>
              <a:lnSpc>
                <a:spcPct val="120000"/>
              </a:lnSpc>
            </a:pPr>
            <a:r>
              <a:rPr lang="en-US" sz="2000" dirty="0"/>
              <a:t>We can see that when |N| move far from 1 (bigger or smaller), value of relative error is better approximate to the accuracy of approximate value.</a:t>
            </a:r>
          </a:p>
        </p:txBody>
      </p:sp>
    </p:spTree>
    <p:extLst>
      <p:ext uri="{BB962C8B-B14F-4D97-AF65-F5344CB8AC3E}">
        <p14:creationId xmlns:p14="http://schemas.microsoft.com/office/powerpoint/2010/main" xmlns="" val="1723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2051720" y="332656"/>
            <a:ext cx="6696744" cy="685800"/>
          </a:xfrm>
        </p:spPr>
        <p:style>
          <a:lnRef idx="2">
            <a:schemeClr val="accent2"/>
          </a:lnRef>
          <a:fillRef idx="1">
            <a:schemeClr val="lt1"/>
          </a:fillRef>
          <a:effectRef idx="0">
            <a:schemeClr val="accent2"/>
          </a:effectRef>
          <a:fontRef idx="minor">
            <a:schemeClr val="dk1"/>
          </a:fontRef>
        </p:style>
        <p:txBody>
          <a:bodyPr/>
          <a:lstStyle/>
          <a:p>
            <a:pPr marL="342900" indent="-342900"/>
            <a:r>
              <a:rPr lang="en-GB" sz="2400" dirty="0" smtClean="0">
                <a:latin typeface="Arial" charset="0"/>
              </a:rPr>
              <a:t>Maximum </a:t>
            </a:r>
            <a:r>
              <a:rPr lang="en-GB" sz="2400" dirty="0">
                <a:latin typeface="Arial" charset="0"/>
              </a:rPr>
              <a:t>Modulus for Rounding Error</a:t>
            </a:r>
            <a:endParaRPr lang="en-US" sz="2400" dirty="0">
              <a:latin typeface="Arial" charset="0"/>
            </a:endParaRPr>
          </a:p>
        </p:txBody>
      </p:sp>
      <p:sp>
        <p:nvSpPr>
          <p:cNvPr id="18435" name="Slide Number Placeholder 3"/>
          <p:cNvSpPr>
            <a:spLocks noGrp="1"/>
          </p:cNvSpPr>
          <p:nvPr>
            <p:ph type="sldNum" sz="quarter" idx="4294967295"/>
          </p:nvPr>
        </p:nvSpPr>
        <p:spPr>
          <a:xfrm>
            <a:off x="8594104" y="6553200"/>
            <a:ext cx="370384" cy="30480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077153BF-19A3-114C-9DA2-F8B8FEB5CC72}" type="slidenum">
              <a:rPr lang="en-US" sz="1000">
                <a:solidFill>
                  <a:schemeClr val="bg1"/>
                </a:solidFill>
              </a:rPr>
              <a:pPr/>
              <a:t>18</a:t>
            </a:fld>
            <a:endParaRPr lang="en-US" sz="1000">
              <a:solidFill>
                <a:schemeClr val="bg1"/>
              </a:solidFill>
            </a:endParaRPr>
          </a:p>
        </p:txBody>
      </p:sp>
      <p:sp>
        <p:nvSpPr>
          <p:cNvPr id="18436" name="Rectangle 4"/>
          <p:cNvSpPr>
            <a:spLocks noChangeArrowheads="1"/>
          </p:cNvSpPr>
          <p:nvPr/>
        </p:nvSpPr>
        <p:spPr bwMode="auto">
          <a:xfrm>
            <a:off x="539552" y="1682805"/>
            <a:ext cx="8316416" cy="9541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en-US" sz="2800" dirty="0"/>
              <a:t>If a number is rounded to </a:t>
            </a:r>
            <a:r>
              <a:rPr lang="en-US" sz="2800" i="1" dirty="0"/>
              <a:t>n</a:t>
            </a:r>
            <a:r>
              <a:rPr lang="en-US" sz="2800" dirty="0"/>
              <a:t> decimal points, so its error satisfies the inequality:</a:t>
            </a:r>
          </a:p>
        </p:txBody>
      </p:sp>
      <p:sp>
        <p:nvSpPr>
          <p:cNvPr id="18437"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ms-MY"/>
          </a:p>
        </p:txBody>
      </p:sp>
      <p:graphicFrame>
        <p:nvGraphicFramePr>
          <p:cNvPr id="18438" name="Object 1"/>
          <p:cNvGraphicFramePr>
            <a:graphicFrameLocks noChangeAspect="1"/>
          </p:cNvGraphicFramePr>
          <p:nvPr>
            <p:extLst>
              <p:ext uri="{D42A27DB-BD31-4B8C-83A1-F6EECF244321}">
                <p14:modId xmlns:p14="http://schemas.microsoft.com/office/powerpoint/2010/main" xmlns="" val="1701642006"/>
              </p:ext>
            </p:extLst>
          </p:nvPr>
        </p:nvGraphicFramePr>
        <p:xfrm>
          <a:off x="971600" y="3295178"/>
          <a:ext cx="2797696" cy="1268876"/>
        </p:xfrm>
        <a:graphic>
          <a:graphicData uri="http://schemas.openxmlformats.org/presentationml/2006/ole">
            <p:oleObj spid="_x0000_s41030" name="Equation" r:id="rId3" imgW="812447" imgH="368140" progId="Equation.3">
              <p:embed/>
            </p:oleObj>
          </a:graphicData>
        </a:graphic>
      </p:graphicFrame>
      <p:sp>
        <p:nvSpPr>
          <p:cNvPr id="18439"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ms-MY"/>
          </a:p>
        </p:txBody>
      </p:sp>
      <p:graphicFrame>
        <p:nvGraphicFramePr>
          <p:cNvPr id="18440" name="Object 3"/>
          <p:cNvGraphicFramePr>
            <a:graphicFrameLocks noChangeAspect="1"/>
          </p:cNvGraphicFramePr>
          <p:nvPr>
            <p:extLst>
              <p:ext uri="{D42A27DB-BD31-4B8C-83A1-F6EECF244321}">
                <p14:modId xmlns:p14="http://schemas.microsoft.com/office/powerpoint/2010/main" xmlns="" val="3039106072"/>
              </p:ext>
            </p:extLst>
          </p:nvPr>
        </p:nvGraphicFramePr>
        <p:xfrm>
          <a:off x="5076056" y="3339918"/>
          <a:ext cx="2736304" cy="1241210"/>
        </p:xfrm>
        <a:graphic>
          <a:graphicData uri="http://schemas.openxmlformats.org/presentationml/2006/ole">
            <p:oleObj spid="_x0000_s41031" name="Equation" r:id="rId4" imgW="812447" imgH="368140" progId="Equation.3">
              <p:embed/>
            </p:oleObj>
          </a:graphicData>
        </a:graphic>
      </p:graphicFrame>
      <p:sp>
        <p:nvSpPr>
          <p:cNvPr id="18441" name="Rectangle 9"/>
          <p:cNvSpPr>
            <a:spLocks noChangeArrowheads="1"/>
          </p:cNvSpPr>
          <p:nvPr/>
        </p:nvSpPr>
        <p:spPr bwMode="auto">
          <a:xfrm>
            <a:off x="4067944" y="3699958"/>
            <a:ext cx="739305" cy="5847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3200" dirty="0" smtClean="0"/>
              <a:t>, or</a:t>
            </a:r>
            <a:endParaRPr lang="en-US" sz="3200" dirty="0"/>
          </a:p>
        </p:txBody>
      </p:sp>
    </p:spTree>
    <p:extLst>
      <p:ext uri="{BB962C8B-B14F-4D97-AF65-F5344CB8AC3E}">
        <p14:creationId xmlns:p14="http://schemas.microsoft.com/office/powerpoint/2010/main" xmlns="" val="2740127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2195736" y="274638"/>
            <a:ext cx="6491064" cy="706090"/>
          </a:xfrm>
        </p:spPr>
        <p:style>
          <a:lnRef idx="2">
            <a:schemeClr val="accent3"/>
          </a:lnRef>
          <a:fillRef idx="1">
            <a:schemeClr val="lt1"/>
          </a:fillRef>
          <a:effectRef idx="0">
            <a:schemeClr val="accent3"/>
          </a:effectRef>
          <a:fontRef idx="minor">
            <a:schemeClr val="dk1"/>
          </a:fontRef>
        </p:style>
        <p:txBody>
          <a:bodyPr/>
          <a:lstStyle/>
          <a:p>
            <a:r>
              <a:rPr lang="en-US" dirty="0">
                <a:latin typeface="Arial" charset="0"/>
              </a:rPr>
              <a:t>Example </a:t>
            </a:r>
            <a:r>
              <a:rPr lang="en-US" dirty="0" smtClean="0">
                <a:latin typeface="Arial" charset="0"/>
              </a:rPr>
              <a:t>6</a:t>
            </a:r>
            <a:endParaRPr lang="en-US" dirty="0">
              <a:latin typeface="Arial" charset="0"/>
            </a:endParaRPr>
          </a:p>
        </p:txBody>
      </p:sp>
      <p:sp>
        <p:nvSpPr>
          <p:cNvPr id="19459" name="Slide Number Placeholder 3"/>
          <p:cNvSpPr>
            <a:spLocks noGrp="1"/>
          </p:cNvSpPr>
          <p:nvPr>
            <p:ph type="sldNum" sz="quarter" idx="4294967295"/>
          </p:nvPr>
        </p:nvSpPr>
        <p:spPr>
          <a:xfrm>
            <a:off x="8522096" y="6553200"/>
            <a:ext cx="370384" cy="30480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B84197F6-EF78-A24E-A21D-3B31A809C523}" type="slidenum">
              <a:rPr lang="en-US" sz="1000">
                <a:solidFill>
                  <a:schemeClr val="bg1"/>
                </a:solidFill>
              </a:rPr>
              <a:pPr/>
              <a:t>19</a:t>
            </a:fld>
            <a:endParaRPr lang="en-US" sz="1000">
              <a:solidFill>
                <a:schemeClr val="bg1"/>
              </a:solidFill>
            </a:endParaRPr>
          </a:p>
        </p:txBody>
      </p:sp>
      <p:sp>
        <p:nvSpPr>
          <p:cNvPr id="19460" name="Rectangle 4"/>
          <p:cNvSpPr>
            <a:spLocks noChangeArrowheads="1"/>
          </p:cNvSpPr>
          <p:nvPr/>
        </p:nvSpPr>
        <p:spPr bwMode="auto">
          <a:xfrm>
            <a:off x="395536" y="1484784"/>
            <a:ext cx="8424936"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en-US" sz="2400" dirty="0"/>
              <a:t>Given a number rounded to 2 decimal points, the relative error is:</a:t>
            </a:r>
          </a:p>
        </p:txBody>
      </p:sp>
      <p:sp>
        <p:nvSpPr>
          <p:cNvPr id="19461"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ms-MY"/>
          </a:p>
        </p:txBody>
      </p:sp>
      <p:graphicFrame>
        <p:nvGraphicFramePr>
          <p:cNvPr id="19462" name="Object 1"/>
          <p:cNvGraphicFramePr>
            <a:graphicFrameLocks noChangeAspect="1"/>
          </p:cNvGraphicFramePr>
          <p:nvPr>
            <p:extLst>
              <p:ext uri="{D42A27DB-BD31-4B8C-83A1-F6EECF244321}">
                <p14:modId xmlns:p14="http://schemas.microsoft.com/office/powerpoint/2010/main" xmlns="" val="2246112575"/>
              </p:ext>
            </p:extLst>
          </p:nvPr>
        </p:nvGraphicFramePr>
        <p:xfrm>
          <a:off x="755575" y="2708920"/>
          <a:ext cx="2800311" cy="1008112"/>
        </p:xfrm>
        <a:graphic>
          <a:graphicData uri="http://schemas.openxmlformats.org/presentationml/2006/ole">
            <p:oleObj spid="_x0000_s42076" name="Equation" r:id="rId3" imgW="812447" imgH="368140" progId="Equation.3">
              <p:embed/>
            </p:oleObj>
          </a:graphicData>
        </a:graphic>
      </p:graphicFrame>
      <p:sp>
        <p:nvSpPr>
          <p:cNvPr id="19463"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ms-MY"/>
          </a:p>
        </p:txBody>
      </p:sp>
      <p:sp>
        <p:nvSpPr>
          <p:cNvPr id="19465"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ms-MY"/>
          </a:p>
        </p:txBody>
      </p:sp>
      <p:graphicFrame>
        <p:nvGraphicFramePr>
          <p:cNvPr id="19466" name="Object 5"/>
          <p:cNvGraphicFramePr>
            <a:graphicFrameLocks noChangeAspect="1"/>
          </p:cNvGraphicFramePr>
          <p:nvPr>
            <p:extLst>
              <p:ext uri="{D42A27DB-BD31-4B8C-83A1-F6EECF244321}">
                <p14:modId xmlns:p14="http://schemas.microsoft.com/office/powerpoint/2010/main" xmlns="" val="4029240390"/>
              </p:ext>
            </p:extLst>
          </p:nvPr>
        </p:nvGraphicFramePr>
        <p:xfrm>
          <a:off x="4499992" y="2852936"/>
          <a:ext cx="2204864" cy="770682"/>
        </p:xfrm>
        <a:graphic>
          <a:graphicData uri="http://schemas.openxmlformats.org/presentationml/2006/ole">
            <p:oleObj spid="_x0000_s42077" name="Equation" r:id="rId4" imgW="761669" imgH="253890" progId="Equation.3">
              <p:embed/>
            </p:oleObj>
          </a:graphicData>
        </a:graphic>
      </p:graphicFrame>
      <p:sp>
        <p:nvSpPr>
          <p:cNvPr id="19467" name="Rectangle 7"/>
          <p:cNvSpPr>
            <a:spLocks noChangeArrowheads="1"/>
          </p:cNvSpPr>
          <p:nvPr/>
        </p:nvSpPr>
        <p:spPr bwMode="auto">
          <a:xfrm>
            <a:off x="0" y="266700"/>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p>
            <a:endParaRPr lang="ms-MY"/>
          </a:p>
        </p:txBody>
      </p:sp>
      <p:sp>
        <p:nvSpPr>
          <p:cNvPr id="2" name="TextBox 1"/>
          <p:cNvSpPr txBox="1"/>
          <p:nvPr/>
        </p:nvSpPr>
        <p:spPr>
          <a:xfrm>
            <a:off x="3923928" y="2852936"/>
            <a:ext cx="414597" cy="646331"/>
          </a:xfrm>
          <a:prstGeom prst="rect">
            <a:avLst/>
          </a:prstGeom>
          <a:noFill/>
        </p:spPr>
        <p:txBody>
          <a:bodyPr wrap="none" rtlCol="0">
            <a:spAutoFit/>
          </a:bodyPr>
          <a:lstStyle/>
          <a:p>
            <a:r>
              <a:rPr lang="en-US" sz="3600" dirty="0" smtClean="0"/>
              <a:t>=</a:t>
            </a:r>
            <a:endParaRPr lang="en-US" sz="3600" dirty="0"/>
          </a:p>
        </p:txBody>
      </p:sp>
    </p:spTree>
    <p:extLst>
      <p:ext uri="{BB962C8B-B14F-4D97-AF65-F5344CB8AC3E}">
        <p14:creationId xmlns:p14="http://schemas.microsoft.com/office/powerpoint/2010/main" xmlns="" val="155293639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1907704" y="366936"/>
            <a:ext cx="7056784" cy="685800"/>
          </a:xfrm>
        </p:spPr>
        <p:style>
          <a:lnRef idx="2">
            <a:schemeClr val="accent2"/>
          </a:lnRef>
          <a:fillRef idx="1">
            <a:schemeClr val="lt1"/>
          </a:fillRef>
          <a:effectRef idx="0">
            <a:schemeClr val="accent2"/>
          </a:effectRef>
          <a:fontRef idx="minor">
            <a:schemeClr val="dk1"/>
          </a:fontRef>
        </p:style>
        <p:txBody>
          <a:bodyPr/>
          <a:lstStyle/>
          <a:p>
            <a:r>
              <a:rPr lang="en-US" sz="2000" b="1" dirty="0" smtClean="0">
                <a:latin typeface="Arial" charset="0"/>
              </a:rPr>
              <a:t>Effect </a:t>
            </a:r>
            <a:r>
              <a:rPr lang="en-US" sz="2000" b="1" dirty="0">
                <a:latin typeface="Arial" charset="0"/>
              </a:rPr>
              <a:t>of Rounding Error in </a:t>
            </a:r>
            <a:r>
              <a:rPr lang="en-US" sz="2000" b="1" dirty="0" smtClean="0">
                <a:latin typeface="Arial" charset="0"/>
              </a:rPr>
              <a:t>Addition </a:t>
            </a:r>
            <a:r>
              <a:rPr lang="en-US" sz="2000" b="1" dirty="0">
                <a:latin typeface="Arial" charset="0"/>
              </a:rPr>
              <a:t>and </a:t>
            </a:r>
            <a:r>
              <a:rPr lang="en-US" sz="2000" b="1" dirty="0" smtClean="0">
                <a:latin typeface="Arial" charset="0"/>
              </a:rPr>
              <a:t>Subtraction</a:t>
            </a:r>
            <a:endParaRPr lang="en-US" sz="2000" b="1" dirty="0">
              <a:latin typeface="Arial" charset="0"/>
            </a:endParaRPr>
          </a:p>
        </p:txBody>
      </p:sp>
      <p:sp>
        <p:nvSpPr>
          <p:cNvPr id="20483" name="Slide Number Placeholder 3"/>
          <p:cNvSpPr>
            <a:spLocks noGrp="1"/>
          </p:cNvSpPr>
          <p:nvPr>
            <p:ph type="sldNum" sz="quarter" idx="4294967295"/>
          </p:nvPr>
        </p:nvSpPr>
        <p:spPr>
          <a:xfrm>
            <a:off x="8522096" y="6553200"/>
            <a:ext cx="370384" cy="30480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7DD207D7-AE70-7A44-A280-3DC87537E0CD}" type="slidenum">
              <a:rPr lang="en-US" sz="1000">
                <a:solidFill>
                  <a:schemeClr val="bg1"/>
                </a:solidFill>
              </a:rPr>
              <a:pPr/>
              <a:t>20</a:t>
            </a:fld>
            <a:endParaRPr lang="en-US" sz="1000" dirty="0">
              <a:solidFill>
                <a:schemeClr val="bg1"/>
              </a:solidFill>
            </a:endParaRPr>
          </a:p>
        </p:txBody>
      </p:sp>
      <p:sp>
        <p:nvSpPr>
          <p:cNvPr id="20484" name="Rectangle 4"/>
          <p:cNvSpPr>
            <a:spLocks noChangeArrowheads="1"/>
          </p:cNvSpPr>
          <p:nvPr/>
        </p:nvSpPr>
        <p:spPr bwMode="auto">
          <a:xfrm>
            <a:off x="107504" y="1268760"/>
            <a:ext cx="8856984" cy="5509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en-GB" sz="2400" dirty="0"/>
              <a:t>Given </a:t>
            </a:r>
            <a:r>
              <a:rPr lang="en-GB" sz="2400" i="1" dirty="0"/>
              <a:t>n</a:t>
            </a:r>
            <a:r>
              <a:rPr lang="en-GB" sz="2400" baseline="-25000" dirty="0"/>
              <a:t>1</a:t>
            </a:r>
            <a:r>
              <a:rPr lang="en-GB" sz="2400" dirty="0"/>
              <a:t>, </a:t>
            </a:r>
            <a:r>
              <a:rPr lang="en-GB" sz="2400" i="1" dirty="0"/>
              <a:t>n</a:t>
            </a:r>
            <a:r>
              <a:rPr lang="en-GB" sz="2400" baseline="-25000" dirty="0"/>
              <a:t>2</a:t>
            </a:r>
            <a:r>
              <a:rPr lang="en-GB" sz="2400" dirty="0"/>
              <a:t>  are approximate value of two quantities, </a:t>
            </a:r>
            <a:r>
              <a:rPr lang="en-GB" sz="2400" i="1" dirty="0"/>
              <a:t>N</a:t>
            </a:r>
            <a:r>
              <a:rPr lang="en-GB" sz="2400" i="1" baseline="-25000" dirty="0"/>
              <a:t>1</a:t>
            </a:r>
            <a:r>
              <a:rPr lang="en-GB" sz="2400" dirty="0"/>
              <a:t>, </a:t>
            </a:r>
            <a:r>
              <a:rPr lang="en-GB" sz="2400" i="1" dirty="0"/>
              <a:t>N</a:t>
            </a:r>
            <a:r>
              <a:rPr lang="en-GB" sz="2400" i="1" baseline="-25000" dirty="0"/>
              <a:t>2</a:t>
            </a:r>
            <a:r>
              <a:rPr lang="en-GB" sz="2400" dirty="0"/>
              <a:t>. Error are </a:t>
            </a:r>
            <a:r>
              <a:rPr lang="en-GB" sz="2400" dirty="0">
                <a:latin typeface="Symbol" charset="0"/>
              </a:rPr>
              <a:t>e</a:t>
            </a:r>
            <a:r>
              <a:rPr lang="en-GB" sz="2400" baseline="-25000" dirty="0"/>
              <a:t>1</a:t>
            </a:r>
            <a:r>
              <a:rPr lang="en-GB" sz="2400" dirty="0"/>
              <a:t>, </a:t>
            </a:r>
            <a:r>
              <a:rPr lang="en-GB" sz="2400" dirty="0">
                <a:latin typeface="Symbol" charset="0"/>
              </a:rPr>
              <a:t>e</a:t>
            </a:r>
            <a:r>
              <a:rPr lang="en-GB" sz="2400" baseline="-25000" dirty="0">
                <a:latin typeface="Symbol" charset="0"/>
              </a:rPr>
              <a:t>2</a:t>
            </a:r>
            <a:r>
              <a:rPr lang="en-GB" sz="2400" dirty="0"/>
              <a:t>  where  </a:t>
            </a:r>
            <a:r>
              <a:rPr lang="en-GB" sz="2400" i="1" dirty="0">
                <a:latin typeface="Symbol" charset="0"/>
              </a:rPr>
              <a:t>e</a:t>
            </a:r>
            <a:r>
              <a:rPr lang="en-GB" sz="2400" i="1" baseline="-25000" dirty="0"/>
              <a:t>1</a:t>
            </a:r>
            <a:r>
              <a:rPr lang="en-GB" sz="2400" i="1" dirty="0"/>
              <a:t> = N</a:t>
            </a:r>
            <a:r>
              <a:rPr lang="en-GB" sz="2400" i="1" baseline="-25000" dirty="0"/>
              <a:t>1</a:t>
            </a:r>
            <a:r>
              <a:rPr lang="en-GB" sz="2400" i="1" dirty="0"/>
              <a:t> – n</a:t>
            </a:r>
            <a:r>
              <a:rPr lang="en-GB" sz="2400" i="1" baseline="-25000" dirty="0"/>
              <a:t>1</a:t>
            </a:r>
            <a:r>
              <a:rPr lang="en-GB" sz="2400" dirty="0"/>
              <a:t> and </a:t>
            </a:r>
            <a:r>
              <a:rPr lang="en-GB" sz="2400" i="1" dirty="0">
                <a:latin typeface="Symbol" charset="0"/>
              </a:rPr>
              <a:t>e</a:t>
            </a:r>
            <a:r>
              <a:rPr lang="en-GB" sz="2400" i="1" baseline="-25000" dirty="0"/>
              <a:t>2</a:t>
            </a:r>
            <a:r>
              <a:rPr lang="en-GB" sz="2400" i="1" dirty="0"/>
              <a:t> = N</a:t>
            </a:r>
            <a:r>
              <a:rPr lang="en-GB" sz="2400" i="1" baseline="-25000" dirty="0"/>
              <a:t>2</a:t>
            </a:r>
            <a:r>
              <a:rPr lang="en-GB" sz="2400" i="1" dirty="0"/>
              <a:t> – n</a:t>
            </a:r>
            <a:r>
              <a:rPr lang="en-GB" sz="2400" i="1" baseline="-25000" dirty="0"/>
              <a:t>2</a:t>
            </a:r>
          </a:p>
          <a:p>
            <a:endParaRPr lang="en-GB" sz="2400" i="1" baseline="-25000" dirty="0"/>
          </a:p>
          <a:p>
            <a:r>
              <a:rPr lang="en-US" sz="2400" dirty="0"/>
              <a:t>If </a:t>
            </a:r>
            <a:r>
              <a:rPr lang="en-US" sz="2400" i="1" dirty="0" smtClean="0"/>
              <a:t>N</a:t>
            </a:r>
            <a:r>
              <a:rPr lang="en-US" sz="2400" i="1" baseline="-25000" dirty="0" smtClean="0"/>
              <a:t>3</a:t>
            </a:r>
            <a:r>
              <a:rPr lang="en-US" sz="2400" dirty="0" smtClean="0"/>
              <a:t> </a:t>
            </a:r>
            <a:r>
              <a:rPr lang="en-US" sz="2400" dirty="0"/>
              <a:t>is total for exact value, so</a:t>
            </a:r>
          </a:p>
          <a:p>
            <a:r>
              <a:rPr lang="en-US" sz="2400" dirty="0"/>
              <a:t> 	</a:t>
            </a:r>
            <a:r>
              <a:rPr lang="en-US" sz="2400" i="1" dirty="0"/>
              <a:t>N</a:t>
            </a:r>
            <a:r>
              <a:rPr lang="en-US" sz="2400" i="1" baseline="-25000" dirty="0"/>
              <a:t>3</a:t>
            </a:r>
            <a:r>
              <a:rPr lang="en-US" sz="2400" i="1" dirty="0"/>
              <a:t> = N</a:t>
            </a:r>
            <a:r>
              <a:rPr lang="en-US" sz="2400" i="1" baseline="-25000" dirty="0"/>
              <a:t>1</a:t>
            </a:r>
            <a:r>
              <a:rPr lang="en-US" sz="2400" i="1" dirty="0"/>
              <a:t> + N</a:t>
            </a:r>
            <a:r>
              <a:rPr lang="en-US" sz="2400" i="1" baseline="-25000" dirty="0"/>
              <a:t>2</a:t>
            </a:r>
            <a:r>
              <a:rPr lang="ms-MY" sz="2400" dirty="0"/>
              <a:t>	</a:t>
            </a:r>
            <a:endParaRPr lang="ms-MY" sz="2400" dirty="0" smtClean="0"/>
          </a:p>
          <a:p>
            <a:r>
              <a:rPr lang="ms-MY" sz="2400" dirty="0"/>
              <a:t>					           </a:t>
            </a:r>
            <a:endParaRPr lang="en-US" sz="2400" dirty="0"/>
          </a:p>
          <a:p>
            <a:r>
              <a:rPr lang="ms-MY" sz="2400" dirty="0"/>
              <a:t>Total of approximate value, </a:t>
            </a:r>
            <a:r>
              <a:rPr lang="en-US" sz="2400" dirty="0"/>
              <a:t>is given by</a:t>
            </a:r>
          </a:p>
          <a:p>
            <a:r>
              <a:rPr lang="en-US" sz="2400" i="1" dirty="0"/>
              <a:t>	n</a:t>
            </a:r>
            <a:r>
              <a:rPr lang="en-US" sz="2400" i="1" baseline="-25000" dirty="0"/>
              <a:t>3</a:t>
            </a:r>
            <a:r>
              <a:rPr lang="en-US" sz="2400" i="1" dirty="0"/>
              <a:t> = n</a:t>
            </a:r>
            <a:r>
              <a:rPr lang="en-US" sz="2400" i="1" baseline="-25000" dirty="0"/>
              <a:t>1</a:t>
            </a:r>
            <a:r>
              <a:rPr lang="en-US" sz="2400" i="1" dirty="0"/>
              <a:t> + </a:t>
            </a:r>
            <a:r>
              <a:rPr lang="en-US" sz="2400" i="1" dirty="0" smtClean="0"/>
              <a:t>n</a:t>
            </a:r>
            <a:r>
              <a:rPr lang="en-US" sz="2400" i="1" baseline="-25000" dirty="0" smtClean="0"/>
              <a:t>2</a:t>
            </a:r>
          </a:p>
          <a:p>
            <a:r>
              <a:rPr lang="en-US" sz="2400" i="1" dirty="0"/>
              <a:t>	</a:t>
            </a:r>
            <a:r>
              <a:rPr lang="ms-MY" sz="2400" dirty="0"/>
              <a:t>     				       	    </a:t>
            </a:r>
            <a:r>
              <a:rPr lang="en-US" sz="2400" dirty="0"/>
              <a:t> </a:t>
            </a:r>
          </a:p>
          <a:p>
            <a:r>
              <a:rPr lang="ms-MY" sz="2400" dirty="0"/>
              <a:t>From Equation (1.1) we obtain  </a:t>
            </a:r>
            <a:endParaRPr lang="en-US" sz="2400" dirty="0"/>
          </a:p>
          <a:p>
            <a:r>
              <a:rPr lang="en-US" sz="2400" i="1" dirty="0"/>
              <a:t>	</a:t>
            </a:r>
            <a:r>
              <a:rPr lang="en-US" sz="2400" i="1" dirty="0">
                <a:latin typeface="Symbol" charset="0"/>
              </a:rPr>
              <a:t>e</a:t>
            </a:r>
            <a:r>
              <a:rPr lang="en-US" sz="2400" i="1" baseline="-25000" dirty="0"/>
              <a:t>3</a:t>
            </a:r>
            <a:r>
              <a:rPr lang="en-US" sz="2400" i="1" dirty="0"/>
              <a:t> 	= N</a:t>
            </a:r>
            <a:r>
              <a:rPr lang="en-US" sz="2400" i="1" baseline="-25000" dirty="0"/>
              <a:t>3</a:t>
            </a:r>
            <a:r>
              <a:rPr lang="en-US" sz="2400" i="1" dirty="0"/>
              <a:t> – n</a:t>
            </a:r>
            <a:r>
              <a:rPr lang="en-US" sz="2400" i="1" baseline="-25000" dirty="0"/>
              <a:t>3</a:t>
            </a:r>
            <a:endParaRPr lang="en-US" sz="2400" dirty="0"/>
          </a:p>
          <a:p>
            <a:r>
              <a:rPr lang="ms-MY" sz="2400" i="1" dirty="0"/>
              <a:t>		= (N</a:t>
            </a:r>
            <a:r>
              <a:rPr lang="ms-MY" sz="2400" i="1" baseline="-25000" dirty="0"/>
              <a:t>1</a:t>
            </a:r>
            <a:r>
              <a:rPr lang="ms-MY" sz="2400" i="1" dirty="0"/>
              <a:t> + N</a:t>
            </a:r>
            <a:r>
              <a:rPr lang="ms-MY" sz="2400" i="1" baseline="-25000" dirty="0"/>
              <a:t>2</a:t>
            </a:r>
            <a:r>
              <a:rPr lang="ms-MY" sz="2400" i="1" dirty="0"/>
              <a:t>) – (n</a:t>
            </a:r>
            <a:r>
              <a:rPr lang="ms-MY" sz="2400" i="1" baseline="-25000" dirty="0"/>
              <a:t>1</a:t>
            </a:r>
            <a:r>
              <a:rPr lang="ms-MY" sz="2400" i="1" dirty="0"/>
              <a:t> + n</a:t>
            </a:r>
            <a:r>
              <a:rPr lang="ms-MY" sz="2400" i="1" baseline="-25000" dirty="0"/>
              <a:t>2</a:t>
            </a:r>
            <a:r>
              <a:rPr lang="ms-MY" sz="2400" i="1" dirty="0"/>
              <a:t>)</a:t>
            </a:r>
            <a:endParaRPr lang="en-US" sz="2400" dirty="0"/>
          </a:p>
          <a:p>
            <a:r>
              <a:rPr lang="ms-MY" sz="2400" i="1" dirty="0"/>
              <a:t>		= (N</a:t>
            </a:r>
            <a:r>
              <a:rPr lang="ms-MY" sz="2400" i="1" baseline="-25000" dirty="0"/>
              <a:t>1</a:t>
            </a:r>
            <a:r>
              <a:rPr lang="ms-MY" sz="2400" i="1" dirty="0"/>
              <a:t> – n</a:t>
            </a:r>
            <a:r>
              <a:rPr lang="ms-MY" sz="2400" i="1" baseline="-25000" dirty="0"/>
              <a:t>1</a:t>
            </a:r>
            <a:r>
              <a:rPr lang="ms-MY" sz="2400" i="1" dirty="0"/>
              <a:t>) + (N</a:t>
            </a:r>
            <a:r>
              <a:rPr lang="ms-MY" sz="2400" i="1" baseline="-25000" dirty="0"/>
              <a:t>2</a:t>
            </a:r>
            <a:r>
              <a:rPr lang="ms-MY" sz="2400" i="1" dirty="0"/>
              <a:t> – n</a:t>
            </a:r>
            <a:r>
              <a:rPr lang="ms-MY" sz="2400" i="1" baseline="-25000" dirty="0"/>
              <a:t>2</a:t>
            </a:r>
            <a:r>
              <a:rPr lang="ms-MY" sz="2400" i="1" dirty="0"/>
              <a:t>)</a:t>
            </a:r>
            <a:endParaRPr lang="en-US" sz="2400" dirty="0"/>
          </a:p>
          <a:p>
            <a:r>
              <a:rPr lang="ms-MY" sz="2400" i="1" dirty="0"/>
              <a:t>		= </a:t>
            </a:r>
            <a:r>
              <a:rPr lang="ms-MY" sz="2400" i="1" dirty="0">
                <a:latin typeface="Symbol" charset="0"/>
              </a:rPr>
              <a:t>e</a:t>
            </a:r>
            <a:r>
              <a:rPr lang="ms-MY" sz="2400" i="1" baseline="-25000" dirty="0"/>
              <a:t>1</a:t>
            </a:r>
            <a:r>
              <a:rPr lang="ms-MY" sz="2400" i="1" dirty="0"/>
              <a:t> + </a:t>
            </a:r>
            <a:r>
              <a:rPr lang="ms-MY" sz="2400" i="1" dirty="0">
                <a:latin typeface="Symbol" charset="0"/>
              </a:rPr>
              <a:t>e</a:t>
            </a:r>
            <a:r>
              <a:rPr lang="ms-MY" sz="2400" i="1" baseline="-25000" dirty="0"/>
              <a:t>2</a:t>
            </a:r>
            <a:r>
              <a:rPr lang="da-DK" sz="2400" i="1" dirty="0"/>
              <a:t>    	</a:t>
            </a:r>
            <a:r>
              <a:rPr lang="da-DK" sz="2400" dirty="0"/>
              <a:t>			           </a:t>
            </a:r>
            <a:endParaRPr lang="en-US" sz="2400" dirty="0"/>
          </a:p>
          <a:p>
            <a:endParaRPr lang="en-US" sz="2400" dirty="0"/>
          </a:p>
        </p:txBody>
      </p:sp>
    </p:spTree>
    <p:extLst>
      <p:ext uri="{BB962C8B-B14F-4D97-AF65-F5344CB8AC3E}">
        <p14:creationId xmlns:p14="http://schemas.microsoft.com/office/powerpoint/2010/main" xmlns="" val="38048608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3"/>
          <p:cNvSpPr>
            <a:spLocks noGrp="1"/>
          </p:cNvSpPr>
          <p:nvPr>
            <p:ph type="sldNum" sz="quarter" idx="4294967295"/>
          </p:nvPr>
        </p:nvSpPr>
        <p:spPr>
          <a:xfrm>
            <a:off x="8594104" y="6553200"/>
            <a:ext cx="549896" cy="30480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45BEB870-DC21-D641-8A5C-70D9D8A0D823}" type="slidenum">
              <a:rPr lang="en-US" sz="1000">
                <a:solidFill>
                  <a:schemeClr val="bg1"/>
                </a:solidFill>
              </a:rPr>
              <a:pPr/>
              <a:t>21</a:t>
            </a:fld>
            <a:endParaRPr lang="en-US" sz="1000" dirty="0">
              <a:solidFill>
                <a:schemeClr val="bg1"/>
              </a:solidFill>
            </a:endParaRPr>
          </a:p>
        </p:txBody>
      </p:sp>
      <p:sp>
        <p:nvSpPr>
          <p:cNvPr id="21508" name="Rectangle 4"/>
          <p:cNvSpPr>
            <a:spLocks noChangeArrowheads="1"/>
          </p:cNvSpPr>
          <p:nvPr/>
        </p:nvSpPr>
        <p:spPr bwMode="auto">
          <a:xfrm>
            <a:off x="251520" y="1600200"/>
            <a:ext cx="8740080" cy="45243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en-US" sz="2400" dirty="0"/>
              <a:t>For any two numbers, a and b, the inequality is given by</a:t>
            </a:r>
          </a:p>
          <a:p>
            <a:r>
              <a:rPr lang="en-US" sz="2400" dirty="0"/>
              <a:t>	|a </a:t>
            </a:r>
            <a:r>
              <a:rPr lang="en-US" sz="2400" dirty="0" smtClean="0"/>
              <a:t>± b</a:t>
            </a:r>
            <a:r>
              <a:rPr lang="en-US" sz="2400" dirty="0"/>
              <a:t>| ≤|a| + |b|	</a:t>
            </a:r>
            <a:endParaRPr lang="en-US" sz="2400" dirty="0" smtClean="0"/>
          </a:p>
          <a:p>
            <a:r>
              <a:rPr lang="en-US" sz="2400" dirty="0"/>
              <a:t>			            </a:t>
            </a:r>
          </a:p>
          <a:p>
            <a:r>
              <a:rPr lang="en-US" sz="2400" dirty="0"/>
              <a:t>From (1.7) and (1.8) we obtain</a:t>
            </a:r>
          </a:p>
          <a:p>
            <a:r>
              <a:rPr lang="en-US" sz="2400" dirty="0"/>
              <a:t>	|</a:t>
            </a:r>
            <a:r>
              <a:rPr lang="en-US" sz="2400" dirty="0">
                <a:latin typeface="Symbol" charset="0"/>
              </a:rPr>
              <a:t>e</a:t>
            </a:r>
            <a:r>
              <a:rPr lang="en-US" sz="2400" baseline="-25000" dirty="0"/>
              <a:t>3</a:t>
            </a:r>
            <a:r>
              <a:rPr lang="en-US" sz="2400" dirty="0"/>
              <a:t>| ≤|</a:t>
            </a:r>
            <a:r>
              <a:rPr lang="en-US" sz="2400" dirty="0">
                <a:latin typeface="Symbol" charset="0"/>
              </a:rPr>
              <a:t>e</a:t>
            </a:r>
            <a:r>
              <a:rPr lang="en-US" sz="2400" baseline="-25000" dirty="0"/>
              <a:t>1</a:t>
            </a:r>
            <a:r>
              <a:rPr lang="en-US" sz="2400" dirty="0"/>
              <a:t>|+|</a:t>
            </a:r>
            <a:r>
              <a:rPr lang="en-US" sz="2400" dirty="0">
                <a:latin typeface="Symbol" charset="0"/>
              </a:rPr>
              <a:t>e</a:t>
            </a:r>
            <a:r>
              <a:rPr lang="en-US" sz="2400" baseline="-25000" dirty="0"/>
              <a:t>2</a:t>
            </a:r>
            <a:r>
              <a:rPr lang="en-US" sz="2400" dirty="0" smtClean="0"/>
              <a:t>|</a:t>
            </a:r>
          </a:p>
          <a:p>
            <a:r>
              <a:rPr lang="en-US" sz="2400" dirty="0"/>
              <a:t>				           </a:t>
            </a:r>
          </a:p>
          <a:p>
            <a:r>
              <a:rPr lang="en-US" sz="2400" dirty="0"/>
              <a:t>If </a:t>
            </a:r>
            <a:r>
              <a:rPr lang="en-US" sz="2400" dirty="0" smtClean="0">
                <a:latin typeface="Symbol" charset="0"/>
              </a:rPr>
              <a:t>e</a:t>
            </a:r>
            <a:r>
              <a:rPr lang="en-US" sz="2400" baseline="-25000" dirty="0" smtClean="0"/>
              <a:t>3</a:t>
            </a:r>
            <a:r>
              <a:rPr lang="en-US" sz="2400" dirty="0" smtClean="0"/>
              <a:t> </a:t>
            </a:r>
            <a:r>
              <a:rPr lang="en-US" sz="2400" dirty="0"/>
              <a:t>is exact difference between </a:t>
            </a:r>
            <a:r>
              <a:rPr lang="en-US" sz="2400" dirty="0" smtClean="0"/>
              <a:t>error </a:t>
            </a:r>
            <a:r>
              <a:rPr lang="en-US" sz="2400" dirty="0" smtClean="0">
                <a:latin typeface="Symbol" charset="0"/>
              </a:rPr>
              <a:t>e</a:t>
            </a:r>
            <a:r>
              <a:rPr lang="en-US" sz="2400" baseline="-25000" dirty="0" smtClean="0"/>
              <a:t>1</a:t>
            </a:r>
            <a:r>
              <a:rPr lang="en-US" sz="2400" dirty="0"/>
              <a:t>,</a:t>
            </a:r>
            <a:r>
              <a:rPr lang="en-US" sz="2400" dirty="0" smtClean="0"/>
              <a:t> </a:t>
            </a:r>
            <a:r>
              <a:rPr lang="en-US" sz="2400" dirty="0" smtClean="0">
                <a:latin typeface="Symbol" charset="0"/>
              </a:rPr>
              <a:t>e</a:t>
            </a:r>
            <a:r>
              <a:rPr lang="en-US" sz="2400" baseline="-25000" dirty="0" smtClean="0"/>
              <a:t>2</a:t>
            </a:r>
            <a:r>
              <a:rPr lang="en-US" sz="2400" dirty="0" smtClean="0"/>
              <a:t>, </a:t>
            </a:r>
            <a:r>
              <a:rPr lang="en-US" sz="2400" dirty="0"/>
              <a:t>so we can show that</a:t>
            </a:r>
          </a:p>
          <a:p>
            <a:r>
              <a:rPr lang="en-US" sz="2400" dirty="0"/>
              <a:t>	</a:t>
            </a:r>
            <a:r>
              <a:rPr lang="en-US" sz="2400" dirty="0">
                <a:latin typeface="Symbol" charset="0"/>
              </a:rPr>
              <a:t>e</a:t>
            </a:r>
            <a:r>
              <a:rPr lang="en-US" sz="2400" baseline="-25000" dirty="0"/>
              <a:t>3</a:t>
            </a:r>
            <a:r>
              <a:rPr lang="en-US" sz="2400" dirty="0"/>
              <a:t> = </a:t>
            </a:r>
            <a:r>
              <a:rPr lang="en-US" sz="2400" dirty="0">
                <a:latin typeface="Symbol" charset="0"/>
              </a:rPr>
              <a:t>e</a:t>
            </a:r>
            <a:r>
              <a:rPr lang="en-US" sz="2400" baseline="-25000" dirty="0"/>
              <a:t>1</a:t>
            </a:r>
            <a:r>
              <a:rPr lang="en-US" sz="2400" dirty="0"/>
              <a:t> – </a:t>
            </a:r>
            <a:r>
              <a:rPr lang="en-US" sz="2400" dirty="0" smtClean="0">
                <a:latin typeface="Symbol" charset="0"/>
              </a:rPr>
              <a:t>e</a:t>
            </a:r>
            <a:r>
              <a:rPr lang="en-US" sz="2400" baseline="-25000" dirty="0" smtClean="0"/>
              <a:t>2</a:t>
            </a:r>
            <a:r>
              <a:rPr lang="en-US" sz="2400" dirty="0"/>
              <a:t>	</a:t>
            </a:r>
            <a:endParaRPr lang="en-US" sz="2400" dirty="0" smtClean="0"/>
          </a:p>
          <a:p>
            <a:r>
              <a:rPr lang="en-US" sz="2400" dirty="0"/>
              <a:t>			         </a:t>
            </a:r>
          </a:p>
          <a:p>
            <a:r>
              <a:rPr lang="en-US" sz="2400" dirty="0"/>
              <a:t>We can conclude that modulus error from addition or subtraction of two values is less or equal with total modulus for each value.</a:t>
            </a:r>
          </a:p>
          <a:p>
            <a:endParaRPr lang="en-US" sz="2400" dirty="0"/>
          </a:p>
        </p:txBody>
      </p:sp>
      <p:sp>
        <p:nvSpPr>
          <p:cNvPr id="5" name="Title 1"/>
          <p:cNvSpPr>
            <a:spLocks noGrp="1"/>
          </p:cNvSpPr>
          <p:nvPr>
            <p:ph type="title"/>
          </p:nvPr>
        </p:nvSpPr>
        <p:spPr>
          <a:xfrm>
            <a:off x="1907704" y="366936"/>
            <a:ext cx="7056784" cy="685800"/>
          </a:xfrm>
        </p:spPr>
        <p:style>
          <a:lnRef idx="2">
            <a:schemeClr val="accent2"/>
          </a:lnRef>
          <a:fillRef idx="1">
            <a:schemeClr val="lt1"/>
          </a:fillRef>
          <a:effectRef idx="0">
            <a:schemeClr val="accent2"/>
          </a:effectRef>
          <a:fontRef idx="minor">
            <a:schemeClr val="dk1"/>
          </a:fontRef>
        </p:style>
        <p:txBody>
          <a:bodyPr/>
          <a:lstStyle/>
          <a:p>
            <a:r>
              <a:rPr lang="en-US" sz="2000" b="1" dirty="0" smtClean="0">
                <a:latin typeface="Arial" charset="0"/>
              </a:rPr>
              <a:t>Effect </a:t>
            </a:r>
            <a:r>
              <a:rPr lang="en-US" sz="2000" b="1" dirty="0">
                <a:latin typeface="Arial" charset="0"/>
              </a:rPr>
              <a:t>of Rounding Error in </a:t>
            </a:r>
            <a:r>
              <a:rPr lang="en-US" sz="2000" b="1" dirty="0" smtClean="0">
                <a:latin typeface="Arial" charset="0"/>
              </a:rPr>
              <a:t>Addition </a:t>
            </a:r>
            <a:r>
              <a:rPr lang="en-US" sz="2000" b="1" dirty="0">
                <a:latin typeface="Arial" charset="0"/>
              </a:rPr>
              <a:t>and </a:t>
            </a:r>
            <a:r>
              <a:rPr lang="en-US" sz="2000" b="1" dirty="0" smtClean="0">
                <a:latin typeface="Arial" charset="0"/>
              </a:rPr>
              <a:t>Subtraction </a:t>
            </a:r>
            <a:r>
              <a:rPr lang="en-US" sz="1200" dirty="0" smtClean="0">
                <a:latin typeface="Arial" charset="0"/>
              </a:rPr>
              <a:t>(cont.)</a:t>
            </a:r>
            <a:endParaRPr lang="en-US" sz="1200" dirty="0">
              <a:latin typeface="Arial" charset="0"/>
            </a:endParaRPr>
          </a:p>
        </p:txBody>
      </p:sp>
    </p:spTree>
    <p:extLst>
      <p:ext uri="{BB962C8B-B14F-4D97-AF65-F5344CB8AC3E}">
        <p14:creationId xmlns:p14="http://schemas.microsoft.com/office/powerpoint/2010/main" xmlns="" val="194593655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2041376" y="418654"/>
            <a:ext cx="6707088" cy="634082"/>
          </a:xfrm>
        </p:spPr>
        <p:style>
          <a:lnRef idx="2">
            <a:schemeClr val="accent3"/>
          </a:lnRef>
          <a:fillRef idx="1">
            <a:schemeClr val="lt1"/>
          </a:fillRef>
          <a:effectRef idx="0">
            <a:schemeClr val="accent3"/>
          </a:effectRef>
          <a:fontRef idx="minor">
            <a:schemeClr val="dk1"/>
          </a:fontRef>
        </p:style>
        <p:txBody>
          <a:bodyPr/>
          <a:lstStyle/>
          <a:p>
            <a:r>
              <a:rPr lang="ms-MY" dirty="0">
                <a:latin typeface="Arial" charset="0"/>
              </a:rPr>
              <a:t>Example </a:t>
            </a:r>
            <a:r>
              <a:rPr lang="ms-MY" dirty="0" smtClean="0">
                <a:latin typeface="Arial" charset="0"/>
              </a:rPr>
              <a:t>7</a:t>
            </a:r>
            <a:endParaRPr lang="en-US" dirty="0">
              <a:latin typeface="Arial" charset="0"/>
            </a:endParaRPr>
          </a:p>
        </p:txBody>
      </p:sp>
      <p:sp>
        <p:nvSpPr>
          <p:cNvPr id="22531" name="Slide Number Placeholder 3"/>
          <p:cNvSpPr>
            <a:spLocks noGrp="1"/>
          </p:cNvSpPr>
          <p:nvPr>
            <p:ph type="sldNum" sz="quarter" idx="4294967295"/>
          </p:nvPr>
        </p:nvSpPr>
        <p:spPr>
          <a:xfrm>
            <a:off x="8666112" y="6553200"/>
            <a:ext cx="370384" cy="30480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F56A734A-8C44-1146-A422-010006C50C08}" type="slidenum">
              <a:rPr lang="en-US" sz="1000">
                <a:solidFill>
                  <a:schemeClr val="bg1"/>
                </a:solidFill>
              </a:rPr>
              <a:pPr/>
              <a:t>22</a:t>
            </a:fld>
            <a:endParaRPr lang="en-US" sz="1000" dirty="0">
              <a:solidFill>
                <a:schemeClr val="bg1"/>
              </a:solidFill>
            </a:endParaRPr>
          </a:p>
        </p:txBody>
      </p:sp>
      <p:sp>
        <p:nvSpPr>
          <p:cNvPr id="22532" name="Rectangle 4"/>
          <p:cNvSpPr>
            <a:spLocks noChangeArrowheads="1"/>
          </p:cNvSpPr>
          <p:nvPr/>
        </p:nvSpPr>
        <p:spPr bwMode="auto">
          <a:xfrm>
            <a:off x="179512" y="1268760"/>
            <a:ext cx="8640960" cy="52629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en-US" sz="2400" dirty="0"/>
              <a:t>Find the most accurate value of the following operation:</a:t>
            </a:r>
          </a:p>
          <a:p>
            <a:r>
              <a:rPr lang="en-US" sz="2400" dirty="0"/>
              <a:t>	3.69 + 5.432 – 2.37 – 3.5214</a:t>
            </a:r>
          </a:p>
          <a:p>
            <a:r>
              <a:rPr lang="en-US" sz="2400" dirty="0"/>
              <a:t>where each number has been rounded to their decimal points.</a:t>
            </a:r>
          </a:p>
          <a:p>
            <a:r>
              <a:rPr lang="en-US" sz="2400" b="1" u="sng" dirty="0" smtClean="0"/>
              <a:t>Solution: </a:t>
            </a:r>
          </a:p>
          <a:p>
            <a:r>
              <a:rPr lang="en-US" sz="2400" dirty="0" smtClean="0"/>
              <a:t>Exact </a:t>
            </a:r>
            <a:r>
              <a:rPr lang="en-US" sz="2400" dirty="0"/>
              <a:t>calculation gives result as follow:</a:t>
            </a:r>
          </a:p>
          <a:p>
            <a:r>
              <a:rPr lang="en-US" sz="2400" dirty="0"/>
              <a:t>	3.69 + 5.432 – 2.37 – 3.5214 = 3.2306</a:t>
            </a:r>
          </a:p>
          <a:p>
            <a:r>
              <a:rPr lang="en-US" sz="2400" dirty="0"/>
              <a:t>Modulus error is given by,</a:t>
            </a:r>
          </a:p>
          <a:p>
            <a:r>
              <a:rPr lang="en-US" sz="2400" dirty="0"/>
              <a:t>	|</a:t>
            </a:r>
            <a:r>
              <a:rPr lang="en-US" sz="2400" dirty="0">
                <a:latin typeface="Symbol" charset="0"/>
              </a:rPr>
              <a:t>e</a:t>
            </a:r>
            <a:r>
              <a:rPr lang="en-US" sz="2400" baseline="-25000" dirty="0"/>
              <a:t>3</a:t>
            </a:r>
            <a:r>
              <a:rPr lang="en-US" sz="2400" dirty="0"/>
              <a:t>|≤0.005 + 0.0005 + 0.005 + 0.00005 = 0.01055</a:t>
            </a:r>
          </a:p>
          <a:p>
            <a:endParaRPr lang="en-US" sz="2400" dirty="0"/>
          </a:p>
          <a:p>
            <a:r>
              <a:rPr lang="en-US" sz="2400" dirty="0"/>
              <a:t>Therefore, the result is between</a:t>
            </a:r>
          </a:p>
          <a:p>
            <a:r>
              <a:rPr lang="en-US" sz="2400" dirty="0"/>
              <a:t>	3.2306 + 0.01055 and 3.2306 - 0.01055</a:t>
            </a:r>
          </a:p>
          <a:p>
            <a:r>
              <a:rPr lang="en-US" sz="2400" dirty="0"/>
              <a:t>	3.24115 and 3.22005</a:t>
            </a:r>
          </a:p>
          <a:p>
            <a:r>
              <a:rPr lang="en-US" sz="2400" dirty="0"/>
              <a:t>Both of these values are same if rounded to 1 decimal point. Therefore, the best approximate value is 3.2 (1 decimal point).</a:t>
            </a:r>
          </a:p>
        </p:txBody>
      </p:sp>
    </p:spTree>
    <p:extLst>
      <p:ext uri="{BB962C8B-B14F-4D97-AF65-F5344CB8AC3E}">
        <p14:creationId xmlns:p14="http://schemas.microsoft.com/office/powerpoint/2010/main" xmlns="" val="30473165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2041376" y="274638"/>
            <a:ext cx="6707088" cy="778098"/>
          </a:xfrm>
        </p:spPr>
        <p:style>
          <a:lnRef idx="2">
            <a:schemeClr val="accent3"/>
          </a:lnRef>
          <a:fillRef idx="1">
            <a:schemeClr val="lt1"/>
          </a:fillRef>
          <a:effectRef idx="0">
            <a:schemeClr val="accent3"/>
          </a:effectRef>
          <a:fontRef idx="minor">
            <a:schemeClr val="dk1"/>
          </a:fontRef>
        </p:style>
        <p:txBody>
          <a:bodyPr/>
          <a:lstStyle/>
          <a:p>
            <a:r>
              <a:rPr lang="en-US" dirty="0">
                <a:latin typeface="Arial" charset="0"/>
              </a:rPr>
              <a:t>Example </a:t>
            </a:r>
            <a:r>
              <a:rPr lang="en-US" dirty="0" smtClean="0">
                <a:latin typeface="Arial" charset="0"/>
              </a:rPr>
              <a:t>8</a:t>
            </a:r>
            <a:endParaRPr lang="en-US" dirty="0">
              <a:latin typeface="Arial" charset="0"/>
            </a:endParaRPr>
          </a:p>
        </p:txBody>
      </p:sp>
      <p:sp>
        <p:nvSpPr>
          <p:cNvPr id="23555" name="Slide Number Placeholder 3"/>
          <p:cNvSpPr>
            <a:spLocks noGrp="1"/>
          </p:cNvSpPr>
          <p:nvPr>
            <p:ph type="sldNum" sz="quarter" idx="4294967295"/>
          </p:nvPr>
        </p:nvSpPr>
        <p:spPr>
          <a:xfrm>
            <a:off x="8594104" y="6553200"/>
            <a:ext cx="370384" cy="30480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Arial" charset="0"/>
                <a:ea typeface="ＭＳ Ｐゴシック" charset="0"/>
                <a:cs typeface="ＭＳ Ｐゴシック" charset="0"/>
              </a:defRPr>
            </a:lvl1pPr>
            <a:lvl2pPr marL="742950" indent="-285750">
              <a:defRPr sz="2400" b="1">
                <a:solidFill>
                  <a:schemeClr val="tx1"/>
                </a:solidFill>
                <a:latin typeface="Arial" charset="0"/>
                <a:ea typeface="ＭＳ Ｐゴシック" charset="0"/>
              </a:defRPr>
            </a:lvl2pPr>
            <a:lvl3pPr marL="1143000" indent="-228600">
              <a:defRPr sz="2400" b="1">
                <a:solidFill>
                  <a:schemeClr val="tx1"/>
                </a:solidFill>
                <a:latin typeface="Arial" charset="0"/>
                <a:ea typeface="ＭＳ Ｐゴシック" charset="0"/>
              </a:defRPr>
            </a:lvl3pPr>
            <a:lvl4pPr marL="1600200" indent="-228600">
              <a:defRPr sz="2400" b="1">
                <a:solidFill>
                  <a:schemeClr val="tx1"/>
                </a:solidFill>
                <a:latin typeface="Arial" charset="0"/>
                <a:ea typeface="ＭＳ Ｐゴシック" charset="0"/>
              </a:defRPr>
            </a:lvl4pPr>
            <a:lvl5pPr marL="2057400" indent="-22860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fld id="{F6499BAF-A4CE-7C4C-B167-F1EB2B9C224E}" type="slidenum">
              <a:rPr lang="en-US" sz="1000">
                <a:solidFill>
                  <a:schemeClr val="bg1"/>
                </a:solidFill>
              </a:rPr>
              <a:pPr/>
              <a:t>23</a:t>
            </a:fld>
            <a:endParaRPr lang="en-US" sz="1000" dirty="0">
              <a:solidFill>
                <a:schemeClr val="bg1"/>
              </a:solidFill>
            </a:endParaRPr>
          </a:p>
        </p:txBody>
      </p:sp>
      <p:sp>
        <p:nvSpPr>
          <p:cNvPr id="23556" name="Rectangle 4"/>
          <p:cNvSpPr>
            <a:spLocks noChangeArrowheads="1"/>
          </p:cNvSpPr>
          <p:nvPr/>
        </p:nvSpPr>
        <p:spPr bwMode="auto">
          <a:xfrm>
            <a:off x="179512" y="1412776"/>
            <a:ext cx="8856984" cy="48936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en-US" sz="2400" dirty="0" smtClean="0"/>
              <a:t>Find </a:t>
            </a:r>
            <a:r>
              <a:rPr lang="en-US" sz="2400" dirty="0"/>
              <a:t>the most accurate value of the following operation </a:t>
            </a:r>
          </a:p>
          <a:p>
            <a:r>
              <a:rPr lang="en-US" sz="2400" dirty="0"/>
              <a:t>	1.172 – 0.95 + 6.3434 – 1.383</a:t>
            </a:r>
          </a:p>
          <a:p>
            <a:r>
              <a:rPr lang="en-US" sz="2400" dirty="0"/>
              <a:t>where each number has been rounded to their decimal points</a:t>
            </a:r>
            <a:r>
              <a:rPr lang="en-US" sz="2400" dirty="0" smtClean="0"/>
              <a:t>.</a:t>
            </a:r>
          </a:p>
          <a:p>
            <a:r>
              <a:rPr lang="en-US" sz="2400" b="1" u="sng" dirty="0" smtClean="0"/>
              <a:t>Solution:</a:t>
            </a:r>
            <a:endParaRPr lang="en-US" sz="2400" b="1" u="sng" dirty="0"/>
          </a:p>
          <a:p>
            <a:r>
              <a:rPr lang="en-US" sz="2400" dirty="0"/>
              <a:t>Exact calculation gives result as follow: </a:t>
            </a:r>
          </a:p>
          <a:p>
            <a:r>
              <a:rPr lang="en-US" sz="2400" dirty="0"/>
              <a:t>	1.172 - 0.95 + 6.3434 - 1.383 = 5.1824</a:t>
            </a:r>
          </a:p>
          <a:p>
            <a:r>
              <a:rPr lang="en-US" sz="2400" dirty="0"/>
              <a:t>Modulus error is given by,</a:t>
            </a:r>
          </a:p>
          <a:p>
            <a:r>
              <a:rPr lang="en-US" sz="2400" dirty="0"/>
              <a:t>	|</a:t>
            </a:r>
            <a:r>
              <a:rPr lang="en-US" sz="2400" dirty="0">
                <a:latin typeface="Symbol" charset="0"/>
              </a:rPr>
              <a:t>e</a:t>
            </a:r>
            <a:r>
              <a:rPr lang="en-US" sz="2400" baseline="-25000" dirty="0"/>
              <a:t>3</a:t>
            </a:r>
            <a:r>
              <a:rPr lang="en-US" sz="2400" dirty="0"/>
              <a:t>|</a:t>
            </a:r>
            <a:r>
              <a:rPr lang="en-US" sz="2400" dirty="0" smtClean="0"/>
              <a:t>≤ 0.0005 </a:t>
            </a:r>
            <a:r>
              <a:rPr lang="en-US" sz="2400" dirty="0"/>
              <a:t>+ 0.005 + 0.00005 + 0.0005 = 0.00605</a:t>
            </a:r>
          </a:p>
          <a:p>
            <a:r>
              <a:rPr lang="en-US" sz="2400" dirty="0"/>
              <a:t>Therefore, the result is between</a:t>
            </a:r>
          </a:p>
          <a:p>
            <a:pPr lvl="1"/>
            <a:r>
              <a:rPr lang="en-US" sz="2400" dirty="0"/>
              <a:t>5.1824 + 0.00605 and 5.1824 – 0.00605</a:t>
            </a:r>
          </a:p>
          <a:p>
            <a:r>
              <a:rPr lang="en-US" sz="2400" dirty="0"/>
              <a:t>	5.18845 and 5.17635</a:t>
            </a:r>
          </a:p>
          <a:p>
            <a:r>
              <a:rPr lang="en-US" sz="2400" dirty="0"/>
              <a:t>Both of these values are same if rounded to 1 decimal point. Therefore, the best approximate value is 5.2 (1 decimal point)</a:t>
            </a:r>
          </a:p>
        </p:txBody>
      </p:sp>
    </p:spTree>
    <p:extLst>
      <p:ext uri="{BB962C8B-B14F-4D97-AF65-F5344CB8AC3E}">
        <p14:creationId xmlns:p14="http://schemas.microsoft.com/office/powerpoint/2010/main" xmlns="" val="16039039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9712" y="274638"/>
            <a:ext cx="6707088" cy="778098"/>
          </a:xfrm>
        </p:spPr>
        <p:style>
          <a:lnRef idx="2">
            <a:schemeClr val="accent4"/>
          </a:lnRef>
          <a:fillRef idx="1">
            <a:schemeClr val="lt1"/>
          </a:fillRef>
          <a:effectRef idx="0">
            <a:schemeClr val="accent4"/>
          </a:effectRef>
          <a:fontRef idx="minor">
            <a:schemeClr val="dk1"/>
          </a:fontRef>
        </p:style>
        <p:txBody>
          <a:bodyPr/>
          <a:lstStyle/>
          <a:p>
            <a:r>
              <a:rPr lang="en-US" dirty="0" smtClean="0"/>
              <a:t>Exercise # 1</a:t>
            </a:r>
            <a:endParaRPr lang="en-US" dirty="0"/>
          </a:p>
        </p:txBody>
      </p:sp>
      <p:sp>
        <p:nvSpPr>
          <p:cNvPr id="3" name="Slide Number Placeholder 2"/>
          <p:cNvSpPr>
            <a:spLocks noGrp="1"/>
          </p:cNvSpPr>
          <p:nvPr>
            <p:ph type="sldNum" sz="quarter" idx="10"/>
          </p:nvPr>
        </p:nvSpPr>
        <p:spPr/>
        <p:txBody>
          <a:bodyPr/>
          <a:lstStyle/>
          <a:p>
            <a:pPr>
              <a:defRPr/>
            </a:pPr>
            <a:fld id="{3C2A9093-EE09-8A40-9028-1E46093AA71C}" type="slidenum">
              <a:rPr lang="en-US" smtClean="0"/>
              <a:pPr>
                <a:defRPr/>
              </a:pPr>
              <a:t>24</a:t>
            </a:fld>
            <a:endParaRPr lang="en-US"/>
          </a:p>
        </p:txBody>
      </p:sp>
      <p:sp>
        <p:nvSpPr>
          <p:cNvPr id="4" name="TextBox 3"/>
          <p:cNvSpPr txBox="1"/>
          <p:nvPr/>
        </p:nvSpPr>
        <p:spPr>
          <a:xfrm>
            <a:off x="323528" y="1556792"/>
            <a:ext cx="8208912" cy="2311402"/>
          </a:xfrm>
          <a:prstGeom prst="rect">
            <a:avLst/>
          </a:prstGeom>
          <a:noFill/>
        </p:spPr>
        <p:txBody>
          <a:bodyPr wrap="square" rtlCol="0">
            <a:spAutoFit/>
          </a:bodyPr>
          <a:lstStyle/>
          <a:p>
            <a:pPr algn="just">
              <a:lnSpc>
                <a:spcPct val="130000"/>
              </a:lnSpc>
            </a:pPr>
            <a:r>
              <a:rPr lang="en-US" sz="2800" dirty="0" smtClean="0">
                <a:latin typeface="Times New Roman"/>
                <a:cs typeface="Times New Roman"/>
              </a:rPr>
              <a:t>The </a:t>
            </a:r>
            <a:r>
              <a:rPr lang="en-US" sz="2800" dirty="0" err="1" smtClean="0">
                <a:latin typeface="Times New Roman"/>
                <a:cs typeface="Times New Roman"/>
              </a:rPr>
              <a:t>volatge</a:t>
            </a:r>
            <a:r>
              <a:rPr lang="en-US" sz="2800" dirty="0" smtClean="0">
                <a:latin typeface="Times New Roman"/>
                <a:cs typeface="Times New Roman"/>
              </a:rPr>
              <a:t> in a high-voltage transmission line is stated to be 2.4 MV while the actual voltage may range from 2.1 MV to 2.7 MV. What is the maximum absolute and relative error of voltage? </a:t>
            </a:r>
            <a:endParaRPr lang="en-US" sz="2800" dirty="0">
              <a:latin typeface="Times New Roman"/>
              <a:cs typeface="Times New Roman"/>
            </a:endParaRPr>
          </a:p>
        </p:txBody>
      </p:sp>
    </p:spTree>
    <p:extLst>
      <p:ext uri="{BB962C8B-B14F-4D97-AF65-F5344CB8AC3E}">
        <p14:creationId xmlns:p14="http://schemas.microsoft.com/office/powerpoint/2010/main" xmlns="" val="34308911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9712" y="274638"/>
            <a:ext cx="6707088" cy="778098"/>
          </a:xfrm>
        </p:spPr>
        <p:style>
          <a:lnRef idx="2">
            <a:schemeClr val="accent4"/>
          </a:lnRef>
          <a:fillRef idx="1">
            <a:schemeClr val="lt1"/>
          </a:fillRef>
          <a:effectRef idx="0">
            <a:schemeClr val="accent4"/>
          </a:effectRef>
          <a:fontRef idx="minor">
            <a:schemeClr val="dk1"/>
          </a:fontRef>
        </p:style>
        <p:txBody>
          <a:bodyPr/>
          <a:lstStyle/>
          <a:p>
            <a:r>
              <a:rPr lang="en-US" dirty="0" smtClean="0"/>
              <a:t>Exercise # 2</a:t>
            </a:r>
            <a:endParaRPr lang="en-US" dirty="0"/>
          </a:p>
        </p:txBody>
      </p:sp>
      <p:sp>
        <p:nvSpPr>
          <p:cNvPr id="3" name="Slide Number Placeholder 2"/>
          <p:cNvSpPr>
            <a:spLocks noGrp="1"/>
          </p:cNvSpPr>
          <p:nvPr>
            <p:ph type="sldNum" sz="quarter" idx="10"/>
          </p:nvPr>
        </p:nvSpPr>
        <p:spPr/>
        <p:txBody>
          <a:bodyPr/>
          <a:lstStyle/>
          <a:p>
            <a:pPr>
              <a:defRPr/>
            </a:pPr>
            <a:fld id="{3C2A9093-EE09-8A40-9028-1E46093AA71C}" type="slidenum">
              <a:rPr lang="en-US" smtClean="0"/>
              <a:pPr>
                <a:defRPr/>
              </a:pPr>
              <a:t>25</a:t>
            </a:fld>
            <a:endParaRPr lang="en-US"/>
          </a:p>
        </p:txBody>
      </p:sp>
      <p:sp>
        <p:nvSpPr>
          <p:cNvPr id="4" name="TextBox 3"/>
          <p:cNvSpPr txBox="1"/>
          <p:nvPr/>
        </p:nvSpPr>
        <p:spPr>
          <a:xfrm>
            <a:off x="323528" y="1556792"/>
            <a:ext cx="8208912" cy="2871555"/>
          </a:xfrm>
          <a:prstGeom prst="rect">
            <a:avLst/>
          </a:prstGeom>
          <a:noFill/>
        </p:spPr>
        <p:txBody>
          <a:bodyPr wrap="square" rtlCol="0">
            <a:spAutoFit/>
          </a:bodyPr>
          <a:lstStyle/>
          <a:p>
            <a:pPr algn="just">
              <a:lnSpc>
                <a:spcPct val="130000"/>
              </a:lnSpc>
            </a:pPr>
            <a:r>
              <a:rPr lang="en-US" sz="2800" dirty="0" smtClean="0">
                <a:latin typeface="Times New Roman"/>
                <a:cs typeface="Times New Roman"/>
              </a:rPr>
              <a:t>Find the most accurate value for the following operation, where each number has been rounded to a certain decimal point,</a:t>
            </a:r>
          </a:p>
          <a:p>
            <a:pPr algn="just">
              <a:lnSpc>
                <a:spcPct val="130000"/>
              </a:lnSpc>
            </a:pPr>
            <a:endParaRPr lang="en-US" sz="2800" dirty="0" smtClean="0">
              <a:latin typeface="Times New Roman"/>
              <a:cs typeface="Times New Roman"/>
            </a:endParaRPr>
          </a:p>
          <a:p>
            <a:pPr algn="just">
              <a:lnSpc>
                <a:spcPct val="130000"/>
              </a:lnSpc>
            </a:pPr>
            <a:r>
              <a:rPr lang="en-US" sz="2800" dirty="0">
                <a:latin typeface="Times New Roman"/>
                <a:cs typeface="Times New Roman"/>
              </a:rPr>
              <a:t> </a:t>
            </a:r>
            <a:r>
              <a:rPr lang="en-US" sz="2800" dirty="0" smtClean="0">
                <a:latin typeface="Times New Roman"/>
                <a:cs typeface="Times New Roman"/>
              </a:rPr>
              <a:t>               3.314 + 2.0008 + 4.15 – 1.07</a:t>
            </a:r>
            <a:endParaRPr lang="en-US" sz="2800" dirty="0">
              <a:latin typeface="Times New Roman"/>
              <a:cs typeface="Times New Roman"/>
            </a:endParaRPr>
          </a:p>
        </p:txBody>
      </p:sp>
    </p:spTree>
    <p:extLst>
      <p:ext uri="{BB962C8B-B14F-4D97-AF65-F5344CB8AC3E}">
        <p14:creationId xmlns:p14="http://schemas.microsoft.com/office/powerpoint/2010/main" xmlns="" val="28595508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9712" y="274638"/>
            <a:ext cx="6707088" cy="778098"/>
          </a:xfrm>
        </p:spPr>
        <p:style>
          <a:lnRef idx="2">
            <a:schemeClr val="accent4"/>
          </a:lnRef>
          <a:fillRef idx="1">
            <a:schemeClr val="lt1"/>
          </a:fillRef>
          <a:effectRef idx="0">
            <a:schemeClr val="accent4"/>
          </a:effectRef>
          <a:fontRef idx="minor">
            <a:schemeClr val="dk1"/>
          </a:fontRef>
        </p:style>
        <p:txBody>
          <a:bodyPr/>
          <a:lstStyle/>
          <a:p>
            <a:r>
              <a:rPr lang="en-US" dirty="0" smtClean="0"/>
              <a:t>Exercise # 3</a:t>
            </a:r>
            <a:endParaRPr lang="en-US" dirty="0"/>
          </a:p>
        </p:txBody>
      </p:sp>
      <p:sp>
        <p:nvSpPr>
          <p:cNvPr id="3" name="Slide Number Placeholder 2"/>
          <p:cNvSpPr>
            <a:spLocks noGrp="1"/>
          </p:cNvSpPr>
          <p:nvPr>
            <p:ph type="sldNum" sz="quarter" idx="10"/>
          </p:nvPr>
        </p:nvSpPr>
        <p:spPr/>
        <p:txBody>
          <a:bodyPr/>
          <a:lstStyle/>
          <a:p>
            <a:pPr>
              <a:defRPr/>
            </a:pPr>
            <a:fld id="{3C2A9093-EE09-8A40-9028-1E46093AA71C}" type="slidenum">
              <a:rPr lang="en-US" smtClean="0"/>
              <a:pPr>
                <a:defRPr/>
              </a:pPr>
              <a:t>26</a:t>
            </a:fld>
            <a:endParaRPr lang="en-US"/>
          </a:p>
        </p:txBody>
      </p:sp>
      <p:pic>
        <p:nvPicPr>
          <p:cNvPr id="8" name="Picture 7" descr="Screen Shot 2015-04-21 at 12.57.57 PM.png"/>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14300" y="1496020"/>
            <a:ext cx="8915400" cy="4813300"/>
          </a:xfrm>
          <a:prstGeom prst="rect">
            <a:avLst/>
          </a:prstGeom>
        </p:spPr>
      </p:pic>
    </p:spTree>
    <p:extLst>
      <p:ext uri="{BB962C8B-B14F-4D97-AF65-F5344CB8AC3E}">
        <p14:creationId xmlns:p14="http://schemas.microsoft.com/office/powerpoint/2010/main" xmlns="" val="18909031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149</TotalTime>
  <Words>1133</Words>
  <Application>Microsoft Macintosh PowerPoint</Application>
  <PresentationFormat>On-screen Show (4:3)</PresentationFormat>
  <Paragraphs>197</Paragraphs>
  <Slides>26</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28" baseType="lpstr">
      <vt:lpstr>Office Theme</vt:lpstr>
      <vt:lpstr>Equation</vt:lpstr>
      <vt:lpstr>Slide 1</vt:lpstr>
      <vt:lpstr>Slide 2</vt:lpstr>
      <vt:lpstr>Problem Solving in Computational Mathematics</vt:lpstr>
      <vt:lpstr>Slide 4</vt:lpstr>
      <vt:lpstr>Slide 5</vt:lpstr>
      <vt:lpstr>Example 3</vt:lpstr>
      <vt:lpstr>Accuracy </vt:lpstr>
      <vt:lpstr>Slide 8</vt:lpstr>
      <vt:lpstr>Slide 9</vt:lpstr>
      <vt:lpstr>Slide 10</vt:lpstr>
      <vt:lpstr>Slide 11</vt:lpstr>
      <vt:lpstr>Slide 12</vt:lpstr>
      <vt:lpstr>Error, Modulus Error and Relative Error</vt:lpstr>
      <vt:lpstr>Error, Modulus Error and Relative Error (cont.)</vt:lpstr>
      <vt:lpstr>Slide 15</vt:lpstr>
      <vt:lpstr>Example  5</vt:lpstr>
      <vt:lpstr>Example 5 (cont.)</vt:lpstr>
      <vt:lpstr>Maximum Modulus for Rounding Error</vt:lpstr>
      <vt:lpstr>Example 6</vt:lpstr>
      <vt:lpstr>Effect of Rounding Error in Addition and Subtraction</vt:lpstr>
      <vt:lpstr>Effect of Rounding Error in Addition and Subtraction (cont.)</vt:lpstr>
      <vt:lpstr>Example 7</vt:lpstr>
      <vt:lpstr>Example 8</vt:lpstr>
      <vt:lpstr>Exercise # 1</vt:lpstr>
      <vt:lpstr>Exercise # 2</vt:lpstr>
      <vt:lpstr>Exercise # 3</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feddy</dc:creator>
  <cp:lastModifiedBy>VaioPC</cp:lastModifiedBy>
  <cp:revision>47</cp:revision>
  <cp:lastPrinted>2015-04-21T04:46:06Z</cp:lastPrinted>
  <dcterms:created xsi:type="dcterms:W3CDTF">2013-01-02T01:15:37Z</dcterms:created>
  <dcterms:modified xsi:type="dcterms:W3CDTF">2015-05-10T10:15:06Z</dcterms:modified>
</cp:coreProperties>
</file>